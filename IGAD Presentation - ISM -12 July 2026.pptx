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notesSlides/notesSlide1.xml" ContentType="application/vnd.openxmlformats-officedocument.presentationml.notesSlide+xml"/>
  <Override PartName="/ppt/theme/themeOverride2.xml" ContentType="application/vnd.openxmlformats-officedocument.themeOverride+xml"/>
  <Override PartName="/ppt/tags/tag3.xml" ContentType="application/vnd.openxmlformats-officedocument.presentationml.tags+xml"/>
  <Override PartName="/ppt/theme/themeOverride3.xml" ContentType="application/vnd.openxmlformats-officedocument.themeOverride+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comments/modernComment_7FFE59E7_4170C680.xml" ContentType="application/vnd.ms-powerpoint.comments+xml"/>
  <Override PartName="/ppt/tags/tag11.xml" ContentType="application/vnd.openxmlformats-officedocument.presentationml.tags+xml"/>
  <Override PartName="/ppt/notesSlides/notesSlide3.xml" ContentType="application/vnd.openxmlformats-officedocument.presentationml.notesSlide+xml"/>
  <Override PartName="/ppt/comments/modernComment_7FFE59F0_37DE3266.xml" ContentType="application/vnd.ms-powerpoint.comments+xml"/>
  <Override PartName="/ppt/tags/tag12.xml" ContentType="application/vnd.openxmlformats-officedocument.presentationml.tags+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notesSlides/notesSlide6.xml" ContentType="application/vnd.openxmlformats-officedocument.presentationml.notesSlide+xml"/>
  <Override PartName="/ppt/tags/tag16.xml" ContentType="application/vnd.openxmlformats-officedocument.presentationml.tags+xml"/>
  <Override PartName="/ppt/notesSlides/notesSlide7.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8.xml" ContentType="application/vnd.openxmlformats-officedocument.presentationml.notesSlide+xml"/>
  <Override PartName="/ppt/tags/tag19.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9.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0.xml" ContentType="application/vnd.openxmlformats-officedocument.presentationml.notesSlide+xml"/>
  <Override PartName="/ppt/tags/tag35.xml" ContentType="application/vnd.openxmlformats-officedocument.presentationml.tags+xml"/>
  <Override PartName="/ppt/notesSlides/notesSlide11.xml" ContentType="application/vnd.openxmlformats-officedocument.presentationml.notesSlide+xml"/>
  <Override PartName="/ppt/tags/tag36.xml" ContentType="application/vnd.openxmlformats-officedocument.presentationml.tags+xml"/>
  <Override PartName="/ppt/notesSlides/notesSlide1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3.xml" ContentType="application/vnd.openxmlformats-officedocument.presentationml.notesSlide+xml"/>
  <Override PartName="/ppt/tags/tag40.xml" ContentType="application/vnd.openxmlformats-officedocument.presentationml.tags+xml"/>
  <Override PartName="/ppt/notesSlides/notesSlide14.xml" ContentType="application/vnd.openxmlformats-officedocument.presentationml.notesSlide+xml"/>
  <Override PartName="/ppt/tags/tag41.xml" ContentType="application/vnd.openxmlformats-officedocument.presentationml.tags+xml"/>
  <Override PartName="/ppt/notesSlides/notesSlide15.xml" ContentType="application/vnd.openxmlformats-officedocument.presentationml.notesSlide+xml"/>
  <Override PartName="/ppt/tags/tag42.xml" ContentType="application/vnd.openxmlformats-officedocument.presentationml.tags+xml"/>
  <Override PartName="/ppt/notesSlides/notesSlide16.xml" ContentType="application/vnd.openxmlformats-officedocument.presentationml.notesSlide+xml"/>
  <Override PartName="/ppt/tags/tag43.xml" ContentType="application/vnd.openxmlformats-officedocument.presentationml.tags+xml"/>
  <Override PartName="/ppt/notesSlides/notesSlide1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8" r:id="rId2"/>
    <p:sldMasterId id="2147483687" r:id="rId3"/>
    <p:sldMasterId id="2147483699" r:id="rId4"/>
  </p:sldMasterIdLst>
  <p:notesMasterIdLst>
    <p:notesMasterId r:id="rId56"/>
  </p:notesMasterIdLst>
  <p:sldIdLst>
    <p:sldId id="257" r:id="rId5"/>
    <p:sldId id="2147375547" r:id="rId6"/>
    <p:sldId id="2147375548" r:id="rId7"/>
    <p:sldId id="2147475925" r:id="rId8"/>
    <p:sldId id="2147475926" r:id="rId9"/>
    <p:sldId id="2147475924" r:id="rId10"/>
    <p:sldId id="2147375539" r:id="rId11"/>
    <p:sldId id="2147375590" r:id="rId12"/>
    <p:sldId id="2147375563" r:id="rId13"/>
    <p:sldId id="2147375553" r:id="rId14"/>
    <p:sldId id="2147475923" r:id="rId15"/>
    <p:sldId id="2147375591" r:id="rId16"/>
    <p:sldId id="2147375600" r:id="rId17"/>
    <p:sldId id="2147475929" r:id="rId18"/>
    <p:sldId id="2147475909" r:id="rId19"/>
    <p:sldId id="2147475911" r:id="rId20"/>
    <p:sldId id="2147475922" r:id="rId21"/>
    <p:sldId id="2147375580" r:id="rId22"/>
    <p:sldId id="2147375574" r:id="rId23"/>
    <p:sldId id="2147375598" r:id="rId24"/>
    <p:sldId id="2147375556" r:id="rId25"/>
    <p:sldId id="2147375583" r:id="rId26"/>
    <p:sldId id="2147475912" r:id="rId27"/>
    <p:sldId id="2147475927" r:id="rId28"/>
    <p:sldId id="2147375564" r:id="rId29"/>
    <p:sldId id="2147375559" r:id="rId30"/>
    <p:sldId id="2147375592" r:id="rId31"/>
    <p:sldId id="2147375565" r:id="rId32"/>
    <p:sldId id="2147375560" r:id="rId33"/>
    <p:sldId id="260" r:id="rId34"/>
    <p:sldId id="2147375599" r:id="rId35"/>
    <p:sldId id="261" r:id="rId36"/>
    <p:sldId id="263" r:id="rId37"/>
    <p:sldId id="2147375594" r:id="rId38"/>
    <p:sldId id="2147375595" r:id="rId39"/>
    <p:sldId id="2147375597" r:id="rId40"/>
    <p:sldId id="2147475920" r:id="rId41"/>
    <p:sldId id="2147375589" r:id="rId42"/>
    <p:sldId id="2147475919" r:id="rId43"/>
    <p:sldId id="2147375596" r:id="rId44"/>
    <p:sldId id="2147475918" r:id="rId45"/>
    <p:sldId id="2147375568" r:id="rId46"/>
    <p:sldId id="2147375566" r:id="rId47"/>
    <p:sldId id="2147475917" r:id="rId48"/>
    <p:sldId id="2147375572" r:id="rId49"/>
    <p:sldId id="2147375593" r:id="rId50"/>
    <p:sldId id="2147375569" r:id="rId51"/>
    <p:sldId id="2147475921" r:id="rId52"/>
    <p:sldId id="2147375567" r:id="rId53"/>
    <p:sldId id="2147375576" r:id="rId54"/>
    <p:sldId id="264" r:id="rId55"/>
  </p:sldIdLst>
  <p:sldSz cx="12192000" cy="6858000"/>
  <p:notesSz cx="6858000" cy="9144000"/>
  <p:custDataLst>
    <p:tags r:id="rId5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F41EDC6-722E-093D-279B-0F66A8FB66C0}" name="Awotash  Alemu Tefera" initials="AAT" userId="S::awotash.alemu@igad.int::e781c305-7058-4187-87cd-d35339e0227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D9F1F3"/>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C261C6-F071-4119-A2BA-A2EA730EC9A8}" v="8" dt="2026-07-12T09:46:26.2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48" autoAdjust="0"/>
    <p:restoredTop sz="86370" autoAdjust="0"/>
  </p:normalViewPr>
  <p:slideViewPr>
    <p:cSldViewPr snapToGrid="0">
      <p:cViewPr varScale="1">
        <p:scale>
          <a:sx n="57" d="100"/>
          <a:sy n="57" d="100"/>
        </p:scale>
        <p:origin x="804" y="40"/>
      </p:cViewPr>
      <p:guideLst/>
    </p:cSldViewPr>
  </p:slideViewPr>
  <p:outlineViewPr>
    <p:cViewPr>
      <p:scale>
        <a:sx n="33" d="100"/>
        <a:sy n="33" d="100"/>
      </p:scale>
      <p:origin x="0" y="-17226"/>
    </p:cViewPr>
  </p:outlineViewPr>
  <p:notesTextViewPr>
    <p:cViewPr>
      <p:scale>
        <a:sx n="1" d="1"/>
        <a:sy n="1" d="1"/>
      </p:scale>
      <p:origin x="0" y="0"/>
    </p:cViewPr>
  </p:notesTextViewPr>
  <p:sorterViewPr>
    <p:cViewPr>
      <p:scale>
        <a:sx n="100" d="100"/>
        <a:sy n="100" d="100"/>
      </p:scale>
      <p:origin x="0" y="-498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8/10/relationships/authors" Target="author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gs" Target="tags/tag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s>
</file>

<file path=ppt/comments/modernComment_7FFE59E7_4170C680.xml><?xml version="1.0" encoding="utf-8"?>
<p188:cmLst xmlns:a="http://schemas.openxmlformats.org/drawingml/2006/main" xmlns:r="http://schemas.openxmlformats.org/officeDocument/2006/relationships" xmlns:p188="http://schemas.microsoft.com/office/powerpoint/2018/8/main">
  <p188:cm id="{31B98E2F-B565-6946-AE1D-42804AA404B6}" authorId="{CF41EDC6-722E-093D-279B-0F66A8FB66C0}" created="2025-11-15T16:00:01.766">
    <ac:txMkLst xmlns:ac="http://schemas.microsoft.com/office/drawing/2013/main/command">
      <pc:docMk xmlns:pc="http://schemas.microsoft.com/office/powerpoint/2013/main/command"/>
      <pc:sldMk xmlns:pc="http://schemas.microsoft.com/office/powerpoint/2013/main/command" cId="3794487604" sldId="2147375553"/>
      <ac:spMk id="9" creationId="{84FA05B7-DD7A-6CB0-3FD0-B09A9F9A65D0}"/>
      <ac:txMk cp="103">
        <ac:context len="267" hash="821623642"/>
      </ac:txMk>
    </ac:txMkLst>
    <p188:pos x="7988221" y="2416314"/>
    <p188:txBody>
      <a:bodyPr/>
      <a:lstStyle/>
      <a:p>
        <a:r>
          <a:rPr lang="en-US"/>
          <a:t>going to this level of process detail may not be necessary, consider cutting or replacing</a:t>
        </a:r>
      </a:p>
    </p188:txBody>
  </p188:cm>
  <p188:cm id="{F148C596-47E7-014C-B1E7-98E005132133}" authorId="{CF41EDC6-722E-093D-279B-0F66A8FB66C0}" created="2025-11-15T16:02:59.432">
    <ac:txMkLst xmlns:ac="http://schemas.microsoft.com/office/drawing/2013/main/command">
      <pc:docMk xmlns:pc="http://schemas.microsoft.com/office/powerpoint/2013/main/command"/>
      <pc:sldMk xmlns:pc="http://schemas.microsoft.com/office/powerpoint/2013/main/command" cId="3794487604" sldId="2147375553"/>
      <ac:spMk id="3" creationId="{A2733DA4-5CA5-DE08-857B-751750B45467}"/>
      <ac:txMk cp="675" len="8">
        <ac:context len="1302" hash="61611425"/>
      </ac:txMk>
    </ac:txMkLst>
    <p188:pos x="2481943" y="3052418"/>
    <p188:txBody>
      <a:bodyPr/>
      <a:lstStyle/>
      <a:p>
        <a:r>
          <a:rPr lang="en-US"/>
          <a:t>consider deleting this and just add annual inter REC meeting on the previous bullet. </a:t>
        </a:r>
      </a:p>
    </p188:txBody>
  </p188:cm>
  <p188:cm id="{0961C984-E8CE-2845-A7BC-C4FE6DB8CB59}" authorId="{CF41EDC6-722E-093D-279B-0F66A8FB66C0}" created="2025-11-15T16:03:36.831">
    <ac:txMkLst xmlns:ac="http://schemas.microsoft.com/office/drawing/2013/main/command">
      <pc:docMk xmlns:pc="http://schemas.microsoft.com/office/powerpoint/2013/main/command"/>
      <pc:sldMk xmlns:pc="http://schemas.microsoft.com/office/powerpoint/2013/main/command" cId="3794487604" sldId="2147375553"/>
      <ac:spMk id="3" creationId="{A2733DA4-5CA5-DE08-857B-751750B45467}"/>
      <ac:txMk cp="770" len="141">
        <ac:context len="1302" hash="61611425"/>
      </ac:txMk>
    </ac:txMkLst>
    <p188:pos x="9320065" y="3549375"/>
    <p188:txBody>
      <a:bodyPr/>
      <a:lstStyle/>
      <a:p>
        <a:r>
          <a:rPr lang="en-US"/>
          <a:t>is this necessary? just mention RAC meetings</a:t>
        </a:r>
      </a:p>
    </p188:txBody>
  </p188:cm>
</p188:cmLst>
</file>

<file path=ppt/comments/modernComment_7FFE59F0_37DE3266.xml><?xml version="1.0" encoding="utf-8"?>
<p188:cmLst xmlns:a="http://schemas.openxmlformats.org/drawingml/2006/main" xmlns:r="http://schemas.openxmlformats.org/officeDocument/2006/relationships" xmlns:p188="http://schemas.microsoft.com/office/powerpoint/2018/8/main">
  <p188:cm id="{31B98E2F-B565-6946-AE1D-42804AA404B6}" authorId="{CF41EDC6-722E-093D-279B-0F66A8FB66C0}" status="resolved" created="2025-11-15T16:00:01.766" complete="100000">
    <ac:txMkLst xmlns:ac="http://schemas.microsoft.com/office/drawing/2013/main/command">
      <pc:docMk xmlns:pc="http://schemas.microsoft.com/office/powerpoint/2013/main/command"/>
      <pc:sldMk xmlns:pc="http://schemas.microsoft.com/office/powerpoint/2013/main/command" cId="3794487604" sldId="2147375553"/>
      <ac:spMk id="9" creationId="{84FA05B7-DD7A-6CB0-3FD0-B09A9F9A65D0}"/>
      <ac:txMk cp="103">
        <ac:context len="267" hash="821623642"/>
      </ac:txMk>
    </ac:txMkLst>
    <p188:pos x="7988221" y="2416314"/>
    <p188:txBody>
      <a:bodyPr/>
      <a:lstStyle/>
      <a:p>
        <a:r>
          <a:rPr lang="en-US"/>
          <a:t>going to this level of process detail may not be necessary, consider cutting or replacing</a:t>
        </a:r>
      </a:p>
    </p188:txBody>
  </p188:cm>
</p188:cmLst>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830298-7381-43EB-91A3-785761321275}"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en-US"/>
        </a:p>
      </dgm:t>
    </dgm:pt>
    <dgm:pt modelId="{37D463F4-CAA2-4A3C-B53A-72EB9AE5C5C1}">
      <dgm:prSet custT="1"/>
      <dgm:spPr>
        <a:solidFill>
          <a:schemeClr val="accent6">
            <a:lumMod val="75000"/>
          </a:schemeClr>
        </a:solidFill>
      </dgm:spPr>
      <dgm:t>
        <a:bodyPr/>
        <a:lstStyle/>
        <a:p>
          <a:r>
            <a:rPr lang="en-US" sz="2400" b="1" dirty="0">
              <a:latin typeface="Arial" panose="020B0604020202020204" pitchFamily="34" charset="0"/>
              <a:cs typeface="Arial" panose="020B0604020202020204" pitchFamily="34" charset="0"/>
            </a:rPr>
            <a:t>Laboratory Networking </a:t>
          </a:r>
        </a:p>
      </dgm:t>
    </dgm:pt>
    <dgm:pt modelId="{3A51A5DB-B2BD-498F-AAF6-857A9A8868C0}" type="parTrans" cxnId="{F6B66628-5628-45AB-BF75-18C4AA318B32}">
      <dgm:prSet/>
      <dgm:spPr/>
      <dgm:t>
        <a:bodyPr/>
        <a:lstStyle/>
        <a:p>
          <a:endParaRPr lang="en-US"/>
        </a:p>
      </dgm:t>
    </dgm:pt>
    <dgm:pt modelId="{D284B5B3-462E-4BB3-9204-7E5ACACE0A2A}" type="sibTrans" cxnId="{F6B66628-5628-45AB-BF75-18C4AA318B32}">
      <dgm:prSet/>
      <dgm:spPr/>
      <dgm:t>
        <a:bodyPr/>
        <a:lstStyle/>
        <a:p>
          <a:endParaRPr lang="en-US"/>
        </a:p>
      </dgm:t>
    </dgm:pt>
    <dgm:pt modelId="{A527424F-34AF-438D-920D-DEC7CD65A54F}">
      <dgm:prSet/>
      <dgm:spPr/>
      <dgm:t>
        <a:bodyPr/>
        <a:lstStyle/>
        <a:p>
          <a:r>
            <a:rPr lang="en-US" dirty="0">
              <a:latin typeface="Arial" panose="020B0604020202020204" pitchFamily="34" charset="0"/>
              <a:cs typeface="Arial" panose="020B0604020202020204" pitchFamily="34" charset="0"/>
            </a:rPr>
            <a:t>The TOR was approved by the Word Bank and IGAD </a:t>
          </a:r>
        </a:p>
      </dgm:t>
    </dgm:pt>
    <dgm:pt modelId="{120DEAA0-3ECF-4E27-A524-AF9901210590}" type="parTrans" cxnId="{FC9574A3-4A5A-4CA7-8F11-4CEB4427BD82}">
      <dgm:prSet/>
      <dgm:spPr/>
      <dgm:t>
        <a:bodyPr/>
        <a:lstStyle/>
        <a:p>
          <a:endParaRPr lang="en-US"/>
        </a:p>
      </dgm:t>
    </dgm:pt>
    <dgm:pt modelId="{97722BF9-4317-45D4-90B2-73137DD46BC5}" type="sibTrans" cxnId="{FC9574A3-4A5A-4CA7-8F11-4CEB4427BD82}">
      <dgm:prSet/>
      <dgm:spPr/>
      <dgm:t>
        <a:bodyPr/>
        <a:lstStyle/>
        <a:p>
          <a:endParaRPr lang="en-US"/>
        </a:p>
      </dgm:t>
    </dgm:pt>
    <dgm:pt modelId="{071AEC33-5BBE-407C-8C63-690FA2FE2B99}">
      <dgm:prSet/>
      <dgm:spPr/>
      <dgm:t>
        <a:bodyPr/>
        <a:lstStyle/>
        <a:p>
          <a:r>
            <a:rPr lang="en-US" dirty="0">
              <a:latin typeface="Arial" panose="020B0604020202020204" pitchFamily="34" charset="0"/>
              <a:cs typeface="Arial" panose="020B0604020202020204" pitchFamily="34" charset="0"/>
            </a:rPr>
            <a:t>Short listed of the potential candidates done </a:t>
          </a:r>
        </a:p>
      </dgm:t>
    </dgm:pt>
    <dgm:pt modelId="{A7F0B148-94FE-40E7-ABE0-1B12567D04D3}" type="parTrans" cxnId="{45C5B61B-4B95-4050-ACB3-5F0DE1D860C0}">
      <dgm:prSet/>
      <dgm:spPr/>
      <dgm:t>
        <a:bodyPr/>
        <a:lstStyle/>
        <a:p>
          <a:endParaRPr lang="en-US"/>
        </a:p>
      </dgm:t>
    </dgm:pt>
    <dgm:pt modelId="{DDD5194B-381A-4F40-9B08-14193B01ABEC}" type="sibTrans" cxnId="{45C5B61B-4B95-4050-ACB3-5F0DE1D860C0}">
      <dgm:prSet/>
      <dgm:spPr/>
      <dgm:t>
        <a:bodyPr/>
        <a:lstStyle/>
        <a:p>
          <a:endParaRPr lang="en-US"/>
        </a:p>
      </dgm:t>
    </dgm:pt>
    <dgm:pt modelId="{92A6637D-AF32-4B60-8D49-FB4C6CC2110B}">
      <dgm:prSet/>
      <dgm:spPr/>
      <dgm:t>
        <a:bodyPr/>
        <a:lstStyle/>
        <a:p>
          <a:r>
            <a:rPr lang="en-US" dirty="0">
              <a:latin typeface="Arial" panose="020B0604020202020204" pitchFamily="34" charset="0"/>
              <a:cs typeface="Arial" panose="020B0604020202020204" pitchFamily="34" charset="0"/>
            </a:rPr>
            <a:t>Selection to be finalized in the due course </a:t>
          </a:r>
        </a:p>
      </dgm:t>
    </dgm:pt>
    <dgm:pt modelId="{D2C44224-58AD-4928-89ED-90044C4A1EA2}" type="parTrans" cxnId="{6CDA340F-18E4-46C1-A8F1-FA44600E8C40}">
      <dgm:prSet/>
      <dgm:spPr/>
      <dgm:t>
        <a:bodyPr/>
        <a:lstStyle/>
        <a:p>
          <a:endParaRPr lang="en-US"/>
        </a:p>
      </dgm:t>
    </dgm:pt>
    <dgm:pt modelId="{AACEB901-D9E0-4C3A-8098-02FD220D6EA4}" type="sibTrans" cxnId="{6CDA340F-18E4-46C1-A8F1-FA44600E8C40}">
      <dgm:prSet/>
      <dgm:spPr/>
      <dgm:t>
        <a:bodyPr/>
        <a:lstStyle/>
        <a:p>
          <a:endParaRPr lang="en-US"/>
        </a:p>
      </dgm:t>
    </dgm:pt>
    <dgm:pt modelId="{B39DAE8F-3880-4C3B-A169-437FCC67AA97}">
      <dgm:prSet custT="1"/>
      <dgm:spPr>
        <a:solidFill>
          <a:schemeClr val="accent6">
            <a:lumMod val="75000"/>
          </a:schemeClr>
        </a:solidFill>
      </dgm:spPr>
      <dgm:t>
        <a:bodyPr/>
        <a:lstStyle/>
        <a:p>
          <a:r>
            <a:rPr lang="en-US" sz="2400" b="1" dirty="0">
              <a:latin typeface="Arial" panose="020B0604020202020204" pitchFamily="34" charset="0"/>
              <a:cs typeface="Arial" panose="020B0604020202020204" pitchFamily="34" charset="0"/>
            </a:rPr>
            <a:t>Strategic workshop on Collaborative Surveillance</a:t>
          </a:r>
        </a:p>
      </dgm:t>
    </dgm:pt>
    <dgm:pt modelId="{697921E6-A624-4067-8823-422B193102D5}" type="parTrans" cxnId="{872F506F-6234-4E63-B67A-628AE2DFE5B8}">
      <dgm:prSet/>
      <dgm:spPr/>
      <dgm:t>
        <a:bodyPr/>
        <a:lstStyle/>
        <a:p>
          <a:endParaRPr lang="en-US"/>
        </a:p>
      </dgm:t>
    </dgm:pt>
    <dgm:pt modelId="{9CA6DE5A-A0A7-4265-8A10-BDDD099B73A9}" type="sibTrans" cxnId="{872F506F-6234-4E63-B67A-628AE2DFE5B8}">
      <dgm:prSet/>
      <dgm:spPr/>
      <dgm:t>
        <a:bodyPr/>
        <a:lstStyle/>
        <a:p>
          <a:endParaRPr lang="en-US"/>
        </a:p>
      </dgm:t>
    </dgm:pt>
    <dgm:pt modelId="{4AF904AB-8B8B-43DE-9F9D-E62E8A462E76}">
      <dgm:prSet/>
      <dgm:spPr/>
      <dgm:t>
        <a:bodyPr/>
        <a:lstStyle/>
        <a:p>
          <a:r>
            <a:rPr lang="en-US" dirty="0">
              <a:latin typeface="Arial" panose="020B0604020202020204" pitchFamily="34" charset="0"/>
              <a:cs typeface="Arial" panose="020B0604020202020204" pitchFamily="34" charset="0"/>
            </a:rPr>
            <a:t>Numerous virtual engagement conducted with the partner organizations to co design/ co – create objectives and model of the training </a:t>
          </a:r>
        </a:p>
      </dgm:t>
    </dgm:pt>
    <dgm:pt modelId="{23F4404C-FE28-4672-86A2-7572A56A22AA}" type="parTrans" cxnId="{2EE4BE15-D6CC-4D09-91FF-941887B48A2C}">
      <dgm:prSet/>
      <dgm:spPr/>
      <dgm:t>
        <a:bodyPr/>
        <a:lstStyle/>
        <a:p>
          <a:endParaRPr lang="en-US"/>
        </a:p>
      </dgm:t>
    </dgm:pt>
    <dgm:pt modelId="{FA34FCDD-1651-4004-BDA7-F1FA69B523FE}" type="sibTrans" cxnId="{2EE4BE15-D6CC-4D09-91FF-941887B48A2C}">
      <dgm:prSet/>
      <dgm:spPr/>
      <dgm:t>
        <a:bodyPr/>
        <a:lstStyle/>
        <a:p>
          <a:endParaRPr lang="en-US"/>
        </a:p>
      </dgm:t>
    </dgm:pt>
    <dgm:pt modelId="{8243D6C8-0370-478D-AC57-F29F426239F3}">
      <dgm:prSet/>
      <dgm:spPr/>
      <dgm:t>
        <a:bodyPr/>
        <a:lstStyle/>
        <a:p>
          <a:r>
            <a:rPr lang="en-US" dirty="0">
              <a:latin typeface="Arial" panose="020B0604020202020204" pitchFamily="34" charset="0"/>
              <a:cs typeface="Arial" panose="020B0604020202020204" pitchFamily="34" charset="0"/>
            </a:rPr>
            <a:t>Partners; RTSL, WHO- AFRO and World Bank team </a:t>
          </a:r>
        </a:p>
      </dgm:t>
    </dgm:pt>
    <dgm:pt modelId="{F84658CE-CCEA-4DB7-8D06-8230ADE9B940}" type="parTrans" cxnId="{23713E2B-3E31-43A4-BC72-D37B46061D26}">
      <dgm:prSet/>
      <dgm:spPr/>
      <dgm:t>
        <a:bodyPr/>
        <a:lstStyle/>
        <a:p>
          <a:endParaRPr lang="en-US"/>
        </a:p>
      </dgm:t>
    </dgm:pt>
    <dgm:pt modelId="{6B1269C8-A650-4FF7-8D8E-8810EC6F9257}" type="sibTrans" cxnId="{23713E2B-3E31-43A4-BC72-D37B46061D26}">
      <dgm:prSet/>
      <dgm:spPr/>
      <dgm:t>
        <a:bodyPr/>
        <a:lstStyle/>
        <a:p>
          <a:endParaRPr lang="en-US"/>
        </a:p>
      </dgm:t>
    </dgm:pt>
    <dgm:pt modelId="{76C66444-15BD-45FB-916A-77F78B213D3B}">
      <dgm:prSet/>
      <dgm:spPr/>
      <dgm:t>
        <a:bodyPr/>
        <a:lstStyle/>
        <a:p>
          <a:r>
            <a:rPr lang="en-US" dirty="0">
              <a:latin typeface="Arial" panose="020B0604020202020204" pitchFamily="34" charset="0"/>
              <a:cs typeface="Arial" panose="020B0604020202020204" pitchFamily="34" charset="0"/>
            </a:rPr>
            <a:t>Gates Foundation expressed interest to collaborate</a:t>
          </a:r>
        </a:p>
      </dgm:t>
    </dgm:pt>
    <dgm:pt modelId="{4B91F591-B3AB-4A56-9BEF-22BB5FCA6AF0}" type="parTrans" cxnId="{2296D692-70CA-462E-B028-CEC50D34E3F8}">
      <dgm:prSet/>
      <dgm:spPr/>
      <dgm:t>
        <a:bodyPr/>
        <a:lstStyle/>
        <a:p>
          <a:endParaRPr lang="en-US"/>
        </a:p>
      </dgm:t>
    </dgm:pt>
    <dgm:pt modelId="{1F80C245-362E-444A-ABFD-6DD2FC0B2845}" type="sibTrans" cxnId="{2296D692-70CA-462E-B028-CEC50D34E3F8}">
      <dgm:prSet/>
      <dgm:spPr/>
      <dgm:t>
        <a:bodyPr/>
        <a:lstStyle/>
        <a:p>
          <a:endParaRPr lang="en-US"/>
        </a:p>
      </dgm:t>
    </dgm:pt>
    <dgm:pt modelId="{7E4FBF3E-B8DE-499D-99FE-69D9F69A0660}">
      <dgm:prSet/>
      <dgm:spPr/>
      <dgm:t>
        <a:bodyPr/>
        <a:lstStyle/>
        <a:p>
          <a:r>
            <a:rPr lang="en-US" dirty="0">
              <a:latin typeface="Arial" panose="020B0604020202020204" pitchFamily="34" charset="0"/>
              <a:cs typeface="Arial" panose="020B0604020202020204" pitchFamily="34" charset="0"/>
            </a:rPr>
            <a:t>The meeting postponed due to concerns on EVD, however IGAD will continue engaging with the World Bank to finalize the workshop modalities, implementation approach, and delivery arrangements</a:t>
          </a:r>
        </a:p>
      </dgm:t>
    </dgm:pt>
    <dgm:pt modelId="{0998755A-9015-460D-88DE-B1FB4BF73B57}" type="parTrans" cxnId="{D8FB62DC-71F1-4E87-B15D-3A378B1E1715}">
      <dgm:prSet/>
      <dgm:spPr/>
      <dgm:t>
        <a:bodyPr/>
        <a:lstStyle/>
        <a:p>
          <a:endParaRPr lang="en-US"/>
        </a:p>
      </dgm:t>
    </dgm:pt>
    <dgm:pt modelId="{F7B6C84B-C47F-4115-B439-946205E381DA}" type="sibTrans" cxnId="{D8FB62DC-71F1-4E87-B15D-3A378B1E1715}">
      <dgm:prSet/>
      <dgm:spPr/>
      <dgm:t>
        <a:bodyPr/>
        <a:lstStyle/>
        <a:p>
          <a:endParaRPr lang="en-US"/>
        </a:p>
      </dgm:t>
    </dgm:pt>
    <dgm:pt modelId="{9ED44B40-7EE5-4401-9BE0-FE6CB6384B48}" type="pres">
      <dgm:prSet presAssocID="{6C830298-7381-43EB-91A3-785761321275}" presName="linear" presStyleCnt="0">
        <dgm:presLayoutVars>
          <dgm:dir/>
          <dgm:animLvl val="lvl"/>
          <dgm:resizeHandles val="exact"/>
        </dgm:presLayoutVars>
      </dgm:prSet>
      <dgm:spPr/>
    </dgm:pt>
    <dgm:pt modelId="{B32034FC-104F-4DAE-840B-A4AF4B414E38}" type="pres">
      <dgm:prSet presAssocID="{37D463F4-CAA2-4A3C-B53A-72EB9AE5C5C1}" presName="parentLin" presStyleCnt="0"/>
      <dgm:spPr/>
    </dgm:pt>
    <dgm:pt modelId="{6B90C540-827A-4FF7-B71C-8594C8A4B74B}" type="pres">
      <dgm:prSet presAssocID="{37D463F4-CAA2-4A3C-B53A-72EB9AE5C5C1}" presName="parentLeftMargin" presStyleLbl="node1" presStyleIdx="0" presStyleCnt="2"/>
      <dgm:spPr/>
    </dgm:pt>
    <dgm:pt modelId="{A8AB2893-01BA-4685-A228-2010830E80DE}" type="pres">
      <dgm:prSet presAssocID="{37D463F4-CAA2-4A3C-B53A-72EB9AE5C5C1}" presName="parentText" presStyleLbl="node1" presStyleIdx="0" presStyleCnt="2">
        <dgm:presLayoutVars>
          <dgm:chMax val="0"/>
          <dgm:bulletEnabled val="1"/>
        </dgm:presLayoutVars>
      </dgm:prSet>
      <dgm:spPr/>
    </dgm:pt>
    <dgm:pt modelId="{DEA39B2E-B34C-4481-A7DB-C0A08FBD8EB8}" type="pres">
      <dgm:prSet presAssocID="{37D463F4-CAA2-4A3C-B53A-72EB9AE5C5C1}" presName="negativeSpace" presStyleCnt="0"/>
      <dgm:spPr/>
    </dgm:pt>
    <dgm:pt modelId="{4DB2CA9A-8292-415F-941D-CBC0CE4F75C9}" type="pres">
      <dgm:prSet presAssocID="{37D463F4-CAA2-4A3C-B53A-72EB9AE5C5C1}" presName="childText" presStyleLbl="conFgAcc1" presStyleIdx="0" presStyleCnt="2">
        <dgm:presLayoutVars>
          <dgm:bulletEnabled val="1"/>
        </dgm:presLayoutVars>
      </dgm:prSet>
      <dgm:spPr/>
    </dgm:pt>
    <dgm:pt modelId="{2393FB81-E112-4981-A827-2B462DD7DFC9}" type="pres">
      <dgm:prSet presAssocID="{D284B5B3-462E-4BB3-9204-7E5ACACE0A2A}" presName="spaceBetweenRectangles" presStyleCnt="0"/>
      <dgm:spPr/>
    </dgm:pt>
    <dgm:pt modelId="{CAA65547-6804-4F51-89AE-E4E4CEE53B37}" type="pres">
      <dgm:prSet presAssocID="{B39DAE8F-3880-4C3B-A169-437FCC67AA97}" presName="parentLin" presStyleCnt="0"/>
      <dgm:spPr/>
    </dgm:pt>
    <dgm:pt modelId="{5C96EC0E-DF81-4A48-8997-51F2DB21B883}" type="pres">
      <dgm:prSet presAssocID="{B39DAE8F-3880-4C3B-A169-437FCC67AA97}" presName="parentLeftMargin" presStyleLbl="node1" presStyleIdx="0" presStyleCnt="2"/>
      <dgm:spPr/>
    </dgm:pt>
    <dgm:pt modelId="{40A1C217-CF5C-4AD9-932E-2C302FCC2502}" type="pres">
      <dgm:prSet presAssocID="{B39DAE8F-3880-4C3B-A169-437FCC67AA97}" presName="parentText" presStyleLbl="node1" presStyleIdx="1" presStyleCnt="2">
        <dgm:presLayoutVars>
          <dgm:chMax val="0"/>
          <dgm:bulletEnabled val="1"/>
        </dgm:presLayoutVars>
      </dgm:prSet>
      <dgm:spPr/>
    </dgm:pt>
    <dgm:pt modelId="{B70C08CF-CA97-4A72-BF43-19D77E79D74F}" type="pres">
      <dgm:prSet presAssocID="{B39DAE8F-3880-4C3B-A169-437FCC67AA97}" presName="negativeSpace" presStyleCnt="0"/>
      <dgm:spPr/>
    </dgm:pt>
    <dgm:pt modelId="{3CC6194B-A5E6-4C6D-B4AA-AC5475307525}" type="pres">
      <dgm:prSet presAssocID="{B39DAE8F-3880-4C3B-A169-437FCC67AA97}" presName="childText" presStyleLbl="conFgAcc1" presStyleIdx="1" presStyleCnt="2">
        <dgm:presLayoutVars>
          <dgm:bulletEnabled val="1"/>
        </dgm:presLayoutVars>
      </dgm:prSet>
      <dgm:spPr/>
    </dgm:pt>
  </dgm:ptLst>
  <dgm:cxnLst>
    <dgm:cxn modelId="{793B7006-FA34-4FAA-A353-D178FC307609}" type="presOf" srcId="{A527424F-34AF-438D-920D-DEC7CD65A54F}" destId="{4DB2CA9A-8292-415F-941D-CBC0CE4F75C9}" srcOrd="0" destOrd="0" presId="urn:microsoft.com/office/officeart/2005/8/layout/list1"/>
    <dgm:cxn modelId="{6CDA340F-18E4-46C1-A8F1-FA44600E8C40}" srcId="{37D463F4-CAA2-4A3C-B53A-72EB9AE5C5C1}" destId="{92A6637D-AF32-4B60-8D49-FB4C6CC2110B}" srcOrd="2" destOrd="0" parTransId="{D2C44224-58AD-4928-89ED-90044C4A1EA2}" sibTransId="{AACEB901-D9E0-4C3A-8098-02FD220D6EA4}"/>
    <dgm:cxn modelId="{2EE4BE15-D6CC-4D09-91FF-941887B48A2C}" srcId="{B39DAE8F-3880-4C3B-A169-437FCC67AA97}" destId="{4AF904AB-8B8B-43DE-9F9D-E62E8A462E76}" srcOrd="0" destOrd="0" parTransId="{23F4404C-FE28-4672-86A2-7572A56A22AA}" sibTransId="{FA34FCDD-1651-4004-BDA7-F1FA69B523FE}"/>
    <dgm:cxn modelId="{644EF517-2709-4B23-96E5-0EF3B3017A17}" type="presOf" srcId="{37D463F4-CAA2-4A3C-B53A-72EB9AE5C5C1}" destId="{6B90C540-827A-4FF7-B71C-8594C8A4B74B}" srcOrd="0" destOrd="0" presId="urn:microsoft.com/office/officeart/2005/8/layout/list1"/>
    <dgm:cxn modelId="{C61DD319-9257-46E6-8A6B-3AB1557702CD}" type="presOf" srcId="{6C830298-7381-43EB-91A3-785761321275}" destId="{9ED44B40-7EE5-4401-9BE0-FE6CB6384B48}" srcOrd="0" destOrd="0" presId="urn:microsoft.com/office/officeart/2005/8/layout/list1"/>
    <dgm:cxn modelId="{45C5B61B-4B95-4050-ACB3-5F0DE1D860C0}" srcId="{37D463F4-CAA2-4A3C-B53A-72EB9AE5C5C1}" destId="{071AEC33-5BBE-407C-8C63-690FA2FE2B99}" srcOrd="1" destOrd="0" parTransId="{A7F0B148-94FE-40E7-ABE0-1B12567D04D3}" sibTransId="{DDD5194B-381A-4F40-9B08-14193B01ABEC}"/>
    <dgm:cxn modelId="{A5D2B720-6A07-466C-AE45-E00EDE478D91}" type="presOf" srcId="{37D463F4-CAA2-4A3C-B53A-72EB9AE5C5C1}" destId="{A8AB2893-01BA-4685-A228-2010830E80DE}" srcOrd="1" destOrd="0" presId="urn:microsoft.com/office/officeart/2005/8/layout/list1"/>
    <dgm:cxn modelId="{F6B66628-5628-45AB-BF75-18C4AA318B32}" srcId="{6C830298-7381-43EB-91A3-785761321275}" destId="{37D463F4-CAA2-4A3C-B53A-72EB9AE5C5C1}" srcOrd="0" destOrd="0" parTransId="{3A51A5DB-B2BD-498F-AAF6-857A9A8868C0}" sibTransId="{D284B5B3-462E-4BB3-9204-7E5ACACE0A2A}"/>
    <dgm:cxn modelId="{23713E2B-3E31-43A4-BC72-D37B46061D26}" srcId="{4AF904AB-8B8B-43DE-9F9D-E62E8A462E76}" destId="{8243D6C8-0370-478D-AC57-F29F426239F3}" srcOrd="0" destOrd="0" parTransId="{F84658CE-CCEA-4DB7-8D06-8230ADE9B940}" sibTransId="{6B1269C8-A650-4FF7-8D8E-8810EC6F9257}"/>
    <dgm:cxn modelId="{9CDB0462-383D-457B-A2F4-BC157D023DDC}" type="presOf" srcId="{7E4FBF3E-B8DE-499D-99FE-69D9F69A0660}" destId="{3CC6194B-A5E6-4C6D-B4AA-AC5475307525}" srcOrd="0" destOrd="3" presId="urn:microsoft.com/office/officeart/2005/8/layout/list1"/>
    <dgm:cxn modelId="{872F506F-6234-4E63-B67A-628AE2DFE5B8}" srcId="{6C830298-7381-43EB-91A3-785761321275}" destId="{B39DAE8F-3880-4C3B-A169-437FCC67AA97}" srcOrd="1" destOrd="0" parTransId="{697921E6-A624-4067-8823-422B193102D5}" sibTransId="{9CA6DE5A-A0A7-4265-8A10-BDDD099B73A9}"/>
    <dgm:cxn modelId="{7D39556F-A3E6-49D5-B994-CC0FF86708BD}" type="presOf" srcId="{4AF904AB-8B8B-43DE-9F9D-E62E8A462E76}" destId="{3CC6194B-A5E6-4C6D-B4AA-AC5475307525}" srcOrd="0" destOrd="0" presId="urn:microsoft.com/office/officeart/2005/8/layout/list1"/>
    <dgm:cxn modelId="{EB327E52-5011-4864-B2C3-AB790CB03B37}" type="presOf" srcId="{071AEC33-5BBE-407C-8C63-690FA2FE2B99}" destId="{4DB2CA9A-8292-415F-941D-CBC0CE4F75C9}" srcOrd="0" destOrd="1" presId="urn:microsoft.com/office/officeart/2005/8/layout/list1"/>
    <dgm:cxn modelId="{CA24AA88-07E5-4DB6-A1C8-208C2E9E23A5}" type="presOf" srcId="{92A6637D-AF32-4B60-8D49-FB4C6CC2110B}" destId="{4DB2CA9A-8292-415F-941D-CBC0CE4F75C9}" srcOrd="0" destOrd="2" presId="urn:microsoft.com/office/officeart/2005/8/layout/list1"/>
    <dgm:cxn modelId="{2296D692-70CA-462E-B028-CEC50D34E3F8}" srcId="{4AF904AB-8B8B-43DE-9F9D-E62E8A462E76}" destId="{76C66444-15BD-45FB-916A-77F78B213D3B}" srcOrd="1" destOrd="0" parTransId="{4B91F591-B3AB-4A56-9BEF-22BB5FCA6AF0}" sibTransId="{1F80C245-362E-444A-ABFD-6DD2FC0B2845}"/>
    <dgm:cxn modelId="{FC9574A3-4A5A-4CA7-8F11-4CEB4427BD82}" srcId="{37D463F4-CAA2-4A3C-B53A-72EB9AE5C5C1}" destId="{A527424F-34AF-438D-920D-DEC7CD65A54F}" srcOrd="0" destOrd="0" parTransId="{120DEAA0-3ECF-4E27-A524-AF9901210590}" sibTransId="{97722BF9-4317-45D4-90B2-73137DD46BC5}"/>
    <dgm:cxn modelId="{BE679DAA-7F04-4044-AB81-3A58CD5ED192}" type="presOf" srcId="{8243D6C8-0370-478D-AC57-F29F426239F3}" destId="{3CC6194B-A5E6-4C6D-B4AA-AC5475307525}" srcOrd="0" destOrd="1" presId="urn:microsoft.com/office/officeart/2005/8/layout/list1"/>
    <dgm:cxn modelId="{5CD079B5-73B5-479F-80D3-4B21986D2942}" type="presOf" srcId="{B39DAE8F-3880-4C3B-A169-437FCC67AA97}" destId="{5C96EC0E-DF81-4A48-8997-51F2DB21B883}" srcOrd="0" destOrd="0" presId="urn:microsoft.com/office/officeart/2005/8/layout/list1"/>
    <dgm:cxn modelId="{788E5AC9-D97B-4A89-8C74-620681BC0114}" type="presOf" srcId="{B39DAE8F-3880-4C3B-A169-437FCC67AA97}" destId="{40A1C217-CF5C-4AD9-932E-2C302FCC2502}" srcOrd="1" destOrd="0" presId="urn:microsoft.com/office/officeart/2005/8/layout/list1"/>
    <dgm:cxn modelId="{9F93E1DA-5E8E-4E92-8087-C13DA6E7D97B}" type="presOf" srcId="{76C66444-15BD-45FB-916A-77F78B213D3B}" destId="{3CC6194B-A5E6-4C6D-B4AA-AC5475307525}" srcOrd="0" destOrd="2" presId="urn:microsoft.com/office/officeart/2005/8/layout/list1"/>
    <dgm:cxn modelId="{D8FB62DC-71F1-4E87-B15D-3A378B1E1715}" srcId="{B39DAE8F-3880-4C3B-A169-437FCC67AA97}" destId="{7E4FBF3E-B8DE-499D-99FE-69D9F69A0660}" srcOrd="1" destOrd="0" parTransId="{0998755A-9015-460D-88DE-B1FB4BF73B57}" sibTransId="{F7B6C84B-C47F-4115-B439-946205E381DA}"/>
    <dgm:cxn modelId="{6DC9AFDF-6766-4B54-8318-F922C596D3E2}" type="presParOf" srcId="{9ED44B40-7EE5-4401-9BE0-FE6CB6384B48}" destId="{B32034FC-104F-4DAE-840B-A4AF4B414E38}" srcOrd="0" destOrd="0" presId="urn:microsoft.com/office/officeart/2005/8/layout/list1"/>
    <dgm:cxn modelId="{69407A9D-906C-4C2D-9C54-BCECBDDB77DB}" type="presParOf" srcId="{B32034FC-104F-4DAE-840B-A4AF4B414E38}" destId="{6B90C540-827A-4FF7-B71C-8594C8A4B74B}" srcOrd="0" destOrd="0" presId="urn:microsoft.com/office/officeart/2005/8/layout/list1"/>
    <dgm:cxn modelId="{40ED3471-C321-4BE4-9FB7-041D48146A8E}" type="presParOf" srcId="{B32034FC-104F-4DAE-840B-A4AF4B414E38}" destId="{A8AB2893-01BA-4685-A228-2010830E80DE}" srcOrd="1" destOrd="0" presId="urn:microsoft.com/office/officeart/2005/8/layout/list1"/>
    <dgm:cxn modelId="{AB44507E-D601-4219-A350-66F3040216E7}" type="presParOf" srcId="{9ED44B40-7EE5-4401-9BE0-FE6CB6384B48}" destId="{DEA39B2E-B34C-4481-A7DB-C0A08FBD8EB8}" srcOrd="1" destOrd="0" presId="urn:microsoft.com/office/officeart/2005/8/layout/list1"/>
    <dgm:cxn modelId="{35F106BC-A529-4341-8E26-BF2F679307C8}" type="presParOf" srcId="{9ED44B40-7EE5-4401-9BE0-FE6CB6384B48}" destId="{4DB2CA9A-8292-415F-941D-CBC0CE4F75C9}" srcOrd="2" destOrd="0" presId="urn:microsoft.com/office/officeart/2005/8/layout/list1"/>
    <dgm:cxn modelId="{0FD62D8F-A925-4416-8BF9-48A863C5C665}" type="presParOf" srcId="{9ED44B40-7EE5-4401-9BE0-FE6CB6384B48}" destId="{2393FB81-E112-4981-A827-2B462DD7DFC9}" srcOrd="3" destOrd="0" presId="urn:microsoft.com/office/officeart/2005/8/layout/list1"/>
    <dgm:cxn modelId="{DE69A41E-640C-42E7-AE1F-A48C291FCE61}" type="presParOf" srcId="{9ED44B40-7EE5-4401-9BE0-FE6CB6384B48}" destId="{CAA65547-6804-4F51-89AE-E4E4CEE53B37}" srcOrd="4" destOrd="0" presId="urn:microsoft.com/office/officeart/2005/8/layout/list1"/>
    <dgm:cxn modelId="{9E81F099-9776-49C0-8837-6A7E3CB03237}" type="presParOf" srcId="{CAA65547-6804-4F51-89AE-E4E4CEE53B37}" destId="{5C96EC0E-DF81-4A48-8997-51F2DB21B883}" srcOrd="0" destOrd="0" presId="urn:microsoft.com/office/officeart/2005/8/layout/list1"/>
    <dgm:cxn modelId="{5E585989-8305-4EBC-AD68-46C33684F9DC}" type="presParOf" srcId="{CAA65547-6804-4F51-89AE-E4E4CEE53B37}" destId="{40A1C217-CF5C-4AD9-932E-2C302FCC2502}" srcOrd="1" destOrd="0" presId="urn:microsoft.com/office/officeart/2005/8/layout/list1"/>
    <dgm:cxn modelId="{16220B7E-EA59-4263-A30D-8215DAC94C3E}" type="presParOf" srcId="{9ED44B40-7EE5-4401-9BE0-FE6CB6384B48}" destId="{B70C08CF-CA97-4A72-BF43-19D77E79D74F}" srcOrd="5" destOrd="0" presId="urn:microsoft.com/office/officeart/2005/8/layout/list1"/>
    <dgm:cxn modelId="{1617E2CE-F24E-40E3-98AE-33CE3CFB2B9B}" type="presParOf" srcId="{9ED44B40-7EE5-4401-9BE0-FE6CB6384B48}" destId="{3CC6194B-A5E6-4C6D-B4AA-AC5475307525}"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B2CA9A-8292-415F-941D-CBC0CE4F75C9}">
      <dsp:nvSpPr>
        <dsp:cNvPr id="0" name=""/>
        <dsp:cNvSpPr/>
      </dsp:nvSpPr>
      <dsp:spPr>
        <a:xfrm>
          <a:off x="0" y="406279"/>
          <a:ext cx="11950861" cy="15939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7520" tIns="458216" rIns="927520"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dirty="0">
              <a:latin typeface="Arial" panose="020B0604020202020204" pitchFamily="34" charset="0"/>
              <a:cs typeface="Arial" panose="020B0604020202020204" pitchFamily="34" charset="0"/>
            </a:rPr>
            <a:t>The TOR was approved by the Word Bank and IGAD </a:t>
          </a:r>
        </a:p>
        <a:p>
          <a:pPr marL="228600" lvl="1" indent="-228600" algn="l" defTabSz="977900">
            <a:lnSpc>
              <a:spcPct val="90000"/>
            </a:lnSpc>
            <a:spcBef>
              <a:spcPct val="0"/>
            </a:spcBef>
            <a:spcAft>
              <a:spcPct val="15000"/>
            </a:spcAft>
            <a:buChar char="•"/>
          </a:pPr>
          <a:r>
            <a:rPr lang="en-US" sz="2200" kern="1200" dirty="0">
              <a:latin typeface="Arial" panose="020B0604020202020204" pitchFamily="34" charset="0"/>
              <a:cs typeface="Arial" panose="020B0604020202020204" pitchFamily="34" charset="0"/>
            </a:rPr>
            <a:t>Short listed of the potential candidates done </a:t>
          </a:r>
        </a:p>
        <a:p>
          <a:pPr marL="228600" lvl="1" indent="-228600" algn="l" defTabSz="977900">
            <a:lnSpc>
              <a:spcPct val="90000"/>
            </a:lnSpc>
            <a:spcBef>
              <a:spcPct val="0"/>
            </a:spcBef>
            <a:spcAft>
              <a:spcPct val="15000"/>
            </a:spcAft>
            <a:buChar char="•"/>
          </a:pPr>
          <a:r>
            <a:rPr lang="en-US" sz="2200" kern="1200" dirty="0">
              <a:latin typeface="Arial" panose="020B0604020202020204" pitchFamily="34" charset="0"/>
              <a:cs typeface="Arial" panose="020B0604020202020204" pitchFamily="34" charset="0"/>
            </a:rPr>
            <a:t>Selection to be finalized in the due course </a:t>
          </a:r>
        </a:p>
      </dsp:txBody>
      <dsp:txXfrm>
        <a:off x="0" y="406279"/>
        <a:ext cx="11950861" cy="1593900"/>
      </dsp:txXfrm>
    </dsp:sp>
    <dsp:sp modelId="{A8AB2893-01BA-4685-A228-2010830E80DE}">
      <dsp:nvSpPr>
        <dsp:cNvPr id="0" name=""/>
        <dsp:cNvSpPr/>
      </dsp:nvSpPr>
      <dsp:spPr>
        <a:xfrm>
          <a:off x="597543" y="81559"/>
          <a:ext cx="8365602" cy="649440"/>
        </a:xfrm>
        <a:prstGeom prst="round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6200" tIns="0" rIns="316200" bIns="0" numCol="1" spcCol="1270" anchor="ctr" anchorCtr="0">
          <a:noAutofit/>
        </a:bodyPr>
        <a:lstStyle/>
        <a:p>
          <a:pPr marL="0" lvl="0" indent="0" algn="l" defTabSz="106680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Laboratory Networking </a:t>
          </a:r>
        </a:p>
      </dsp:txBody>
      <dsp:txXfrm>
        <a:off x="629246" y="113262"/>
        <a:ext cx="8302196" cy="586034"/>
      </dsp:txXfrm>
    </dsp:sp>
    <dsp:sp modelId="{3CC6194B-A5E6-4C6D-B4AA-AC5475307525}">
      <dsp:nvSpPr>
        <dsp:cNvPr id="0" name=""/>
        <dsp:cNvSpPr/>
      </dsp:nvSpPr>
      <dsp:spPr>
        <a:xfrm>
          <a:off x="0" y="2443699"/>
          <a:ext cx="11950861" cy="28413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7520" tIns="458216" rIns="927520"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dirty="0">
              <a:latin typeface="Arial" panose="020B0604020202020204" pitchFamily="34" charset="0"/>
              <a:cs typeface="Arial" panose="020B0604020202020204" pitchFamily="34" charset="0"/>
            </a:rPr>
            <a:t>Numerous virtual engagement conducted with the partner organizations to co design/ co – create objectives and model of the training </a:t>
          </a:r>
        </a:p>
        <a:p>
          <a:pPr marL="457200" lvl="2" indent="-228600" algn="l" defTabSz="977900">
            <a:lnSpc>
              <a:spcPct val="90000"/>
            </a:lnSpc>
            <a:spcBef>
              <a:spcPct val="0"/>
            </a:spcBef>
            <a:spcAft>
              <a:spcPct val="15000"/>
            </a:spcAft>
            <a:buChar char="•"/>
          </a:pPr>
          <a:r>
            <a:rPr lang="en-US" sz="2200" kern="1200" dirty="0">
              <a:latin typeface="Arial" panose="020B0604020202020204" pitchFamily="34" charset="0"/>
              <a:cs typeface="Arial" panose="020B0604020202020204" pitchFamily="34" charset="0"/>
            </a:rPr>
            <a:t>Partners; RTSL, WHO- AFRO and World Bank team </a:t>
          </a:r>
        </a:p>
        <a:p>
          <a:pPr marL="457200" lvl="2" indent="-228600" algn="l" defTabSz="977900">
            <a:lnSpc>
              <a:spcPct val="90000"/>
            </a:lnSpc>
            <a:spcBef>
              <a:spcPct val="0"/>
            </a:spcBef>
            <a:spcAft>
              <a:spcPct val="15000"/>
            </a:spcAft>
            <a:buChar char="•"/>
          </a:pPr>
          <a:r>
            <a:rPr lang="en-US" sz="2200" kern="1200" dirty="0">
              <a:latin typeface="Arial" panose="020B0604020202020204" pitchFamily="34" charset="0"/>
              <a:cs typeface="Arial" panose="020B0604020202020204" pitchFamily="34" charset="0"/>
            </a:rPr>
            <a:t>Gates Foundation expressed interest to collaborate</a:t>
          </a:r>
        </a:p>
        <a:p>
          <a:pPr marL="228600" lvl="1" indent="-228600" algn="l" defTabSz="977900">
            <a:lnSpc>
              <a:spcPct val="90000"/>
            </a:lnSpc>
            <a:spcBef>
              <a:spcPct val="0"/>
            </a:spcBef>
            <a:spcAft>
              <a:spcPct val="15000"/>
            </a:spcAft>
            <a:buChar char="•"/>
          </a:pPr>
          <a:r>
            <a:rPr lang="en-US" sz="2200" kern="1200" dirty="0">
              <a:latin typeface="Arial" panose="020B0604020202020204" pitchFamily="34" charset="0"/>
              <a:cs typeface="Arial" panose="020B0604020202020204" pitchFamily="34" charset="0"/>
            </a:rPr>
            <a:t>The meeting postponed due to concerns on EVD, however IGAD will continue engaging with the World Bank to finalize the workshop modalities, implementation approach, and delivery arrangements</a:t>
          </a:r>
        </a:p>
      </dsp:txBody>
      <dsp:txXfrm>
        <a:off x="0" y="2443699"/>
        <a:ext cx="11950861" cy="2841300"/>
      </dsp:txXfrm>
    </dsp:sp>
    <dsp:sp modelId="{40A1C217-CF5C-4AD9-932E-2C302FCC2502}">
      <dsp:nvSpPr>
        <dsp:cNvPr id="0" name=""/>
        <dsp:cNvSpPr/>
      </dsp:nvSpPr>
      <dsp:spPr>
        <a:xfrm>
          <a:off x="597543" y="2118979"/>
          <a:ext cx="8365602" cy="649440"/>
        </a:xfrm>
        <a:prstGeom prst="round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6200" tIns="0" rIns="316200" bIns="0" numCol="1" spcCol="1270" anchor="ctr" anchorCtr="0">
          <a:noAutofit/>
        </a:bodyPr>
        <a:lstStyle/>
        <a:p>
          <a:pPr marL="0" lvl="0" indent="0" algn="l" defTabSz="106680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Strategic workshop on Collaborative Surveillance</a:t>
          </a:r>
        </a:p>
      </dsp:txBody>
      <dsp:txXfrm>
        <a:off x="629246" y="2150682"/>
        <a:ext cx="8302196" cy="58603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099543A0-2F38-43A0-8F2E-095473C381E6}" type="datetimeFigureOut">
              <a:rPr lang="en-US" smtClean="0"/>
              <a:pPr/>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D7C55475-2820-4CE1-BEEA-519BB468B451}" type="slidenum">
              <a:rPr lang="en-US" smtClean="0"/>
              <a:pPr/>
              <a:t>‹#›</a:t>
            </a:fld>
            <a:endParaRPr lang="en-US" dirty="0"/>
          </a:p>
        </p:txBody>
      </p:sp>
    </p:spTree>
    <p:extLst>
      <p:ext uri="{BB962C8B-B14F-4D97-AF65-F5344CB8AC3E}">
        <p14:creationId xmlns:p14="http://schemas.microsoft.com/office/powerpoint/2010/main" val="4244284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1</a:t>
            </a:fld>
            <a:endParaRPr lang="en-US" dirty="0"/>
          </a:p>
        </p:txBody>
      </p:sp>
    </p:spTree>
    <p:extLst>
      <p:ext uri="{BB962C8B-B14F-4D97-AF65-F5344CB8AC3E}">
        <p14:creationId xmlns:p14="http://schemas.microsoft.com/office/powerpoint/2010/main" val="2926995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6</a:t>
            </a:fld>
            <a:endParaRPr lang="en-US" dirty="0"/>
          </a:p>
        </p:txBody>
      </p:sp>
    </p:spTree>
    <p:extLst>
      <p:ext uri="{BB962C8B-B14F-4D97-AF65-F5344CB8AC3E}">
        <p14:creationId xmlns:p14="http://schemas.microsoft.com/office/powerpoint/2010/main" val="2250117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13</a:t>
            </a:fld>
            <a:endParaRPr lang="en-US" dirty="0"/>
          </a:p>
        </p:txBody>
      </p:sp>
    </p:spTree>
    <p:extLst>
      <p:ext uri="{BB962C8B-B14F-4D97-AF65-F5344CB8AC3E}">
        <p14:creationId xmlns:p14="http://schemas.microsoft.com/office/powerpoint/2010/main" val="1261230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17</a:t>
            </a:fld>
            <a:endParaRPr lang="en-US" dirty="0"/>
          </a:p>
        </p:txBody>
      </p:sp>
    </p:spTree>
    <p:extLst>
      <p:ext uri="{BB962C8B-B14F-4D97-AF65-F5344CB8AC3E}">
        <p14:creationId xmlns:p14="http://schemas.microsoft.com/office/powerpoint/2010/main" val="3993747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18</a:t>
            </a:fld>
            <a:endParaRPr lang="en-US" dirty="0"/>
          </a:p>
        </p:txBody>
      </p:sp>
    </p:spTree>
    <p:extLst>
      <p:ext uri="{BB962C8B-B14F-4D97-AF65-F5344CB8AC3E}">
        <p14:creationId xmlns:p14="http://schemas.microsoft.com/office/powerpoint/2010/main" val="2676350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3B03F-8B41-B69E-57B8-D2979C939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57C02-5B87-E57F-27F2-B1E08D33FCF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009A5D7-060C-3ADC-98F3-D9583FC75D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0C8AA7-D5E1-A55A-5068-ADCCF5323D8B}"/>
              </a:ext>
            </a:extLst>
          </p:cNvPr>
          <p:cNvSpPr>
            <a:spLocks noGrp="1"/>
          </p:cNvSpPr>
          <p:nvPr>
            <p:ph type="sldNum" sz="quarter" idx="5"/>
          </p:nvPr>
        </p:nvSpPr>
        <p:spPr/>
        <p:txBody>
          <a:bodyPr/>
          <a:lstStyle/>
          <a:p>
            <a:fld id="{D7C55475-2820-4CE1-BEEA-519BB468B451}" type="slidenum">
              <a:rPr lang="en-US" smtClean="0"/>
              <a:t>19</a:t>
            </a:fld>
            <a:endParaRPr lang="en-US" dirty="0"/>
          </a:p>
        </p:txBody>
      </p:sp>
    </p:spTree>
    <p:extLst>
      <p:ext uri="{BB962C8B-B14F-4D97-AF65-F5344CB8AC3E}">
        <p14:creationId xmlns:p14="http://schemas.microsoft.com/office/powerpoint/2010/main" val="202661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3B03F-8B41-B69E-57B8-D2979C939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57C02-5B87-E57F-27F2-B1E08D33FCF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009A5D7-060C-3ADC-98F3-D9583FC75D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0C8AA7-D5E1-A55A-5068-ADCCF5323D8B}"/>
              </a:ext>
            </a:extLst>
          </p:cNvPr>
          <p:cNvSpPr>
            <a:spLocks noGrp="1"/>
          </p:cNvSpPr>
          <p:nvPr>
            <p:ph type="sldNum" sz="quarter" idx="5"/>
          </p:nvPr>
        </p:nvSpPr>
        <p:spPr/>
        <p:txBody>
          <a:bodyPr/>
          <a:lstStyle/>
          <a:p>
            <a:fld id="{D7C55475-2820-4CE1-BEEA-519BB468B451}" type="slidenum">
              <a:rPr lang="en-US" smtClean="0"/>
              <a:t>20</a:t>
            </a:fld>
            <a:endParaRPr lang="en-US" dirty="0"/>
          </a:p>
        </p:txBody>
      </p:sp>
    </p:spTree>
    <p:extLst>
      <p:ext uri="{BB962C8B-B14F-4D97-AF65-F5344CB8AC3E}">
        <p14:creationId xmlns:p14="http://schemas.microsoft.com/office/powerpoint/2010/main" val="28850092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22</a:t>
            </a:fld>
            <a:endParaRPr lang="en-US" dirty="0"/>
          </a:p>
        </p:txBody>
      </p:sp>
    </p:spTree>
    <p:extLst>
      <p:ext uri="{BB962C8B-B14F-4D97-AF65-F5344CB8AC3E}">
        <p14:creationId xmlns:p14="http://schemas.microsoft.com/office/powerpoint/2010/main" val="3376452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28</a:t>
            </a:fld>
            <a:endParaRPr lang="en-US" dirty="0"/>
          </a:p>
        </p:txBody>
      </p:sp>
    </p:spTree>
    <p:extLst>
      <p:ext uri="{BB962C8B-B14F-4D97-AF65-F5344CB8AC3E}">
        <p14:creationId xmlns:p14="http://schemas.microsoft.com/office/powerpoint/2010/main" val="2791069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42</a:t>
            </a:fld>
            <a:endParaRPr lang="en-US" dirty="0"/>
          </a:p>
        </p:txBody>
      </p:sp>
    </p:spTree>
    <p:extLst>
      <p:ext uri="{BB962C8B-B14F-4D97-AF65-F5344CB8AC3E}">
        <p14:creationId xmlns:p14="http://schemas.microsoft.com/office/powerpoint/2010/main" val="1193156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43</a:t>
            </a:fld>
            <a:endParaRPr lang="en-US" dirty="0"/>
          </a:p>
        </p:txBody>
      </p:sp>
    </p:spTree>
    <p:extLst>
      <p:ext uri="{BB962C8B-B14F-4D97-AF65-F5344CB8AC3E}">
        <p14:creationId xmlns:p14="http://schemas.microsoft.com/office/powerpoint/2010/main" val="1058062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44</a:t>
            </a:fld>
            <a:endParaRPr lang="en-US" dirty="0"/>
          </a:p>
        </p:txBody>
      </p:sp>
    </p:spTree>
    <p:extLst>
      <p:ext uri="{BB962C8B-B14F-4D97-AF65-F5344CB8AC3E}">
        <p14:creationId xmlns:p14="http://schemas.microsoft.com/office/powerpoint/2010/main" val="3951424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47</a:t>
            </a:fld>
            <a:endParaRPr lang="en-US" dirty="0"/>
          </a:p>
        </p:txBody>
      </p:sp>
    </p:spTree>
    <p:extLst>
      <p:ext uri="{BB962C8B-B14F-4D97-AF65-F5344CB8AC3E}">
        <p14:creationId xmlns:p14="http://schemas.microsoft.com/office/powerpoint/2010/main" val="507158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595B3-F12B-CB23-B6AB-86E0D0EA2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35BE2A-9896-8015-B74E-89D232B7207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664A751-B22C-3034-597E-837972916B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7BFC25-528F-A0CB-ED5E-3474A061032B}"/>
              </a:ext>
            </a:extLst>
          </p:cNvPr>
          <p:cNvSpPr>
            <a:spLocks noGrp="1"/>
          </p:cNvSpPr>
          <p:nvPr>
            <p:ph type="sldNum" sz="quarter" idx="5"/>
          </p:nvPr>
        </p:nvSpPr>
        <p:spPr/>
        <p:txBody>
          <a:bodyPr/>
          <a:lstStyle/>
          <a:p>
            <a:fld id="{D7C55475-2820-4CE1-BEEA-519BB468B451}" type="slidenum">
              <a:rPr lang="en-US" smtClean="0"/>
              <a:t>48</a:t>
            </a:fld>
            <a:endParaRPr lang="en-US" dirty="0"/>
          </a:p>
        </p:txBody>
      </p:sp>
    </p:spTree>
    <p:extLst>
      <p:ext uri="{BB962C8B-B14F-4D97-AF65-F5344CB8AC3E}">
        <p14:creationId xmlns:p14="http://schemas.microsoft.com/office/powerpoint/2010/main" val="487162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49</a:t>
            </a:fld>
            <a:endParaRPr lang="en-US" dirty="0"/>
          </a:p>
        </p:txBody>
      </p:sp>
    </p:spTree>
    <p:extLst>
      <p:ext uri="{BB962C8B-B14F-4D97-AF65-F5344CB8AC3E}">
        <p14:creationId xmlns:p14="http://schemas.microsoft.com/office/powerpoint/2010/main" val="4106182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50</a:t>
            </a:fld>
            <a:endParaRPr lang="en-US" dirty="0"/>
          </a:p>
        </p:txBody>
      </p:sp>
    </p:spTree>
    <p:extLst>
      <p:ext uri="{BB962C8B-B14F-4D97-AF65-F5344CB8AC3E}">
        <p14:creationId xmlns:p14="http://schemas.microsoft.com/office/powerpoint/2010/main" val="1497104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C55475-2820-4CE1-BEEA-519BB468B451}" type="slidenum">
              <a:rPr lang="en-US" smtClean="0"/>
              <a:t>51</a:t>
            </a:fld>
            <a:endParaRPr lang="en-US" dirty="0"/>
          </a:p>
        </p:txBody>
      </p:sp>
    </p:spTree>
    <p:extLst>
      <p:ext uri="{BB962C8B-B14F-4D97-AF65-F5344CB8AC3E}">
        <p14:creationId xmlns:p14="http://schemas.microsoft.com/office/powerpoint/2010/main" val="2205109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E56AF-6E7B-D7D4-4000-176FC32DC3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555E05-7E55-8CE0-CD92-30DAC3143249}"/>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0745ECF-1689-0DA8-5570-FE0218CEDC8E}"/>
              </a:ext>
            </a:extLst>
          </p:cNvPr>
          <p:cNvSpPr>
            <a:spLocks noGrp="1"/>
          </p:cNvSpPr>
          <p:nvPr>
            <p:ph type="dt" sz="half" idx="10"/>
          </p:nvPr>
        </p:nvSpPr>
        <p:spPr/>
        <p:txBody>
          <a:bodyPr/>
          <a:lstStyle>
            <a:lvl1pPr>
              <a:defRPr>
                <a:latin typeface="Arial" panose="020B0604020202020204" pitchFamily="34" charset="0"/>
              </a:defRPr>
            </a:lvl1pPr>
          </a:lstStyle>
          <a:p>
            <a:fld id="{76959583-F55B-4641-A90E-B2E9CD41D316}" type="datetimeFigureOut">
              <a:rPr lang="en-US" smtClean="0"/>
              <a:pPr/>
              <a:t>7/15/2026</a:t>
            </a:fld>
            <a:endParaRPr lang="en-US" dirty="0"/>
          </a:p>
        </p:txBody>
      </p:sp>
      <p:sp>
        <p:nvSpPr>
          <p:cNvPr id="5" name="Footer Placeholder 4">
            <a:extLst>
              <a:ext uri="{FF2B5EF4-FFF2-40B4-BE49-F238E27FC236}">
                <a16:creationId xmlns:a16="http://schemas.microsoft.com/office/drawing/2014/main" id="{612D1E12-F3F0-AE71-7E94-F1EE74C1CDAC}"/>
              </a:ext>
            </a:extLst>
          </p:cNvPr>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E3727555-887A-631B-119C-3F3B093E3A71}"/>
              </a:ext>
            </a:extLst>
          </p:cNvPr>
          <p:cNvSpPr>
            <a:spLocks noGrp="1"/>
          </p:cNvSpPr>
          <p:nvPr>
            <p:ph type="sldNum" sz="quarter" idx="12"/>
          </p:nvPr>
        </p:nvSpPr>
        <p:spPr/>
        <p:txBody>
          <a:bodyPr/>
          <a:lstStyle>
            <a:lvl1pPr>
              <a:defRPr>
                <a:latin typeface="Arial" panose="020B0604020202020204" pitchFamily="34" charset="0"/>
              </a:defRPr>
            </a:lvl1pPr>
          </a:lstStyle>
          <a:p>
            <a:fld id="{E591C3EE-22F7-4579-90BC-EF540D813B90}" type="slidenum">
              <a:rPr lang="en-US" smtClean="0"/>
              <a:pPr/>
              <a:t>‹#›</a:t>
            </a:fld>
            <a:endParaRPr lang="en-US" dirty="0"/>
          </a:p>
        </p:txBody>
      </p:sp>
    </p:spTree>
    <p:extLst>
      <p:ext uri="{BB962C8B-B14F-4D97-AF65-F5344CB8AC3E}">
        <p14:creationId xmlns:p14="http://schemas.microsoft.com/office/powerpoint/2010/main" val="3504183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1C83A-12F2-D9E0-7D83-2E44047B67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74E1CF-97B8-7534-64A1-5D17BCDE1324}"/>
              </a:ext>
            </a:extLst>
          </p:cNvPr>
          <p:cNvSpPr>
            <a:spLocks noGrp="1"/>
          </p:cNvSpPr>
          <p:nvPr>
            <p:ph idx="1"/>
          </p:nvPr>
        </p:nvSpPr>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F2400F7-8308-3F23-9D1E-F820167CBB65}"/>
              </a:ext>
            </a:extLst>
          </p:cNvPr>
          <p:cNvSpPr>
            <a:spLocks noGrp="1"/>
          </p:cNvSpPr>
          <p:nvPr>
            <p:ph type="dt" sz="half" idx="10"/>
          </p:nvPr>
        </p:nvSpPr>
        <p:spPr/>
        <p:txBody>
          <a:bodyPr/>
          <a:lstStyle>
            <a:lvl1pPr>
              <a:defRPr>
                <a:latin typeface="Arial" panose="020B0604020202020204" pitchFamily="34" charset="0"/>
              </a:defRPr>
            </a:lvl1pPr>
          </a:lstStyle>
          <a:p>
            <a:fld id="{76959583-F55B-4641-A90E-B2E9CD41D316}" type="datetimeFigureOut">
              <a:rPr lang="en-US" smtClean="0"/>
              <a:pPr/>
              <a:t>7/15/2026</a:t>
            </a:fld>
            <a:endParaRPr lang="en-US" dirty="0"/>
          </a:p>
        </p:txBody>
      </p:sp>
      <p:sp>
        <p:nvSpPr>
          <p:cNvPr id="5" name="Footer Placeholder 4">
            <a:extLst>
              <a:ext uri="{FF2B5EF4-FFF2-40B4-BE49-F238E27FC236}">
                <a16:creationId xmlns:a16="http://schemas.microsoft.com/office/drawing/2014/main" id="{90F48BBE-C298-9D11-00A7-3987F98A0545}"/>
              </a:ext>
            </a:extLst>
          </p:cNvPr>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793AA363-0CEF-712F-F269-5A6CF8F8F1EC}"/>
              </a:ext>
            </a:extLst>
          </p:cNvPr>
          <p:cNvSpPr>
            <a:spLocks noGrp="1"/>
          </p:cNvSpPr>
          <p:nvPr>
            <p:ph type="sldNum" sz="quarter" idx="12"/>
          </p:nvPr>
        </p:nvSpPr>
        <p:spPr/>
        <p:txBody>
          <a:bodyPr/>
          <a:lstStyle>
            <a:lvl1pPr>
              <a:defRPr>
                <a:latin typeface="Arial" panose="020B0604020202020204" pitchFamily="34" charset="0"/>
              </a:defRPr>
            </a:lvl1pPr>
          </a:lstStyle>
          <a:p>
            <a:fld id="{E591C3EE-22F7-4579-90BC-EF540D813B90}" type="slidenum">
              <a:rPr lang="en-US" smtClean="0"/>
              <a:pPr/>
              <a:t>‹#›</a:t>
            </a:fld>
            <a:endParaRPr lang="en-US" dirty="0"/>
          </a:p>
        </p:txBody>
      </p:sp>
    </p:spTree>
    <p:extLst>
      <p:ext uri="{BB962C8B-B14F-4D97-AF65-F5344CB8AC3E}">
        <p14:creationId xmlns:p14="http://schemas.microsoft.com/office/powerpoint/2010/main" val="592294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1CF88-56D8-96FB-9585-5257EE0F84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5C4BC9-818A-BEFA-9529-352AFD1C95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C75076CE-00F0-102E-7C18-75741665BFE8}"/>
              </a:ext>
            </a:extLst>
          </p:cNvPr>
          <p:cNvSpPr>
            <a:spLocks noGrp="1"/>
          </p:cNvSpPr>
          <p:nvPr>
            <p:ph type="dt" sz="half" idx="10"/>
          </p:nvPr>
        </p:nvSpPr>
        <p:spPr/>
        <p:txBody>
          <a:bodyPr/>
          <a:lstStyle>
            <a:lvl1pPr>
              <a:defRPr>
                <a:latin typeface="Arial" panose="020B0604020202020204" pitchFamily="34" charset="0"/>
              </a:defRPr>
            </a:lvl1pPr>
          </a:lstStyle>
          <a:p>
            <a:fld id="{76959583-F55B-4641-A90E-B2E9CD41D316}" type="datetimeFigureOut">
              <a:rPr lang="en-US" smtClean="0"/>
              <a:pPr/>
              <a:t>7/15/2026</a:t>
            </a:fld>
            <a:endParaRPr lang="en-US" dirty="0"/>
          </a:p>
        </p:txBody>
      </p:sp>
      <p:sp>
        <p:nvSpPr>
          <p:cNvPr id="5" name="Footer Placeholder 4">
            <a:extLst>
              <a:ext uri="{FF2B5EF4-FFF2-40B4-BE49-F238E27FC236}">
                <a16:creationId xmlns:a16="http://schemas.microsoft.com/office/drawing/2014/main" id="{61196D91-844A-0038-6CF0-9498B4C8AD96}"/>
              </a:ext>
            </a:extLst>
          </p:cNvPr>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A49F4BDC-F2F7-F9B0-9328-ADB14F903600}"/>
              </a:ext>
            </a:extLst>
          </p:cNvPr>
          <p:cNvSpPr>
            <a:spLocks noGrp="1"/>
          </p:cNvSpPr>
          <p:nvPr>
            <p:ph type="sldNum" sz="quarter" idx="12"/>
          </p:nvPr>
        </p:nvSpPr>
        <p:spPr/>
        <p:txBody>
          <a:bodyPr/>
          <a:lstStyle>
            <a:lvl1pPr>
              <a:defRPr>
                <a:latin typeface="Arial" panose="020B0604020202020204" pitchFamily="34" charset="0"/>
              </a:defRPr>
            </a:lvl1pPr>
          </a:lstStyle>
          <a:p>
            <a:fld id="{E591C3EE-22F7-4579-90BC-EF540D813B90}" type="slidenum">
              <a:rPr lang="en-US" smtClean="0"/>
              <a:pPr/>
              <a:t>‹#›</a:t>
            </a:fld>
            <a:endParaRPr lang="en-US" dirty="0"/>
          </a:p>
        </p:txBody>
      </p:sp>
    </p:spTree>
    <p:extLst>
      <p:ext uri="{BB962C8B-B14F-4D97-AF65-F5344CB8AC3E}">
        <p14:creationId xmlns:p14="http://schemas.microsoft.com/office/powerpoint/2010/main" val="3278935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97C0B-BBCC-AAE5-4FF5-9F14E1CE71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9D4A95-BEFC-3D5B-17FA-AE65FE6910E1}"/>
              </a:ext>
            </a:extLst>
          </p:cNvPr>
          <p:cNvSpPr>
            <a:spLocks noGrp="1"/>
          </p:cNvSpPr>
          <p:nvPr>
            <p:ph sz="half" idx="1"/>
          </p:nvPr>
        </p:nvSpPr>
        <p:spPr>
          <a:xfrm>
            <a:off x="838200" y="1825625"/>
            <a:ext cx="5181600" cy="4351338"/>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9FB7D5-DF23-4ADF-8FCE-004068045DC5}"/>
              </a:ext>
            </a:extLst>
          </p:cNvPr>
          <p:cNvSpPr>
            <a:spLocks noGrp="1"/>
          </p:cNvSpPr>
          <p:nvPr>
            <p:ph sz="half" idx="2"/>
          </p:nvPr>
        </p:nvSpPr>
        <p:spPr>
          <a:xfrm>
            <a:off x="6172200" y="1825625"/>
            <a:ext cx="5181600" cy="4351338"/>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6FA5180F-C30F-46F0-EB68-69EF1E8A76E4}"/>
              </a:ext>
            </a:extLst>
          </p:cNvPr>
          <p:cNvSpPr>
            <a:spLocks noGrp="1"/>
          </p:cNvSpPr>
          <p:nvPr>
            <p:ph type="dt" sz="half" idx="10"/>
          </p:nvPr>
        </p:nvSpPr>
        <p:spPr/>
        <p:txBody>
          <a:bodyPr/>
          <a:lstStyle>
            <a:lvl1pPr>
              <a:defRPr>
                <a:latin typeface="Arial" panose="020B0604020202020204" pitchFamily="34" charset="0"/>
              </a:defRPr>
            </a:lvl1pPr>
          </a:lstStyle>
          <a:p>
            <a:fld id="{76959583-F55B-4641-A90E-B2E9CD41D316}" type="datetimeFigureOut">
              <a:rPr lang="en-US" smtClean="0"/>
              <a:pPr/>
              <a:t>7/15/2026</a:t>
            </a:fld>
            <a:endParaRPr lang="en-US" dirty="0"/>
          </a:p>
        </p:txBody>
      </p:sp>
      <p:sp>
        <p:nvSpPr>
          <p:cNvPr id="6" name="Footer Placeholder 5">
            <a:extLst>
              <a:ext uri="{FF2B5EF4-FFF2-40B4-BE49-F238E27FC236}">
                <a16:creationId xmlns:a16="http://schemas.microsoft.com/office/drawing/2014/main" id="{BF5699AD-DF7E-EB87-A8BA-2DCFA12DB99C}"/>
              </a:ext>
            </a:extLst>
          </p:cNvPr>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7" name="Slide Number Placeholder 6">
            <a:extLst>
              <a:ext uri="{FF2B5EF4-FFF2-40B4-BE49-F238E27FC236}">
                <a16:creationId xmlns:a16="http://schemas.microsoft.com/office/drawing/2014/main" id="{0AA4DD76-BEC8-7BCD-3A27-0F83709D6365}"/>
              </a:ext>
            </a:extLst>
          </p:cNvPr>
          <p:cNvSpPr>
            <a:spLocks noGrp="1"/>
          </p:cNvSpPr>
          <p:nvPr>
            <p:ph type="sldNum" sz="quarter" idx="12"/>
          </p:nvPr>
        </p:nvSpPr>
        <p:spPr/>
        <p:txBody>
          <a:bodyPr/>
          <a:lstStyle>
            <a:lvl1pPr>
              <a:defRPr>
                <a:latin typeface="Arial" panose="020B0604020202020204" pitchFamily="34" charset="0"/>
              </a:defRPr>
            </a:lvl1pPr>
          </a:lstStyle>
          <a:p>
            <a:fld id="{E591C3EE-22F7-4579-90BC-EF540D813B90}" type="slidenum">
              <a:rPr lang="en-US" smtClean="0"/>
              <a:pPr/>
              <a:t>‹#›</a:t>
            </a:fld>
            <a:endParaRPr lang="en-US" dirty="0"/>
          </a:p>
        </p:txBody>
      </p:sp>
    </p:spTree>
    <p:extLst>
      <p:ext uri="{BB962C8B-B14F-4D97-AF65-F5344CB8AC3E}">
        <p14:creationId xmlns:p14="http://schemas.microsoft.com/office/powerpoint/2010/main" val="265717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818F2-2B46-9976-7E6C-8212728901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F56D68-2E9E-8FA4-D182-BA6EC1028C5C}"/>
              </a:ext>
            </a:extLst>
          </p:cNvPr>
          <p:cNvSpPr>
            <a:spLocks noGrp="1"/>
          </p:cNvSpPr>
          <p:nvPr>
            <p:ph type="body" idx="1"/>
          </p:nvPr>
        </p:nvSpPr>
        <p:spPr>
          <a:xfrm>
            <a:off x="839788" y="1681163"/>
            <a:ext cx="5157787" cy="823912"/>
          </a:xfrm>
        </p:spPr>
        <p:txBody>
          <a:bodyPr anchor="b"/>
          <a:lstStyle>
            <a:lvl1pPr marL="0" indent="0">
              <a:buNone/>
              <a:defRPr sz="2400" b="1">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B129290-FAAC-9573-DCDB-48FFAA18D3AA}"/>
              </a:ext>
            </a:extLst>
          </p:cNvPr>
          <p:cNvSpPr>
            <a:spLocks noGrp="1"/>
          </p:cNvSpPr>
          <p:nvPr>
            <p:ph sz="half" idx="2"/>
          </p:nvPr>
        </p:nvSpPr>
        <p:spPr>
          <a:xfrm>
            <a:off x="839788" y="2505075"/>
            <a:ext cx="5157787" cy="3684588"/>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07C02A4-1EA6-3489-F377-AD53D44A1F6B}"/>
              </a:ext>
            </a:extLst>
          </p:cNvPr>
          <p:cNvSpPr>
            <a:spLocks noGrp="1"/>
          </p:cNvSpPr>
          <p:nvPr>
            <p:ph type="body" sz="quarter" idx="3"/>
          </p:nvPr>
        </p:nvSpPr>
        <p:spPr>
          <a:xfrm>
            <a:off x="6172200" y="1681163"/>
            <a:ext cx="5183188" cy="823912"/>
          </a:xfrm>
        </p:spPr>
        <p:txBody>
          <a:bodyPr anchor="b"/>
          <a:lstStyle>
            <a:lvl1pPr marL="0" indent="0">
              <a:buNone/>
              <a:defRPr sz="2400" b="1">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6568261-D179-8A60-F601-5E8C2EB9C5CD}"/>
              </a:ext>
            </a:extLst>
          </p:cNvPr>
          <p:cNvSpPr>
            <a:spLocks noGrp="1"/>
          </p:cNvSpPr>
          <p:nvPr>
            <p:ph sz="quarter" idx="4"/>
          </p:nvPr>
        </p:nvSpPr>
        <p:spPr>
          <a:xfrm>
            <a:off x="6172200" y="2505075"/>
            <a:ext cx="5183188" cy="3684588"/>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BA176125-7474-D401-AF5E-011D793BB924}"/>
              </a:ext>
            </a:extLst>
          </p:cNvPr>
          <p:cNvSpPr>
            <a:spLocks noGrp="1"/>
          </p:cNvSpPr>
          <p:nvPr>
            <p:ph type="dt" sz="half" idx="10"/>
          </p:nvPr>
        </p:nvSpPr>
        <p:spPr/>
        <p:txBody>
          <a:bodyPr/>
          <a:lstStyle>
            <a:lvl1pPr>
              <a:defRPr>
                <a:latin typeface="Arial" panose="020B0604020202020204" pitchFamily="34" charset="0"/>
              </a:defRPr>
            </a:lvl1pPr>
          </a:lstStyle>
          <a:p>
            <a:fld id="{76959583-F55B-4641-A90E-B2E9CD41D316}" type="datetimeFigureOut">
              <a:rPr lang="en-US" smtClean="0"/>
              <a:pPr/>
              <a:t>7/15/2026</a:t>
            </a:fld>
            <a:endParaRPr lang="en-US" dirty="0"/>
          </a:p>
        </p:txBody>
      </p:sp>
      <p:sp>
        <p:nvSpPr>
          <p:cNvPr id="8" name="Footer Placeholder 7">
            <a:extLst>
              <a:ext uri="{FF2B5EF4-FFF2-40B4-BE49-F238E27FC236}">
                <a16:creationId xmlns:a16="http://schemas.microsoft.com/office/drawing/2014/main" id="{70FFBDAF-52E0-44FB-9243-FAB6D34EF6F1}"/>
              </a:ext>
            </a:extLst>
          </p:cNvPr>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9" name="Slide Number Placeholder 8">
            <a:extLst>
              <a:ext uri="{FF2B5EF4-FFF2-40B4-BE49-F238E27FC236}">
                <a16:creationId xmlns:a16="http://schemas.microsoft.com/office/drawing/2014/main" id="{F22D959E-D60C-6538-DEE4-B0CC6AA2CEC9}"/>
              </a:ext>
            </a:extLst>
          </p:cNvPr>
          <p:cNvSpPr>
            <a:spLocks noGrp="1"/>
          </p:cNvSpPr>
          <p:nvPr>
            <p:ph type="sldNum" sz="quarter" idx="12"/>
          </p:nvPr>
        </p:nvSpPr>
        <p:spPr/>
        <p:txBody>
          <a:bodyPr/>
          <a:lstStyle>
            <a:lvl1pPr>
              <a:defRPr>
                <a:latin typeface="Arial" panose="020B0604020202020204" pitchFamily="34" charset="0"/>
              </a:defRPr>
            </a:lvl1pPr>
          </a:lstStyle>
          <a:p>
            <a:fld id="{E591C3EE-22F7-4579-90BC-EF540D813B90}" type="slidenum">
              <a:rPr lang="en-US" smtClean="0"/>
              <a:pPr/>
              <a:t>‹#›</a:t>
            </a:fld>
            <a:endParaRPr lang="en-US" dirty="0"/>
          </a:p>
        </p:txBody>
      </p:sp>
    </p:spTree>
    <p:extLst>
      <p:ext uri="{BB962C8B-B14F-4D97-AF65-F5344CB8AC3E}">
        <p14:creationId xmlns:p14="http://schemas.microsoft.com/office/powerpoint/2010/main" val="3208645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0BFFA-9428-782A-2E62-77D3817C1F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6F82AF-B743-CDDC-7CC5-7B10B7678014}"/>
              </a:ext>
            </a:extLst>
          </p:cNvPr>
          <p:cNvSpPr>
            <a:spLocks noGrp="1"/>
          </p:cNvSpPr>
          <p:nvPr>
            <p:ph type="dt" sz="half" idx="10"/>
          </p:nvPr>
        </p:nvSpPr>
        <p:spPr/>
        <p:txBody>
          <a:bodyPr/>
          <a:lstStyle>
            <a:lvl1pPr>
              <a:defRPr>
                <a:latin typeface="Arial" panose="020B0604020202020204" pitchFamily="34" charset="0"/>
              </a:defRPr>
            </a:lvl1pPr>
          </a:lstStyle>
          <a:p>
            <a:fld id="{76959583-F55B-4641-A90E-B2E9CD41D316}" type="datetimeFigureOut">
              <a:rPr lang="en-US" smtClean="0"/>
              <a:pPr/>
              <a:t>7/15/2026</a:t>
            </a:fld>
            <a:endParaRPr lang="en-US" dirty="0"/>
          </a:p>
        </p:txBody>
      </p:sp>
      <p:sp>
        <p:nvSpPr>
          <p:cNvPr id="4" name="Footer Placeholder 3">
            <a:extLst>
              <a:ext uri="{FF2B5EF4-FFF2-40B4-BE49-F238E27FC236}">
                <a16:creationId xmlns:a16="http://schemas.microsoft.com/office/drawing/2014/main" id="{A1FA9047-2B26-4CDF-590D-C539C4191098}"/>
              </a:ext>
            </a:extLst>
          </p:cNvPr>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5" name="Slide Number Placeholder 4">
            <a:extLst>
              <a:ext uri="{FF2B5EF4-FFF2-40B4-BE49-F238E27FC236}">
                <a16:creationId xmlns:a16="http://schemas.microsoft.com/office/drawing/2014/main" id="{8F29E9A9-D87E-91A4-531B-ABD0DBF45830}"/>
              </a:ext>
            </a:extLst>
          </p:cNvPr>
          <p:cNvSpPr>
            <a:spLocks noGrp="1"/>
          </p:cNvSpPr>
          <p:nvPr>
            <p:ph type="sldNum" sz="quarter" idx="12"/>
          </p:nvPr>
        </p:nvSpPr>
        <p:spPr/>
        <p:txBody>
          <a:bodyPr/>
          <a:lstStyle>
            <a:lvl1pPr>
              <a:defRPr>
                <a:latin typeface="Arial" panose="020B0604020202020204" pitchFamily="34" charset="0"/>
              </a:defRPr>
            </a:lvl1pPr>
          </a:lstStyle>
          <a:p>
            <a:fld id="{E591C3EE-22F7-4579-90BC-EF540D813B90}" type="slidenum">
              <a:rPr lang="en-US" smtClean="0"/>
              <a:pPr/>
              <a:t>‹#›</a:t>
            </a:fld>
            <a:endParaRPr lang="en-US" dirty="0"/>
          </a:p>
        </p:txBody>
      </p:sp>
    </p:spTree>
    <p:extLst>
      <p:ext uri="{BB962C8B-B14F-4D97-AF65-F5344CB8AC3E}">
        <p14:creationId xmlns:p14="http://schemas.microsoft.com/office/powerpoint/2010/main" val="268481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806DBE-E865-541D-DEAA-A68ED0D9CE28}"/>
              </a:ext>
            </a:extLst>
          </p:cNvPr>
          <p:cNvSpPr>
            <a:spLocks noGrp="1"/>
          </p:cNvSpPr>
          <p:nvPr>
            <p:ph type="dt" sz="half" idx="10"/>
          </p:nvPr>
        </p:nvSpPr>
        <p:spPr/>
        <p:txBody>
          <a:bodyPr/>
          <a:lstStyle>
            <a:lvl1pPr>
              <a:defRPr>
                <a:latin typeface="Arial" panose="020B0604020202020204" pitchFamily="34" charset="0"/>
              </a:defRPr>
            </a:lvl1pPr>
          </a:lstStyle>
          <a:p>
            <a:fld id="{76959583-F55B-4641-A90E-B2E9CD41D316}" type="datetimeFigureOut">
              <a:rPr lang="en-US" smtClean="0"/>
              <a:pPr/>
              <a:t>7/15/2026</a:t>
            </a:fld>
            <a:endParaRPr lang="en-US" dirty="0"/>
          </a:p>
        </p:txBody>
      </p:sp>
      <p:sp>
        <p:nvSpPr>
          <p:cNvPr id="3" name="Footer Placeholder 2">
            <a:extLst>
              <a:ext uri="{FF2B5EF4-FFF2-40B4-BE49-F238E27FC236}">
                <a16:creationId xmlns:a16="http://schemas.microsoft.com/office/drawing/2014/main" id="{E04CED5F-2BCA-D734-E6C3-EA01A0359BCD}"/>
              </a:ext>
            </a:extLst>
          </p:cNvPr>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4" name="Slide Number Placeholder 3">
            <a:extLst>
              <a:ext uri="{FF2B5EF4-FFF2-40B4-BE49-F238E27FC236}">
                <a16:creationId xmlns:a16="http://schemas.microsoft.com/office/drawing/2014/main" id="{077B2588-BBF8-E9C9-EDEC-CF9A4B302FA3}"/>
              </a:ext>
            </a:extLst>
          </p:cNvPr>
          <p:cNvSpPr>
            <a:spLocks noGrp="1"/>
          </p:cNvSpPr>
          <p:nvPr>
            <p:ph type="sldNum" sz="quarter" idx="12"/>
          </p:nvPr>
        </p:nvSpPr>
        <p:spPr/>
        <p:txBody>
          <a:bodyPr/>
          <a:lstStyle>
            <a:lvl1pPr>
              <a:defRPr>
                <a:latin typeface="Arial" panose="020B0604020202020204" pitchFamily="34" charset="0"/>
              </a:defRPr>
            </a:lvl1pPr>
          </a:lstStyle>
          <a:p>
            <a:fld id="{E591C3EE-22F7-4579-90BC-EF540D813B90}" type="slidenum">
              <a:rPr lang="en-US" smtClean="0"/>
              <a:pPr/>
              <a:t>‹#›</a:t>
            </a:fld>
            <a:endParaRPr lang="en-US" dirty="0"/>
          </a:p>
        </p:txBody>
      </p:sp>
    </p:spTree>
    <p:extLst>
      <p:ext uri="{BB962C8B-B14F-4D97-AF65-F5344CB8AC3E}">
        <p14:creationId xmlns:p14="http://schemas.microsoft.com/office/powerpoint/2010/main" val="4185703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B205A-E8D3-F86B-7E8C-4F4A71BFB8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845C4A-033E-66A9-233F-88E909273A4E}"/>
              </a:ext>
            </a:extLst>
          </p:cNvPr>
          <p:cNvSpPr>
            <a:spLocks noGrp="1"/>
          </p:cNvSpPr>
          <p:nvPr>
            <p:ph idx="1"/>
          </p:nvPr>
        </p:nvSpPr>
        <p:spPr>
          <a:xfrm>
            <a:off x="5183188" y="987425"/>
            <a:ext cx="6172200" cy="4873625"/>
          </a:xfrm>
        </p:spPr>
        <p:txBody>
          <a:bodyPr/>
          <a:lstStyle>
            <a:lvl1pPr>
              <a:defRPr sz="3200">
                <a:latin typeface="Arial" panose="020B0604020202020204" pitchFamily="34" charset="0"/>
              </a:defRPr>
            </a:lvl1pPr>
            <a:lvl2pPr>
              <a:defRPr sz="2800">
                <a:latin typeface="Arial" panose="020B0604020202020204" pitchFamily="34" charset="0"/>
              </a:defRPr>
            </a:lvl2pPr>
            <a:lvl3pPr>
              <a:defRPr sz="2400">
                <a:latin typeface="Arial" panose="020B0604020202020204" pitchFamily="34" charset="0"/>
              </a:defRPr>
            </a:lvl3pPr>
            <a:lvl4pPr>
              <a:defRPr sz="2000">
                <a:latin typeface="Arial" panose="020B0604020202020204" pitchFamily="34" charset="0"/>
              </a:defRPr>
            </a:lvl4pPr>
            <a:lvl5pPr>
              <a:defRPr sz="2000">
                <a:latin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A582623-16C8-F7B0-7A3F-A0E567ECFE58}"/>
              </a:ext>
            </a:extLst>
          </p:cNvPr>
          <p:cNvSpPr>
            <a:spLocks noGrp="1"/>
          </p:cNvSpPr>
          <p:nvPr>
            <p:ph type="body" sz="half" idx="2"/>
          </p:nvPr>
        </p:nvSpPr>
        <p:spPr>
          <a:xfrm>
            <a:off x="839788" y="2057400"/>
            <a:ext cx="3932237" cy="3811588"/>
          </a:xfrm>
        </p:spPr>
        <p:txBody>
          <a:bodyPr/>
          <a:lstStyle>
            <a:lvl1pPr marL="0" indent="0">
              <a:buNone/>
              <a:defRPr sz="1600">
                <a:latin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2063E0D-26E7-7039-8CD8-CB55B16723B4}"/>
              </a:ext>
            </a:extLst>
          </p:cNvPr>
          <p:cNvSpPr>
            <a:spLocks noGrp="1"/>
          </p:cNvSpPr>
          <p:nvPr>
            <p:ph type="dt" sz="half" idx="10"/>
          </p:nvPr>
        </p:nvSpPr>
        <p:spPr/>
        <p:txBody>
          <a:bodyPr/>
          <a:lstStyle>
            <a:lvl1pPr>
              <a:defRPr>
                <a:latin typeface="Arial" panose="020B0604020202020204" pitchFamily="34" charset="0"/>
              </a:defRPr>
            </a:lvl1pPr>
          </a:lstStyle>
          <a:p>
            <a:fld id="{76959583-F55B-4641-A90E-B2E9CD41D316}" type="datetimeFigureOut">
              <a:rPr lang="en-US" smtClean="0"/>
              <a:pPr/>
              <a:t>7/15/2026</a:t>
            </a:fld>
            <a:endParaRPr lang="en-US" dirty="0"/>
          </a:p>
        </p:txBody>
      </p:sp>
      <p:sp>
        <p:nvSpPr>
          <p:cNvPr id="6" name="Footer Placeholder 5">
            <a:extLst>
              <a:ext uri="{FF2B5EF4-FFF2-40B4-BE49-F238E27FC236}">
                <a16:creationId xmlns:a16="http://schemas.microsoft.com/office/drawing/2014/main" id="{D4DAE8D5-3F59-8BCD-FE77-0C1889723C37}"/>
              </a:ext>
            </a:extLst>
          </p:cNvPr>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7" name="Slide Number Placeholder 6">
            <a:extLst>
              <a:ext uri="{FF2B5EF4-FFF2-40B4-BE49-F238E27FC236}">
                <a16:creationId xmlns:a16="http://schemas.microsoft.com/office/drawing/2014/main" id="{3E87B785-4D64-DC7B-15BB-EE6146E12A79}"/>
              </a:ext>
            </a:extLst>
          </p:cNvPr>
          <p:cNvSpPr>
            <a:spLocks noGrp="1"/>
          </p:cNvSpPr>
          <p:nvPr>
            <p:ph type="sldNum" sz="quarter" idx="12"/>
          </p:nvPr>
        </p:nvSpPr>
        <p:spPr/>
        <p:txBody>
          <a:bodyPr/>
          <a:lstStyle>
            <a:lvl1pPr>
              <a:defRPr>
                <a:latin typeface="Arial" panose="020B0604020202020204" pitchFamily="34" charset="0"/>
              </a:defRPr>
            </a:lvl1pPr>
          </a:lstStyle>
          <a:p>
            <a:fld id="{E591C3EE-22F7-4579-90BC-EF540D813B90}" type="slidenum">
              <a:rPr lang="en-US" smtClean="0"/>
              <a:pPr/>
              <a:t>‹#›</a:t>
            </a:fld>
            <a:endParaRPr lang="en-US" dirty="0"/>
          </a:p>
        </p:txBody>
      </p:sp>
    </p:spTree>
    <p:extLst>
      <p:ext uri="{BB962C8B-B14F-4D97-AF65-F5344CB8AC3E}">
        <p14:creationId xmlns:p14="http://schemas.microsoft.com/office/powerpoint/2010/main" val="3851118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4C940-98DD-AB11-46FB-5457E3477F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342424-66B1-AE5B-63B1-8C10BD7A17D9}"/>
              </a:ext>
            </a:extLst>
          </p:cNvPr>
          <p:cNvSpPr>
            <a:spLocks noGrp="1"/>
          </p:cNvSpPr>
          <p:nvPr>
            <p:ph type="pic" idx="1"/>
          </p:nvPr>
        </p:nvSpPr>
        <p:spPr>
          <a:xfrm>
            <a:off x="5183188" y="987425"/>
            <a:ext cx="6172200" cy="4873625"/>
          </a:xfrm>
        </p:spPr>
        <p:txBody>
          <a:bodyPr/>
          <a:lstStyle>
            <a:lvl1pPr marL="0" indent="0">
              <a:buNone/>
              <a:defRPr sz="3200">
                <a:latin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C5DB862-CC2C-0FCD-A80E-377190EBC928}"/>
              </a:ext>
            </a:extLst>
          </p:cNvPr>
          <p:cNvSpPr>
            <a:spLocks noGrp="1"/>
          </p:cNvSpPr>
          <p:nvPr>
            <p:ph type="body" sz="half" idx="2"/>
          </p:nvPr>
        </p:nvSpPr>
        <p:spPr>
          <a:xfrm>
            <a:off x="839788" y="2057400"/>
            <a:ext cx="3932237" cy="3811588"/>
          </a:xfrm>
        </p:spPr>
        <p:txBody>
          <a:bodyPr/>
          <a:lstStyle>
            <a:lvl1pPr marL="0" indent="0">
              <a:buNone/>
              <a:defRPr sz="1600">
                <a:latin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A5843DE-11CF-CC7F-3A11-51FFB15EDAA2}"/>
              </a:ext>
            </a:extLst>
          </p:cNvPr>
          <p:cNvSpPr>
            <a:spLocks noGrp="1"/>
          </p:cNvSpPr>
          <p:nvPr>
            <p:ph type="dt" sz="half" idx="10"/>
          </p:nvPr>
        </p:nvSpPr>
        <p:spPr/>
        <p:txBody>
          <a:bodyPr/>
          <a:lstStyle>
            <a:lvl1pPr>
              <a:defRPr>
                <a:latin typeface="Arial" panose="020B0604020202020204" pitchFamily="34" charset="0"/>
              </a:defRPr>
            </a:lvl1pPr>
          </a:lstStyle>
          <a:p>
            <a:fld id="{76959583-F55B-4641-A90E-B2E9CD41D316}" type="datetimeFigureOut">
              <a:rPr lang="en-US" smtClean="0"/>
              <a:pPr/>
              <a:t>7/15/2026</a:t>
            </a:fld>
            <a:endParaRPr lang="en-US" dirty="0"/>
          </a:p>
        </p:txBody>
      </p:sp>
      <p:sp>
        <p:nvSpPr>
          <p:cNvPr id="6" name="Footer Placeholder 5">
            <a:extLst>
              <a:ext uri="{FF2B5EF4-FFF2-40B4-BE49-F238E27FC236}">
                <a16:creationId xmlns:a16="http://schemas.microsoft.com/office/drawing/2014/main" id="{1CFF818B-3F50-D34F-EDEA-94900F6FD4E6}"/>
              </a:ext>
            </a:extLst>
          </p:cNvPr>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7" name="Slide Number Placeholder 6">
            <a:extLst>
              <a:ext uri="{FF2B5EF4-FFF2-40B4-BE49-F238E27FC236}">
                <a16:creationId xmlns:a16="http://schemas.microsoft.com/office/drawing/2014/main" id="{C420B5CC-892E-8D5C-C3D1-11B419764F28}"/>
              </a:ext>
            </a:extLst>
          </p:cNvPr>
          <p:cNvSpPr>
            <a:spLocks noGrp="1"/>
          </p:cNvSpPr>
          <p:nvPr>
            <p:ph type="sldNum" sz="quarter" idx="12"/>
          </p:nvPr>
        </p:nvSpPr>
        <p:spPr/>
        <p:txBody>
          <a:bodyPr/>
          <a:lstStyle>
            <a:lvl1pPr>
              <a:defRPr>
                <a:latin typeface="Arial" panose="020B0604020202020204" pitchFamily="34" charset="0"/>
              </a:defRPr>
            </a:lvl1pPr>
          </a:lstStyle>
          <a:p>
            <a:fld id="{E591C3EE-22F7-4579-90BC-EF540D813B90}" type="slidenum">
              <a:rPr lang="en-US" smtClean="0"/>
              <a:pPr/>
              <a:t>‹#›</a:t>
            </a:fld>
            <a:endParaRPr lang="en-US" dirty="0"/>
          </a:p>
        </p:txBody>
      </p:sp>
    </p:spTree>
    <p:extLst>
      <p:ext uri="{BB962C8B-B14F-4D97-AF65-F5344CB8AC3E}">
        <p14:creationId xmlns:p14="http://schemas.microsoft.com/office/powerpoint/2010/main" val="2067715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F7696-F8EE-F850-1331-44AAEF3C729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14D772-955F-4EEC-A6C9-E364B33B8E4C}"/>
              </a:ext>
            </a:extLst>
          </p:cNvPr>
          <p:cNvSpPr>
            <a:spLocks noGrp="1"/>
          </p:cNvSpPr>
          <p:nvPr>
            <p:ph type="body" orient="vert" idx="1"/>
          </p:nvPr>
        </p:nvSpPr>
        <p:spPr/>
        <p:txBody>
          <a:bodyPr vert="eaVert"/>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4B62AB6-AD28-3F2B-F41C-21CE3A7DC1E2}"/>
              </a:ext>
            </a:extLst>
          </p:cNvPr>
          <p:cNvSpPr>
            <a:spLocks noGrp="1"/>
          </p:cNvSpPr>
          <p:nvPr>
            <p:ph type="dt" sz="half" idx="10"/>
          </p:nvPr>
        </p:nvSpPr>
        <p:spPr/>
        <p:txBody>
          <a:bodyPr/>
          <a:lstStyle>
            <a:lvl1pPr>
              <a:defRPr>
                <a:latin typeface="Arial" panose="020B0604020202020204" pitchFamily="34" charset="0"/>
              </a:defRPr>
            </a:lvl1pPr>
          </a:lstStyle>
          <a:p>
            <a:fld id="{76959583-F55B-4641-A90E-B2E9CD41D316}" type="datetimeFigureOut">
              <a:rPr lang="en-US" smtClean="0"/>
              <a:pPr/>
              <a:t>7/15/2026</a:t>
            </a:fld>
            <a:endParaRPr lang="en-US" dirty="0"/>
          </a:p>
        </p:txBody>
      </p:sp>
      <p:sp>
        <p:nvSpPr>
          <p:cNvPr id="5" name="Footer Placeholder 4">
            <a:extLst>
              <a:ext uri="{FF2B5EF4-FFF2-40B4-BE49-F238E27FC236}">
                <a16:creationId xmlns:a16="http://schemas.microsoft.com/office/drawing/2014/main" id="{9E51367A-5164-6F27-25F1-5E19FB86F7F9}"/>
              </a:ext>
            </a:extLst>
          </p:cNvPr>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393395C3-16F1-9399-38C1-97BDA240E3A3}"/>
              </a:ext>
            </a:extLst>
          </p:cNvPr>
          <p:cNvSpPr>
            <a:spLocks noGrp="1"/>
          </p:cNvSpPr>
          <p:nvPr>
            <p:ph type="sldNum" sz="quarter" idx="12"/>
          </p:nvPr>
        </p:nvSpPr>
        <p:spPr/>
        <p:txBody>
          <a:bodyPr/>
          <a:lstStyle>
            <a:lvl1pPr>
              <a:defRPr>
                <a:latin typeface="Arial" panose="020B0604020202020204" pitchFamily="34" charset="0"/>
              </a:defRPr>
            </a:lvl1pPr>
          </a:lstStyle>
          <a:p>
            <a:fld id="{E591C3EE-22F7-4579-90BC-EF540D813B90}" type="slidenum">
              <a:rPr lang="en-US" smtClean="0"/>
              <a:pPr/>
              <a:t>‹#›</a:t>
            </a:fld>
            <a:endParaRPr lang="en-US" dirty="0"/>
          </a:p>
        </p:txBody>
      </p:sp>
    </p:spTree>
    <p:extLst>
      <p:ext uri="{BB962C8B-B14F-4D97-AF65-F5344CB8AC3E}">
        <p14:creationId xmlns:p14="http://schemas.microsoft.com/office/powerpoint/2010/main" val="2305134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4E45C1-F838-1E4E-A763-B13A28CD84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74CE6A-31EE-3E16-5F87-F4C4BE743D28}"/>
              </a:ext>
            </a:extLst>
          </p:cNvPr>
          <p:cNvSpPr>
            <a:spLocks noGrp="1"/>
          </p:cNvSpPr>
          <p:nvPr>
            <p:ph type="body" orient="vert" idx="1"/>
          </p:nvPr>
        </p:nvSpPr>
        <p:spPr>
          <a:xfrm>
            <a:off x="838200" y="365125"/>
            <a:ext cx="7734300" cy="5811838"/>
          </a:xfrm>
        </p:spPr>
        <p:txBody>
          <a:bodyPr vert="eaVert"/>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4E8A405-3A95-CB2E-638E-CF2AB989C4F0}"/>
              </a:ext>
            </a:extLst>
          </p:cNvPr>
          <p:cNvSpPr>
            <a:spLocks noGrp="1"/>
          </p:cNvSpPr>
          <p:nvPr>
            <p:ph type="dt" sz="half" idx="10"/>
          </p:nvPr>
        </p:nvSpPr>
        <p:spPr/>
        <p:txBody>
          <a:bodyPr/>
          <a:lstStyle>
            <a:lvl1pPr>
              <a:defRPr>
                <a:latin typeface="Arial" panose="020B0604020202020204" pitchFamily="34" charset="0"/>
              </a:defRPr>
            </a:lvl1pPr>
          </a:lstStyle>
          <a:p>
            <a:fld id="{76959583-F55B-4641-A90E-B2E9CD41D316}" type="datetimeFigureOut">
              <a:rPr lang="en-US" smtClean="0"/>
              <a:pPr/>
              <a:t>7/15/2026</a:t>
            </a:fld>
            <a:endParaRPr lang="en-US" dirty="0"/>
          </a:p>
        </p:txBody>
      </p:sp>
      <p:sp>
        <p:nvSpPr>
          <p:cNvPr id="5" name="Footer Placeholder 4">
            <a:extLst>
              <a:ext uri="{FF2B5EF4-FFF2-40B4-BE49-F238E27FC236}">
                <a16:creationId xmlns:a16="http://schemas.microsoft.com/office/drawing/2014/main" id="{2F2387C3-653B-F2F7-A295-0C9E18F50295}"/>
              </a:ext>
            </a:extLst>
          </p:cNvPr>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00A665C-9892-9C85-B5AD-F8103510889A}"/>
              </a:ext>
            </a:extLst>
          </p:cNvPr>
          <p:cNvSpPr>
            <a:spLocks noGrp="1"/>
          </p:cNvSpPr>
          <p:nvPr>
            <p:ph type="sldNum" sz="quarter" idx="12"/>
          </p:nvPr>
        </p:nvSpPr>
        <p:spPr/>
        <p:txBody>
          <a:bodyPr/>
          <a:lstStyle>
            <a:lvl1pPr>
              <a:defRPr>
                <a:latin typeface="Arial" panose="020B0604020202020204" pitchFamily="34" charset="0"/>
              </a:defRPr>
            </a:lvl1pPr>
          </a:lstStyle>
          <a:p>
            <a:fld id="{E591C3EE-22F7-4579-90BC-EF540D813B90}" type="slidenum">
              <a:rPr lang="en-US" smtClean="0"/>
              <a:pPr/>
              <a:t>‹#›</a:t>
            </a:fld>
            <a:endParaRPr lang="en-US" dirty="0"/>
          </a:p>
        </p:txBody>
      </p:sp>
    </p:spTree>
    <p:extLst>
      <p:ext uri="{BB962C8B-B14F-4D97-AF65-F5344CB8AC3E}">
        <p14:creationId xmlns:p14="http://schemas.microsoft.com/office/powerpoint/2010/main" val="35376248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 name="Slide Number">
            <a:extLst>
              <a:ext uri="{FF2B5EF4-FFF2-40B4-BE49-F238E27FC236}">
                <a16:creationId xmlns:a16="http://schemas.microsoft.com/office/drawing/2014/main" id="{D04F4719-6C13-A7C7-FB00-8B0C770F1732}"/>
              </a:ext>
            </a:extLst>
          </p:cNvPr>
          <p:cNvSpPr txBox="1">
            <a:spLocks noGrp="1"/>
          </p:cNvSpPr>
          <p:nvPr>
            <p:ph type="sldNum" sz="quarter" idx="10"/>
          </p:nvPr>
        </p:nvSpPr>
        <p:spPr>
          <a:ln/>
        </p:spPr>
        <p:txBody>
          <a:bodyPr/>
          <a:lstStyle>
            <a:lvl1pPr>
              <a:defRPr>
                <a:latin typeface="Arial" panose="020B0604020202020204" pitchFamily="34" charset="0"/>
              </a:defRPr>
            </a:lvl1pPr>
          </a:lstStyle>
          <a:p>
            <a:fld id="{2BAE4410-3C25-4119-ADEF-1F09EC5B8B34}" type="slidenum">
              <a:rPr lang="en-US" altLang="en-US" smtClean="0"/>
              <a:pPr/>
              <a:t>‹#›</a:t>
            </a:fld>
            <a:endParaRPr lang="en-US" altLang="en-US" dirty="0"/>
          </a:p>
        </p:txBody>
      </p:sp>
    </p:spTree>
    <p:extLst>
      <p:ext uri="{BB962C8B-B14F-4D97-AF65-F5344CB8AC3E}">
        <p14:creationId xmlns:p14="http://schemas.microsoft.com/office/powerpoint/2010/main" val="380319530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2" name="Title Text"/>
          <p:cNvSpPr txBox="1">
            <a:spLocks noGrp="1"/>
          </p:cNvSpPr>
          <p:nvPr>
            <p:ph type="title"/>
          </p:nvPr>
        </p:nvSpPr>
        <p:spPr>
          <a:xfrm>
            <a:off x="914400" y="2130425"/>
            <a:ext cx="10363200" cy="1470026"/>
          </a:xfrm>
          <a:prstGeom prst="rect">
            <a:avLst/>
          </a:prstGeom>
        </p:spPr>
        <p:txBody>
          <a:bodyPr/>
          <a:lstStyle>
            <a:lvl1pPr>
              <a:defRPr>
                <a:latin typeface="Arial" panose="020B0604020202020204" pitchFamily="34" charset="0"/>
                <a:cs typeface="Arial" panose="020B0604020202020204" pitchFamily="34" charset="0"/>
              </a:defRPr>
            </a:lvl1pPr>
          </a:lstStyle>
          <a:p>
            <a:r>
              <a:rPr dirty="0"/>
              <a:t>Title Text</a:t>
            </a:r>
          </a:p>
        </p:txBody>
      </p:sp>
      <p:sp>
        <p:nvSpPr>
          <p:cNvPr id="13" name="Body Level One…"/>
          <p:cNvSpPr txBox="1">
            <a:spLocks noGrp="1"/>
          </p:cNvSpPr>
          <p:nvPr>
            <p:ph type="body" sz="quarter" idx="1"/>
          </p:nvPr>
        </p:nvSpPr>
        <p:spPr>
          <a:xfrm>
            <a:off x="1828800" y="3886200"/>
            <a:ext cx="8534400" cy="1752600"/>
          </a:xfrm>
          <a:prstGeom prst="rect">
            <a:avLst/>
          </a:prstGeom>
        </p:spPr>
        <p:txBody>
          <a:bodyPr/>
          <a:lstStyle>
            <a:lvl1pPr marL="0" indent="0" algn="ctr">
              <a:buSzTx/>
              <a:buFontTx/>
              <a:buNone/>
              <a:defRPr>
                <a:solidFill>
                  <a:srgbClr val="888888"/>
                </a:solidFill>
                <a:latin typeface="Arial" panose="020B0604020202020204" pitchFamily="34" charset="0"/>
                <a:cs typeface="Arial" panose="020B0604020202020204" pitchFamily="34" charset="0"/>
              </a:defRPr>
            </a:lvl1pPr>
            <a:lvl2pPr marL="0" indent="562722" algn="ctr">
              <a:buSzTx/>
              <a:buFontTx/>
              <a:buNone/>
              <a:defRPr>
                <a:solidFill>
                  <a:srgbClr val="888888"/>
                </a:solidFill>
                <a:latin typeface="Arial" panose="020B0604020202020204" pitchFamily="34" charset="0"/>
                <a:cs typeface="Arial" panose="020B0604020202020204" pitchFamily="34" charset="0"/>
              </a:defRPr>
            </a:lvl2pPr>
            <a:lvl3pPr marL="0" indent="1125444" algn="ctr">
              <a:buSzTx/>
              <a:buFontTx/>
              <a:buNone/>
              <a:defRPr>
                <a:solidFill>
                  <a:srgbClr val="888888"/>
                </a:solidFill>
                <a:latin typeface="Arial" panose="020B0604020202020204" pitchFamily="34" charset="0"/>
                <a:cs typeface="Arial" panose="020B0604020202020204" pitchFamily="34" charset="0"/>
              </a:defRPr>
            </a:lvl3pPr>
            <a:lvl4pPr marL="0" indent="1688165" algn="ctr">
              <a:buSzTx/>
              <a:buFontTx/>
              <a:buNone/>
              <a:defRPr>
                <a:solidFill>
                  <a:srgbClr val="888888"/>
                </a:solidFill>
                <a:latin typeface="Arial" panose="020B0604020202020204" pitchFamily="34" charset="0"/>
                <a:cs typeface="Arial" panose="020B0604020202020204" pitchFamily="34" charset="0"/>
              </a:defRPr>
            </a:lvl4pPr>
            <a:lvl5pPr marL="0" indent="2250887" algn="ctr">
              <a:buSzTx/>
              <a:buFontTx/>
              <a:buNone/>
              <a:defRPr>
                <a:solidFill>
                  <a:srgbClr val="888888"/>
                </a:solidFill>
                <a:latin typeface="Arial" panose="020B0604020202020204" pitchFamily="34" charset="0"/>
                <a:cs typeface="Arial" panose="020B0604020202020204" pitchFamily="34" charset="0"/>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4" name="Slide Number"/>
          <p:cNvSpPr txBox="1">
            <a:spLocks noGrp="1"/>
          </p:cNvSpPr>
          <p:nvPr>
            <p:ph type="sldNum" sz="quarter" idx="2"/>
          </p:nvPr>
        </p:nvSpPr>
        <p:spPr>
          <a:prstGeom prst="rect">
            <a:avLst/>
          </a:prstGeom>
        </p:spPr>
        <p:txBody>
          <a:bodyPr/>
          <a:lstStyle>
            <a:lvl1pPr>
              <a:defRPr>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95382735"/>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lvl1pPr>
              <a:defRPr>
                <a:latin typeface="Arial" panose="020B0604020202020204" pitchFamily="34" charset="0"/>
                <a:cs typeface="Arial" panose="020B0604020202020204" pitchFamily="34" charset="0"/>
              </a:defRPr>
            </a:lvl1pPr>
          </a:lstStyle>
          <a:p>
            <a:r>
              <a:rPr dirty="0"/>
              <a:t>Title Text</a:t>
            </a:r>
          </a:p>
        </p:txBody>
      </p:sp>
      <p:sp>
        <p:nvSpPr>
          <p:cNvPr id="49" name="Body Level One…"/>
          <p:cNvSpPr txBox="1">
            <a:spLocks noGrp="1"/>
          </p:cNvSpPr>
          <p:nvPr>
            <p:ph type="body" sz="quarter" idx="1"/>
          </p:nvPr>
        </p:nvSpPr>
        <p:spPr>
          <a:xfrm>
            <a:off x="609601" y="1535112"/>
            <a:ext cx="5386918" cy="639763"/>
          </a:xfrm>
          <a:prstGeom prst="rect">
            <a:avLst/>
          </a:prstGeom>
        </p:spPr>
        <p:txBody>
          <a:bodyPr anchor="b"/>
          <a:lstStyle>
            <a:lvl1pPr marL="0" indent="0">
              <a:spcBef>
                <a:spcPts val="615"/>
              </a:spcBef>
              <a:buSzTx/>
              <a:buFontTx/>
              <a:buNone/>
              <a:defRPr sz="2954" b="1">
                <a:latin typeface="Arial" panose="020B0604020202020204" pitchFamily="34" charset="0"/>
                <a:cs typeface="Arial" panose="020B0604020202020204" pitchFamily="34" charset="0"/>
              </a:defRPr>
            </a:lvl1pPr>
            <a:lvl2pPr marL="0" indent="562722">
              <a:spcBef>
                <a:spcPts val="615"/>
              </a:spcBef>
              <a:buSzTx/>
              <a:buFontTx/>
              <a:buNone/>
              <a:defRPr sz="2954" b="1">
                <a:latin typeface="Arial" panose="020B0604020202020204" pitchFamily="34" charset="0"/>
                <a:cs typeface="Arial" panose="020B0604020202020204" pitchFamily="34" charset="0"/>
              </a:defRPr>
            </a:lvl2pPr>
            <a:lvl3pPr marL="0" indent="1125444">
              <a:spcBef>
                <a:spcPts val="615"/>
              </a:spcBef>
              <a:buSzTx/>
              <a:buFontTx/>
              <a:buNone/>
              <a:defRPr sz="2954" b="1">
                <a:latin typeface="Arial" panose="020B0604020202020204" pitchFamily="34" charset="0"/>
                <a:cs typeface="Arial" panose="020B0604020202020204" pitchFamily="34" charset="0"/>
              </a:defRPr>
            </a:lvl3pPr>
            <a:lvl4pPr marL="0" indent="1688165">
              <a:spcBef>
                <a:spcPts val="615"/>
              </a:spcBef>
              <a:buSzTx/>
              <a:buFontTx/>
              <a:buNone/>
              <a:defRPr sz="2954" b="1">
                <a:latin typeface="Arial" panose="020B0604020202020204" pitchFamily="34" charset="0"/>
                <a:cs typeface="Arial" panose="020B0604020202020204" pitchFamily="34" charset="0"/>
              </a:defRPr>
            </a:lvl4pPr>
            <a:lvl5pPr marL="0" indent="2250887">
              <a:spcBef>
                <a:spcPts val="615"/>
              </a:spcBef>
              <a:buSzTx/>
              <a:buFontTx/>
              <a:buNone/>
              <a:defRPr sz="2954" b="1">
                <a:latin typeface="Arial" panose="020B0604020202020204" pitchFamily="34" charset="0"/>
                <a:cs typeface="Arial" panose="020B0604020202020204" pitchFamily="34" charset="0"/>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50" name="Text Placeholder 4"/>
          <p:cNvSpPr>
            <a:spLocks noGrp="1"/>
          </p:cNvSpPr>
          <p:nvPr>
            <p:ph type="body" sz="quarter" idx="21"/>
          </p:nvPr>
        </p:nvSpPr>
        <p:spPr>
          <a:xfrm>
            <a:off x="6193368" y="1535112"/>
            <a:ext cx="5389035" cy="639763"/>
          </a:xfrm>
          <a:prstGeom prst="rect">
            <a:avLst/>
          </a:prstGeom>
        </p:spPr>
        <p:txBody>
          <a:bodyPr anchor="b"/>
          <a:lstStyle>
            <a:lvl1pPr marL="0" indent="0">
              <a:spcBef>
                <a:spcPts val="615"/>
              </a:spcBef>
              <a:buSzTx/>
              <a:buFontTx/>
              <a:buNone/>
              <a:defRPr sz="2400" b="1">
                <a:latin typeface="Arial" panose="020B0604020202020204" pitchFamily="34" charset="0"/>
                <a:cs typeface="Arial" panose="020B0604020202020204" pitchFamily="34" charset="0"/>
              </a:defRPr>
            </a:lvl1pPr>
          </a:lstStyle>
          <a:p>
            <a:pPr marL="0" indent="0">
              <a:spcBef>
                <a:spcPts val="500"/>
              </a:spcBef>
              <a:buSzTx/>
              <a:buFontTx/>
              <a:buNone/>
              <a:defRPr sz="2400" b="1"/>
            </a:pPr>
            <a:endParaRPr dirty="0"/>
          </a:p>
        </p:txBody>
      </p:sp>
      <p:sp>
        <p:nvSpPr>
          <p:cNvPr id="51" name="Slide Number"/>
          <p:cNvSpPr txBox="1">
            <a:spLocks noGrp="1"/>
          </p:cNvSpPr>
          <p:nvPr>
            <p:ph type="sldNum" sz="quarter" idx="2"/>
          </p:nvPr>
        </p:nvSpPr>
        <p:spPr>
          <a:prstGeom prst="rect">
            <a:avLst/>
          </a:prstGeom>
        </p:spPr>
        <p:txBody>
          <a:bodyPr/>
          <a:lstStyle>
            <a:lvl1pPr>
              <a:defRPr>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32245622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lvl1pPr>
              <a:defRPr>
                <a:latin typeface="Arial" panose="020B0604020202020204" pitchFamily="34" charset="0"/>
                <a:cs typeface="Arial" panose="020B0604020202020204" pitchFamily="34" charset="0"/>
              </a:defRPr>
            </a:lvl1pPr>
          </a:lstStyle>
          <a:p>
            <a:r>
              <a:rPr dirty="0"/>
              <a:t>Title Text</a:t>
            </a:r>
          </a:p>
        </p:txBody>
      </p:sp>
      <p:sp>
        <p:nvSpPr>
          <p:cNvPr id="59" name="Slide Number"/>
          <p:cNvSpPr txBox="1">
            <a:spLocks noGrp="1"/>
          </p:cNvSpPr>
          <p:nvPr>
            <p:ph type="sldNum" sz="quarter" idx="2"/>
          </p:nvPr>
        </p:nvSpPr>
        <p:spPr>
          <a:prstGeom prst="rect">
            <a:avLst/>
          </a:prstGeom>
        </p:spPr>
        <p:txBody>
          <a:bodyPr/>
          <a:lstStyle>
            <a:lvl1pPr>
              <a:defRPr>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94470570"/>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66" name="Slide Number"/>
          <p:cNvSpPr txBox="1">
            <a:spLocks noGrp="1"/>
          </p:cNvSpPr>
          <p:nvPr>
            <p:ph type="sldNum" sz="quarter" idx="2"/>
          </p:nvPr>
        </p:nvSpPr>
        <p:spPr>
          <a:prstGeom prst="rect">
            <a:avLst/>
          </a:prstGeom>
        </p:spPr>
        <p:txBody>
          <a:bodyPr/>
          <a:lstStyle>
            <a:lvl1pPr>
              <a:defRPr>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91798282"/>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2389718" y="4800600"/>
            <a:ext cx="7315201" cy="566738"/>
          </a:xfrm>
          <a:prstGeom prst="rect">
            <a:avLst/>
          </a:prstGeom>
        </p:spPr>
        <p:txBody>
          <a:bodyPr anchor="b"/>
          <a:lstStyle>
            <a:lvl1pPr>
              <a:defRPr sz="2462">
                <a:solidFill>
                  <a:srgbClr val="000000"/>
                </a:solidFill>
                <a:latin typeface="Arial" panose="020B0604020202020204" pitchFamily="34" charset="0"/>
                <a:cs typeface="Arial" panose="020B0604020202020204" pitchFamily="34" charset="0"/>
              </a:defRPr>
            </a:lvl1pPr>
          </a:lstStyle>
          <a:p>
            <a:r>
              <a:rPr dirty="0"/>
              <a:t>Title Text</a:t>
            </a:r>
          </a:p>
        </p:txBody>
      </p:sp>
      <p:sp>
        <p:nvSpPr>
          <p:cNvPr id="83" name="Picture Placeholder 2"/>
          <p:cNvSpPr>
            <a:spLocks noGrp="1"/>
          </p:cNvSpPr>
          <p:nvPr>
            <p:ph type="pic" sz="half" idx="21"/>
          </p:nvPr>
        </p:nvSpPr>
        <p:spPr>
          <a:xfrm>
            <a:off x="2389718" y="612775"/>
            <a:ext cx="7315201" cy="4114800"/>
          </a:xfrm>
          <a:prstGeom prst="rect">
            <a:avLst/>
          </a:prstGeom>
        </p:spPr>
        <p:txBody>
          <a:bodyPr lIns="91439" rIns="91439">
            <a:noAutofit/>
          </a:bodyPr>
          <a:lstStyle>
            <a:lvl1pPr>
              <a:defRPr>
                <a:latin typeface="Arial" panose="020B0604020202020204" pitchFamily="34" charset="0"/>
                <a:cs typeface="Arial" panose="020B0604020202020204" pitchFamily="34" charset="0"/>
              </a:defRPr>
            </a:lvl1pPr>
          </a:lstStyle>
          <a:p>
            <a:endParaRPr dirty="0"/>
          </a:p>
        </p:txBody>
      </p:sp>
      <p:sp>
        <p:nvSpPr>
          <p:cNvPr id="84" name="Body Level One…"/>
          <p:cNvSpPr txBox="1">
            <a:spLocks noGrp="1"/>
          </p:cNvSpPr>
          <p:nvPr>
            <p:ph type="body" sz="quarter" idx="1"/>
          </p:nvPr>
        </p:nvSpPr>
        <p:spPr>
          <a:xfrm>
            <a:off x="2389718" y="5367338"/>
            <a:ext cx="7315201" cy="804863"/>
          </a:xfrm>
          <a:prstGeom prst="rect">
            <a:avLst/>
          </a:prstGeom>
        </p:spPr>
        <p:txBody>
          <a:bodyPr/>
          <a:lstStyle>
            <a:lvl1pPr marL="0" indent="0">
              <a:spcBef>
                <a:spcPts val="369"/>
              </a:spcBef>
              <a:buSzTx/>
              <a:buFontTx/>
              <a:buNone/>
              <a:defRPr sz="1723">
                <a:latin typeface="Arial" panose="020B0604020202020204" pitchFamily="34" charset="0"/>
                <a:cs typeface="Arial" panose="020B0604020202020204" pitchFamily="34" charset="0"/>
              </a:defRPr>
            </a:lvl1pPr>
            <a:lvl2pPr marL="0" indent="562722">
              <a:spcBef>
                <a:spcPts val="369"/>
              </a:spcBef>
              <a:buSzTx/>
              <a:buFontTx/>
              <a:buNone/>
              <a:defRPr sz="1723">
                <a:latin typeface="Arial" panose="020B0604020202020204" pitchFamily="34" charset="0"/>
                <a:cs typeface="Arial" panose="020B0604020202020204" pitchFamily="34" charset="0"/>
              </a:defRPr>
            </a:lvl2pPr>
            <a:lvl3pPr marL="0" indent="1125444">
              <a:spcBef>
                <a:spcPts val="369"/>
              </a:spcBef>
              <a:buSzTx/>
              <a:buFontTx/>
              <a:buNone/>
              <a:defRPr sz="1723">
                <a:latin typeface="Arial" panose="020B0604020202020204" pitchFamily="34" charset="0"/>
                <a:cs typeface="Arial" panose="020B0604020202020204" pitchFamily="34" charset="0"/>
              </a:defRPr>
            </a:lvl3pPr>
            <a:lvl4pPr marL="0" indent="1688165">
              <a:spcBef>
                <a:spcPts val="369"/>
              </a:spcBef>
              <a:buSzTx/>
              <a:buFontTx/>
              <a:buNone/>
              <a:defRPr sz="1723">
                <a:latin typeface="Arial" panose="020B0604020202020204" pitchFamily="34" charset="0"/>
                <a:cs typeface="Arial" panose="020B0604020202020204" pitchFamily="34" charset="0"/>
              </a:defRPr>
            </a:lvl4pPr>
            <a:lvl5pPr marL="0" indent="2250887">
              <a:spcBef>
                <a:spcPts val="369"/>
              </a:spcBef>
              <a:buSzTx/>
              <a:buFontTx/>
              <a:buNone/>
              <a:defRPr sz="1723">
                <a:latin typeface="Arial" panose="020B0604020202020204" pitchFamily="34" charset="0"/>
                <a:cs typeface="Arial" panose="020B0604020202020204" pitchFamily="34" charset="0"/>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85" name="Slide Number"/>
          <p:cNvSpPr txBox="1">
            <a:spLocks noGrp="1"/>
          </p:cNvSpPr>
          <p:nvPr>
            <p:ph type="sldNum" sz="quarter" idx="2"/>
          </p:nvPr>
        </p:nvSpPr>
        <p:spPr>
          <a:prstGeom prst="rect">
            <a:avLst/>
          </a:prstGeom>
        </p:spPr>
        <p:txBody>
          <a:bodyPr/>
          <a:lstStyle>
            <a:lvl1pPr>
              <a:defRPr>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37779078"/>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TITLE_AND_BODY">
    <p:spTree>
      <p:nvGrpSpPr>
        <p:cNvPr id="1" name=""/>
        <p:cNvGrpSpPr/>
        <p:nvPr/>
      </p:nvGrpSpPr>
      <p:grpSpPr>
        <a:xfrm>
          <a:off x="0" y="0"/>
          <a:ext cx="0" cy="0"/>
          <a:chOff x="0" y="0"/>
          <a:chExt cx="0" cy="0"/>
        </a:xfrm>
      </p:grpSpPr>
      <p:sp>
        <p:nvSpPr>
          <p:cNvPr id="100" name="Google Shape;24;p40"/>
          <p:cNvSpPr/>
          <p:nvPr/>
        </p:nvSpPr>
        <p:spPr>
          <a:xfrm>
            <a:off x="4432" y="5804398"/>
            <a:ext cx="12206016" cy="75295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3509" y="8652"/>
                  <a:pt x="7110" y="13055"/>
                  <a:pt x="10724" y="13116"/>
                </a:cubicBezTo>
                <a:cubicBezTo>
                  <a:pt x="14389" y="13178"/>
                  <a:pt x="18041" y="8774"/>
                  <a:pt x="21600" y="0"/>
                </a:cubicBezTo>
                <a:lnTo>
                  <a:pt x="21600" y="21600"/>
                </a:lnTo>
                <a:lnTo>
                  <a:pt x="0" y="21600"/>
                </a:lnTo>
                <a:lnTo>
                  <a:pt x="0" y="0"/>
                </a:lnTo>
                <a:close/>
              </a:path>
            </a:pathLst>
          </a:custGeom>
          <a:solidFill>
            <a:srgbClr val="346710"/>
          </a:solidFill>
          <a:ln w="12700">
            <a:miter lim="400000"/>
          </a:ln>
        </p:spPr>
        <p:txBody>
          <a:bodyPr lIns="60959" tIns="60959" rIns="60959" bIns="60959"/>
          <a:lstStyle/>
          <a:p>
            <a:pPr defTabSz="1350532">
              <a:defRPr>
                <a:latin typeface="Helvetica Neue"/>
                <a:ea typeface="Helvetica Neue"/>
                <a:cs typeface="Helvetica Neue"/>
                <a:sym typeface="Helvetica Neue"/>
              </a:defRPr>
            </a:pPr>
            <a:endParaRPr sz="2215"/>
          </a:p>
        </p:txBody>
      </p:sp>
      <p:sp>
        <p:nvSpPr>
          <p:cNvPr id="101" name="Title Text"/>
          <p:cNvSpPr txBox="1">
            <a:spLocks noGrp="1"/>
          </p:cNvSpPr>
          <p:nvPr>
            <p:ph type="title"/>
          </p:nvPr>
        </p:nvSpPr>
        <p:spPr>
          <a:xfrm>
            <a:off x="415599" y="869052"/>
            <a:ext cx="11360802" cy="689326"/>
          </a:xfrm>
          <a:prstGeom prst="rect">
            <a:avLst/>
          </a:prstGeom>
        </p:spPr>
        <p:txBody>
          <a:bodyPr lIns="103945" tIns="103945" rIns="103945" bIns="103945" anchor="t"/>
          <a:lstStyle>
            <a:lvl1pPr defTabSz="1350532">
              <a:defRPr sz="4185" b="0">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stStyle>
          <a:p>
            <a:r>
              <a:rPr dirty="0"/>
              <a:t>Title Text</a:t>
            </a:r>
          </a:p>
        </p:txBody>
      </p:sp>
      <p:sp>
        <p:nvSpPr>
          <p:cNvPr id="102" name="Body Level One…"/>
          <p:cNvSpPr txBox="1">
            <a:spLocks noGrp="1"/>
          </p:cNvSpPr>
          <p:nvPr>
            <p:ph type="body" idx="1"/>
          </p:nvPr>
        </p:nvSpPr>
        <p:spPr>
          <a:xfrm>
            <a:off x="415599" y="1720613"/>
            <a:ext cx="11360802" cy="4112226"/>
          </a:xfrm>
          <a:prstGeom prst="rect">
            <a:avLst/>
          </a:prstGeom>
        </p:spPr>
        <p:txBody>
          <a:bodyPr lIns="103945" tIns="103945" rIns="103945" bIns="103945"/>
          <a:lstStyle>
            <a:lvl1pPr marL="630593" indent="-497728" defTabSz="1350532">
              <a:lnSpc>
                <a:spcPct val="115000"/>
              </a:lnSpc>
              <a:spcBef>
                <a:spcPts val="0"/>
              </a:spcBef>
              <a:buClr>
                <a:srgbClr val="595959"/>
              </a:buClr>
              <a:buSzPts val="2200"/>
              <a:buChar char="●"/>
              <a:defRPr sz="2708">
                <a:solidFill>
                  <a:srgbClr val="595959"/>
                </a:solidFill>
                <a:latin typeface="Arial" panose="020B0604020202020204" pitchFamily="34" charset="0"/>
                <a:ea typeface="Arial" panose="020B0604020202020204" pitchFamily="34" charset="0"/>
                <a:cs typeface="Arial" panose="020B0604020202020204" pitchFamily="34" charset="0"/>
                <a:sym typeface="Arial"/>
              </a:defRPr>
            </a:lvl1pPr>
            <a:lvl2pPr marL="1311454" indent="-584605" defTabSz="1350532">
              <a:lnSpc>
                <a:spcPct val="115000"/>
              </a:lnSpc>
              <a:spcBef>
                <a:spcPts val="0"/>
              </a:spcBef>
              <a:buClr>
                <a:srgbClr val="595959"/>
              </a:buClr>
              <a:buSzPts val="2200"/>
              <a:buChar char="○"/>
              <a:defRPr sz="2708">
                <a:solidFill>
                  <a:srgbClr val="595959"/>
                </a:solidFill>
                <a:latin typeface="Arial" panose="020B0604020202020204" pitchFamily="34" charset="0"/>
                <a:ea typeface="Arial" panose="020B0604020202020204" pitchFamily="34" charset="0"/>
                <a:cs typeface="Arial" panose="020B0604020202020204" pitchFamily="34" charset="0"/>
                <a:sym typeface="Arial"/>
              </a:defRPr>
            </a:lvl2pPr>
            <a:lvl3pPr marL="1874176" indent="-584605" defTabSz="1350532">
              <a:lnSpc>
                <a:spcPct val="115000"/>
              </a:lnSpc>
              <a:spcBef>
                <a:spcPts val="0"/>
              </a:spcBef>
              <a:buClr>
                <a:srgbClr val="595959"/>
              </a:buClr>
              <a:buSzPts val="2200"/>
              <a:buChar char="■"/>
              <a:defRPr sz="2708">
                <a:solidFill>
                  <a:srgbClr val="595959"/>
                </a:solidFill>
                <a:latin typeface="Arial" panose="020B0604020202020204" pitchFamily="34" charset="0"/>
                <a:ea typeface="Arial" panose="020B0604020202020204" pitchFamily="34" charset="0"/>
                <a:cs typeface="Arial" panose="020B0604020202020204" pitchFamily="34" charset="0"/>
                <a:sym typeface="Arial"/>
              </a:defRPr>
            </a:lvl3pPr>
            <a:lvl4pPr marL="2436897" indent="-584604" defTabSz="1350532">
              <a:lnSpc>
                <a:spcPct val="115000"/>
              </a:lnSpc>
              <a:spcBef>
                <a:spcPts val="0"/>
              </a:spcBef>
              <a:buClr>
                <a:srgbClr val="595959"/>
              </a:buClr>
              <a:buSzPts val="2200"/>
              <a:buChar char="●"/>
              <a:defRPr sz="2708">
                <a:solidFill>
                  <a:srgbClr val="595959"/>
                </a:solidFill>
                <a:latin typeface="Arial" panose="020B0604020202020204" pitchFamily="34" charset="0"/>
                <a:ea typeface="Arial" panose="020B0604020202020204" pitchFamily="34" charset="0"/>
                <a:cs typeface="Arial" panose="020B0604020202020204" pitchFamily="34" charset="0"/>
                <a:sym typeface="Arial"/>
              </a:defRPr>
            </a:lvl4pPr>
            <a:lvl5pPr marL="2999618" indent="-584604" defTabSz="1350532">
              <a:lnSpc>
                <a:spcPct val="115000"/>
              </a:lnSpc>
              <a:spcBef>
                <a:spcPts val="0"/>
              </a:spcBef>
              <a:buClr>
                <a:srgbClr val="595959"/>
              </a:buClr>
              <a:buSzPts val="2200"/>
              <a:buChar char="○"/>
              <a:defRPr sz="2708">
                <a:solidFill>
                  <a:srgbClr val="595959"/>
                </a:solidFill>
                <a:latin typeface="Arial" panose="020B0604020202020204" pitchFamily="34" charset="0"/>
                <a:ea typeface="Arial" panose="020B0604020202020204" pitchFamily="34" charset="0"/>
                <a:cs typeface="Arial" panose="020B0604020202020204" pitchFamily="34" charset="0"/>
                <a:sym typeface="Aria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pic>
        <p:nvPicPr>
          <p:cNvPr id="103" name="Google Shape;28;p40" descr="Google Shape;28;p40"/>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071" y="5919843"/>
            <a:ext cx="750500" cy="609781"/>
          </a:xfrm>
          <a:prstGeom prst="rect">
            <a:avLst/>
          </a:prstGeom>
          <a:ln w="12700">
            <a:miter lim="400000"/>
          </a:ln>
        </p:spPr>
      </p:pic>
      <p:grpSp>
        <p:nvGrpSpPr>
          <p:cNvPr id="112" name="Google Shape;29;p40"/>
          <p:cNvGrpSpPr/>
          <p:nvPr/>
        </p:nvGrpSpPr>
        <p:grpSpPr>
          <a:xfrm>
            <a:off x="1974873" y="6284243"/>
            <a:ext cx="8627200" cy="216997"/>
            <a:chOff x="0" y="0"/>
            <a:chExt cx="7009599" cy="216996"/>
          </a:xfrm>
        </p:grpSpPr>
        <p:pic>
          <p:nvPicPr>
            <p:cNvPr id="104" name="Google Shape;30;p40" descr="Google Shape;30;p40"/>
            <p:cNvPicPr>
              <a:picLocks noChangeAspect="1"/>
            </p:cNvPicPr>
            <p:nvPr/>
          </p:nvPicPr>
          <p:blipFill>
            <a:blip r:embed="rId3"/>
            <a:stretch>
              <a:fillRect/>
            </a:stretch>
          </p:blipFill>
          <p:spPr>
            <a:xfrm>
              <a:off x="-1" y="18265"/>
              <a:ext cx="758079" cy="193326"/>
            </a:xfrm>
            <a:prstGeom prst="rect">
              <a:avLst/>
            </a:prstGeom>
            <a:ln w="12700" cap="flat">
              <a:noFill/>
              <a:miter lim="400000"/>
            </a:ln>
            <a:effectLst/>
          </p:spPr>
        </p:pic>
        <p:pic>
          <p:nvPicPr>
            <p:cNvPr id="105" name="Google Shape;31;p40" descr="Google Shape;31;p40"/>
            <p:cNvPicPr>
              <a:picLocks noChangeAspect="1"/>
            </p:cNvPicPr>
            <p:nvPr/>
          </p:nvPicPr>
          <p:blipFill>
            <a:blip r:embed="rId4"/>
            <a:stretch>
              <a:fillRect/>
            </a:stretch>
          </p:blipFill>
          <p:spPr>
            <a:xfrm>
              <a:off x="852449" y="23944"/>
              <a:ext cx="784398" cy="181969"/>
            </a:xfrm>
            <a:prstGeom prst="rect">
              <a:avLst/>
            </a:prstGeom>
            <a:ln w="12700" cap="flat">
              <a:noFill/>
              <a:miter lim="400000"/>
            </a:ln>
            <a:effectLst/>
          </p:spPr>
        </p:pic>
        <p:pic>
          <p:nvPicPr>
            <p:cNvPr id="106" name="Google Shape;32;p40" descr="Google Shape;32;p40"/>
            <p:cNvPicPr>
              <a:picLocks noChangeAspect="1"/>
            </p:cNvPicPr>
            <p:nvPr/>
          </p:nvPicPr>
          <p:blipFill>
            <a:blip r:embed="rId5"/>
            <a:stretch>
              <a:fillRect/>
            </a:stretch>
          </p:blipFill>
          <p:spPr>
            <a:xfrm>
              <a:off x="1731218" y="18265"/>
              <a:ext cx="844844" cy="193326"/>
            </a:xfrm>
            <a:prstGeom prst="rect">
              <a:avLst/>
            </a:prstGeom>
            <a:ln w="12700" cap="flat">
              <a:noFill/>
              <a:miter lim="400000"/>
            </a:ln>
            <a:effectLst/>
          </p:spPr>
        </p:pic>
        <p:pic>
          <p:nvPicPr>
            <p:cNvPr id="107" name="Google Shape;33;p40" descr="Google Shape;33;p40"/>
            <p:cNvPicPr>
              <a:picLocks noChangeAspect="1"/>
            </p:cNvPicPr>
            <p:nvPr/>
          </p:nvPicPr>
          <p:blipFill>
            <a:blip r:embed="rId6" cstate="email">
              <a:extLst>
                <a:ext uri="{28A0092B-C50C-407E-A947-70E740481C1C}">
                  <a14:useLocalDpi xmlns:a14="http://schemas.microsoft.com/office/drawing/2010/main"/>
                </a:ext>
              </a:extLst>
            </a:blip>
            <a:srcRect r="14950"/>
            <a:stretch>
              <a:fillRect/>
            </a:stretch>
          </p:blipFill>
          <p:spPr>
            <a:xfrm>
              <a:off x="4445971" y="5405"/>
              <a:ext cx="850427" cy="193316"/>
            </a:xfrm>
            <a:prstGeom prst="rect">
              <a:avLst/>
            </a:prstGeom>
            <a:ln w="12700" cap="flat">
              <a:noFill/>
              <a:miter lim="400000"/>
            </a:ln>
            <a:effectLst/>
          </p:spPr>
        </p:pic>
        <p:pic>
          <p:nvPicPr>
            <p:cNvPr id="108" name="Google Shape;34;p40" descr="Google Shape;34;p40"/>
            <p:cNvPicPr>
              <a:picLocks noChangeAspect="1"/>
            </p:cNvPicPr>
            <p:nvPr/>
          </p:nvPicPr>
          <p:blipFill>
            <a:blip r:embed="rId7"/>
            <a:stretch>
              <a:fillRect/>
            </a:stretch>
          </p:blipFill>
          <p:spPr>
            <a:xfrm>
              <a:off x="6228643" y="-1"/>
              <a:ext cx="780957" cy="204137"/>
            </a:xfrm>
            <a:prstGeom prst="rect">
              <a:avLst/>
            </a:prstGeom>
            <a:ln w="12700" cap="flat">
              <a:noFill/>
              <a:miter lim="400000"/>
            </a:ln>
            <a:effectLst/>
          </p:spPr>
        </p:pic>
        <p:pic>
          <p:nvPicPr>
            <p:cNvPr id="109" name="Google Shape;35;p40" descr="Google Shape;35;p40"/>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558201" y="12860"/>
              <a:ext cx="793399" cy="204137"/>
            </a:xfrm>
            <a:prstGeom prst="rect">
              <a:avLst/>
            </a:prstGeom>
            <a:ln w="12700" cap="flat">
              <a:noFill/>
              <a:miter lim="400000"/>
            </a:ln>
            <a:effectLst/>
          </p:spPr>
        </p:pic>
        <p:pic>
          <p:nvPicPr>
            <p:cNvPr id="110" name="Google Shape;36;p40" descr="Google Shape;36;p40"/>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2670432" y="12860"/>
              <a:ext cx="793399" cy="204137"/>
            </a:xfrm>
            <a:prstGeom prst="rect">
              <a:avLst/>
            </a:prstGeom>
            <a:ln w="12700" cap="flat">
              <a:noFill/>
              <a:miter lim="400000"/>
            </a:ln>
            <a:effectLst/>
          </p:spPr>
        </p:pic>
        <p:pic>
          <p:nvPicPr>
            <p:cNvPr id="111" name="Google Shape;37;p40" descr="Google Shape;37;p40"/>
            <p:cNvPicPr>
              <a:picLocks noChangeAspect="1"/>
            </p:cNvPicPr>
            <p:nvPr/>
          </p:nvPicPr>
          <p:blipFill>
            <a:blip r:embed="rId10" cstate="email">
              <a:extLst>
                <a:ext uri="{28A0092B-C50C-407E-A947-70E740481C1C}">
                  <a14:useLocalDpi xmlns:a14="http://schemas.microsoft.com/office/drawing/2010/main"/>
                </a:ext>
              </a:extLst>
            </a:blip>
            <a:srcRect/>
            <a:stretch>
              <a:fillRect/>
            </a:stretch>
          </p:blipFill>
          <p:spPr>
            <a:xfrm>
              <a:off x="5390687" y="5405"/>
              <a:ext cx="800369" cy="193286"/>
            </a:xfrm>
            <a:prstGeom prst="rect">
              <a:avLst/>
            </a:prstGeom>
            <a:ln w="12700" cap="flat">
              <a:noFill/>
              <a:miter lim="400000"/>
            </a:ln>
            <a:effectLst/>
          </p:spPr>
        </p:pic>
      </p:grpSp>
      <p:sp>
        <p:nvSpPr>
          <p:cNvPr id="113" name="Slide Number"/>
          <p:cNvSpPr txBox="1">
            <a:spLocks noGrp="1"/>
          </p:cNvSpPr>
          <p:nvPr>
            <p:ph type="sldNum" sz="quarter" idx="2"/>
          </p:nvPr>
        </p:nvSpPr>
        <p:spPr>
          <a:xfrm>
            <a:off x="11587459" y="5964820"/>
            <a:ext cx="440753" cy="437226"/>
          </a:xfrm>
          <a:prstGeom prst="rect">
            <a:avLst/>
          </a:prstGeom>
        </p:spPr>
        <p:txBody>
          <a:bodyPr lIns="103945" tIns="103945" rIns="103945" bIns="103945"/>
          <a:lstStyle>
            <a:lvl1pPr defTabSz="1350532">
              <a:defRPr>
                <a:solidFill>
                  <a:srgbClr val="595959"/>
                </a:solidFill>
                <a:latin typeface="Arial" panose="020B0604020202020204" pitchFamily="34" charset="0"/>
                <a:ea typeface="Arial" panose="020B0604020202020204" pitchFamily="34" charset="0"/>
                <a:cs typeface="Arial" panose="020B0604020202020204" pitchFamily="34" charset="0"/>
                <a:sym typeface="Aria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59789967"/>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120" name="Title Text"/>
          <p:cNvSpPr txBox="1">
            <a:spLocks noGrp="1"/>
          </p:cNvSpPr>
          <p:nvPr>
            <p:ph type="title"/>
          </p:nvPr>
        </p:nvSpPr>
        <p:spPr>
          <a:prstGeom prst="rect">
            <a:avLst/>
          </a:prstGeom>
        </p:spPr>
        <p:txBody>
          <a:bodyPr/>
          <a:lstStyle>
            <a:lvl1pPr>
              <a:defRPr>
                <a:latin typeface="Arial" panose="020B0604020202020204" pitchFamily="34" charset="0"/>
                <a:cs typeface="Arial" panose="020B0604020202020204" pitchFamily="34" charset="0"/>
              </a:defRPr>
            </a:lvl1pPr>
          </a:lstStyle>
          <a:p>
            <a:r>
              <a:rPr dirty="0"/>
              <a:t>Title Text</a:t>
            </a:r>
          </a:p>
        </p:txBody>
      </p:sp>
      <p:sp>
        <p:nvSpPr>
          <p:cNvPr id="121" name="Body Level One…"/>
          <p:cNvSpPr txBox="1">
            <a:spLocks noGrp="1"/>
          </p:cNvSpPr>
          <p:nvPr>
            <p:ph type="body" idx="1"/>
          </p:nvPr>
        </p:nvSpPr>
        <p:spPr>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22" name="Slide Number"/>
          <p:cNvSpPr txBox="1">
            <a:spLocks noGrp="1"/>
          </p:cNvSpPr>
          <p:nvPr>
            <p:ph type="sldNum" sz="quarter" idx="2"/>
          </p:nvPr>
        </p:nvSpPr>
        <p:spPr>
          <a:xfrm>
            <a:off x="11259237" y="6379095"/>
            <a:ext cx="323163" cy="319639"/>
          </a:xfrm>
          <a:prstGeom prst="rect">
            <a:avLst/>
          </a:prstGeom>
        </p:spPr>
        <p:txBody>
          <a:bodyPr/>
          <a:lstStyle>
            <a:lvl1pPr>
              <a:defRPr>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30953237"/>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B50C47B4-A6F7-49EF-93C1-CFCC322D7169}" type="datetimeFigureOut">
              <a:rPr lang="en-US" smtClean="0"/>
              <a:pPr/>
              <a:t>7/15/2026</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53D8AB2-3107-45E4-AF0F-61A01BFB589C}" type="slidenum">
              <a:rPr lang="en-US" smtClean="0"/>
              <a:pPr/>
              <a:t>‹#›</a:t>
            </a:fld>
            <a:endParaRPr lang="en-US" dirty="0"/>
          </a:p>
        </p:txBody>
      </p:sp>
    </p:spTree>
    <p:extLst>
      <p:ext uri="{BB962C8B-B14F-4D97-AF65-F5344CB8AC3E}">
        <p14:creationId xmlns:p14="http://schemas.microsoft.com/office/powerpoint/2010/main" val="38190772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B50C47B4-A6F7-49EF-93C1-CFCC322D7169}" type="datetimeFigureOut">
              <a:rPr lang="en-US" smtClean="0"/>
              <a:pPr/>
              <a:t>7/15/2026</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53D8AB2-3107-45E4-AF0F-61A01BFB589C}" type="slidenum">
              <a:rPr lang="en-US" smtClean="0"/>
              <a:pPr/>
              <a:t>‹#›</a:t>
            </a:fld>
            <a:endParaRPr lang="en-US" dirty="0"/>
          </a:p>
        </p:txBody>
      </p:sp>
    </p:spTree>
    <p:extLst>
      <p:ext uri="{BB962C8B-B14F-4D97-AF65-F5344CB8AC3E}">
        <p14:creationId xmlns:p14="http://schemas.microsoft.com/office/powerpoint/2010/main" val="38339277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B50C47B4-A6F7-49EF-93C1-CFCC322D7169}" type="datetimeFigureOut">
              <a:rPr lang="en-US" smtClean="0"/>
              <a:pPr/>
              <a:t>7/15/2026</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53D8AB2-3107-45E4-AF0F-61A01BFB589C}" type="slidenum">
              <a:rPr lang="en-US" smtClean="0"/>
              <a:pPr/>
              <a:t>‹#›</a:t>
            </a:fld>
            <a:endParaRPr lang="en-US" dirty="0"/>
          </a:p>
        </p:txBody>
      </p:sp>
    </p:spTree>
    <p:extLst>
      <p:ext uri="{BB962C8B-B14F-4D97-AF65-F5344CB8AC3E}">
        <p14:creationId xmlns:p14="http://schemas.microsoft.com/office/powerpoint/2010/main" val="37381859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atin typeface="Arial" panose="020B0604020202020204" pitchFamily="34" charset="0"/>
              </a:defRPr>
            </a:lvl1pPr>
          </a:lstStyle>
          <a:p>
            <a:fld id="{B50C47B4-A6F7-49EF-93C1-CFCC322D7169}" type="datetimeFigureOut">
              <a:rPr lang="en-US" smtClean="0"/>
              <a:pPr/>
              <a:t>7/15/2026</a:t>
            </a:fld>
            <a:endParaRPr lang="en-US" dirty="0"/>
          </a:p>
        </p:txBody>
      </p:sp>
      <p:sp>
        <p:nvSpPr>
          <p:cNvPr id="6" name="Footer Placeholder 5"/>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Arial" panose="020B0604020202020204" pitchFamily="34" charset="0"/>
              </a:defRPr>
            </a:lvl1pPr>
          </a:lstStyle>
          <a:p>
            <a:fld id="{E53D8AB2-3107-45E4-AF0F-61A01BFB589C}" type="slidenum">
              <a:rPr lang="en-US" smtClean="0"/>
              <a:pPr/>
              <a:t>‹#›</a:t>
            </a:fld>
            <a:endParaRPr lang="en-US" dirty="0"/>
          </a:p>
        </p:txBody>
      </p:sp>
    </p:spTree>
    <p:extLst>
      <p:ext uri="{BB962C8B-B14F-4D97-AF65-F5344CB8AC3E}">
        <p14:creationId xmlns:p14="http://schemas.microsoft.com/office/powerpoint/2010/main" val="16815328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Arial" panose="020B0604020202020204" pitchFamily="34" charset="0"/>
              </a:defRPr>
            </a:lvl1pPr>
          </a:lstStyle>
          <a:p>
            <a:fld id="{B50C47B4-A6F7-49EF-93C1-CFCC322D7169}" type="datetimeFigureOut">
              <a:rPr lang="en-US" smtClean="0"/>
              <a:pPr/>
              <a:t>7/15/2026</a:t>
            </a:fld>
            <a:endParaRPr lang="en-US" dirty="0"/>
          </a:p>
        </p:txBody>
      </p:sp>
      <p:sp>
        <p:nvSpPr>
          <p:cNvPr id="8" name="Footer Placeholder 7"/>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Arial" panose="020B0604020202020204" pitchFamily="34" charset="0"/>
              </a:defRPr>
            </a:lvl1pPr>
          </a:lstStyle>
          <a:p>
            <a:fld id="{E53D8AB2-3107-45E4-AF0F-61A01BFB589C}" type="slidenum">
              <a:rPr lang="en-US" smtClean="0"/>
              <a:pPr/>
              <a:t>‹#›</a:t>
            </a:fld>
            <a:endParaRPr lang="en-US" dirty="0"/>
          </a:p>
        </p:txBody>
      </p:sp>
    </p:spTree>
    <p:extLst>
      <p:ext uri="{BB962C8B-B14F-4D97-AF65-F5344CB8AC3E}">
        <p14:creationId xmlns:p14="http://schemas.microsoft.com/office/powerpoint/2010/main" val="38689706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atin typeface="Arial" panose="020B0604020202020204" pitchFamily="34" charset="0"/>
              </a:defRPr>
            </a:lvl1pPr>
          </a:lstStyle>
          <a:p>
            <a:fld id="{B50C47B4-A6F7-49EF-93C1-CFCC322D7169}" type="datetimeFigureOut">
              <a:rPr lang="en-US" smtClean="0"/>
              <a:pPr/>
              <a:t>7/15/2026</a:t>
            </a:fld>
            <a:endParaRPr lang="en-US" dirty="0"/>
          </a:p>
        </p:txBody>
      </p:sp>
      <p:sp>
        <p:nvSpPr>
          <p:cNvPr id="4" name="Footer Placeholder 3"/>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Arial" panose="020B0604020202020204" pitchFamily="34" charset="0"/>
              </a:defRPr>
            </a:lvl1pPr>
          </a:lstStyle>
          <a:p>
            <a:fld id="{E53D8AB2-3107-45E4-AF0F-61A01BFB589C}" type="slidenum">
              <a:rPr lang="en-US" smtClean="0"/>
              <a:pPr/>
              <a:t>‹#›</a:t>
            </a:fld>
            <a:endParaRPr lang="en-US" dirty="0"/>
          </a:p>
        </p:txBody>
      </p:sp>
    </p:spTree>
    <p:extLst>
      <p:ext uri="{BB962C8B-B14F-4D97-AF65-F5344CB8AC3E}">
        <p14:creationId xmlns:p14="http://schemas.microsoft.com/office/powerpoint/2010/main" val="21915896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Arial" panose="020B0604020202020204" pitchFamily="34" charset="0"/>
              </a:defRPr>
            </a:lvl1pPr>
          </a:lstStyle>
          <a:p>
            <a:fld id="{B50C47B4-A6F7-49EF-93C1-CFCC322D7169}" type="datetimeFigureOut">
              <a:rPr lang="en-US" smtClean="0"/>
              <a:pPr/>
              <a:t>7/15/2026</a:t>
            </a:fld>
            <a:endParaRPr lang="en-US" dirty="0"/>
          </a:p>
        </p:txBody>
      </p:sp>
      <p:sp>
        <p:nvSpPr>
          <p:cNvPr id="3" name="Footer Placeholder 2"/>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defRPr>
            </a:lvl1pPr>
          </a:lstStyle>
          <a:p>
            <a:fld id="{E53D8AB2-3107-45E4-AF0F-61A01BFB589C}" type="slidenum">
              <a:rPr lang="en-US" smtClean="0"/>
              <a:pPr/>
              <a:t>‹#›</a:t>
            </a:fld>
            <a:endParaRPr lang="en-US" dirty="0"/>
          </a:p>
        </p:txBody>
      </p:sp>
    </p:spTree>
    <p:extLst>
      <p:ext uri="{BB962C8B-B14F-4D97-AF65-F5344CB8AC3E}">
        <p14:creationId xmlns:p14="http://schemas.microsoft.com/office/powerpoint/2010/main" val="5024408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atin typeface="Arial" panose="020B0604020202020204" pitchFamily="34" charset="0"/>
              </a:defRPr>
            </a:lvl1pPr>
            <a:lvl2pPr>
              <a:defRPr sz="2800">
                <a:latin typeface="Arial" panose="020B0604020202020204" pitchFamily="34" charset="0"/>
              </a:defRPr>
            </a:lvl2pPr>
            <a:lvl3pPr>
              <a:defRPr sz="2400">
                <a:latin typeface="Arial" panose="020B0604020202020204" pitchFamily="34" charset="0"/>
              </a:defRPr>
            </a:lvl3pPr>
            <a:lvl4pPr>
              <a:defRPr sz="2000">
                <a:latin typeface="Arial" panose="020B0604020202020204" pitchFamily="34" charset="0"/>
              </a:defRPr>
            </a:lvl4pPr>
            <a:lvl5pPr>
              <a:defRPr sz="2000">
                <a:latin typeface="Arial" panose="020B0604020202020204" pitchFamily="34" charset="0"/>
              </a:defRPr>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lvl1pPr>
              <a:defRPr>
                <a:latin typeface="Arial" panose="020B0604020202020204" pitchFamily="34" charset="0"/>
              </a:defRPr>
            </a:lvl1pPr>
          </a:lstStyle>
          <a:p>
            <a:fld id="{B50C47B4-A6F7-49EF-93C1-CFCC322D7169}" type="datetimeFigureOut">
              <a:rPr lang="en-US" smtClean="0"/>
              <a:pPr/>
              <a:t>7/15/2026</a:t>
            </a:fld>
            <a:endParaRPr lang="en-US" dirty="0"/>
          </a:p>
        </p:txBody>
      </p:sp>
      <p:sp>
        <p:nvSpPr>
          <p:cNvPr id="6" name="Footer Placeholder 5"/>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Arial" panose="020B0604020202020204" pitchFamily="34" charset="0"/>
              </a:defRPr>
            </a:lvl1pPr>
          </a:lstStyle>
          <a:p>
            <a:fld id="{E53D8AB2-3107-45E4-AF0F-61A01BFB589C}" type="slidenum">
              <a:rPr lang="en-US" smtClean="0"/>
              <a:pPr/>
              <a:t>‹#›</a:t>
            </a:fld>
            <a:endParaRPr lang="en-US" dirty="0"/>
          </a:p>
        </p:txBody>
      </p:sp>
    </p:spTree>
    <p:extLst>
      <p:ext uri="{BB962C8B-B14F-4D97-AF65-F5344CB8AC3E}">
        <p14:creationId xmlns:p14="http://schemas.microsoft.com/office/powerpoint/2010/main" val="2819088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atin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lvl1pPr>
              <a:defRPr>
                <a:latin typeface="Arial" panose="020B0604020202020204" pitchFamily="34" charset="0"/>
              </a:defRPr>
            </a:lvl1pPr>
          </a:lstStyle>
          <a:p>
            <a:fld id="{B50C47B4-A6F7-49EF-93C1-CFCC322D7169}" type="datetimeFigureOut">
              <a:rPr lang="en-US" smtClean="0"/>
              <a:pPr/>
              <a:t>7/15/2026</a:t>
            </a:fld>
            <a:endParaRPr lang="en-US" dirty="0"/>
          </a:p>
        </p:txBody>
      </p:sp>
      <p:sp>
        <p:nvSpPr>
          <p:cNvPr id="6" name="Footer Placeholder 5"/>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Arial" panose="020B0604020202020204" pitchFamily="34" charset="0"/>
              </a:defRPr>
            </a:lvl1pPr>
          </a:lstStyle>
          <a:p>
            <a:fld id="{E53D8AB2-3107-45E4-AF0F-61A01BFB589C}" type="slidenum">
              <a:rPr lang="en-US" smtClean="0"/>
              <a:pPr/>
              <a:t>‹#›</a:t>
            </a:fld>
            <a:endParaRPr lang="en-US" dirty="0"/>
          </a:p>
        </p:txBody>
      </p:sp>
    </p:spTree>
    <p:extLst>
      <p:ext uri="{BB962C8B-B14F-4D97-AF65-F5344CB8AC3E}">
        <p14:creationId xmlns:p14="http://schemas.microsoft.com/office/powerpoint/2010/main" val="20313163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B50C47B4-A6F7-49EF-93C1-CFCC322D7169}" type="datetimeFigureOut">
              <a:rPr lang="en-US" smtClean="0"/>
              <a:pPr/>
              <a:t>7/15/2026</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53D8AB2-3107-45E4-AF0F-61A01BFB589C}" type="slidenum">
              <a:rPr lang="en-US" smtClean="0"/>
              <a:pPr/>
              <a:t>‹#›</a:t>
            </a:fld>
            <a:endParaRPr lang="en-US" dirty="0"/>
          </a:p>
        </p:txBody>
      </p:sp>
    </p:spTree>
    <p:extLst>
      <p:ext uri="{BB962C8B-B14F-4D97-AF65-F5344CB8AC3E}">
        <p14:creationId xmlns:p14="http://schemas.microsoft.com/office/powerpoint/2010/main" val="24664131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B50C47B4-A6F7-49EF-93C1-CFCC322D7169}" type="datetimeFigureOut">
              <a:rPr lang="en-US" smtClean="0"/>
              <a:pPr/>
              <a:t>7/15/2026</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53D8AB2-3107-45E4-AF0F-61A01BFB589C}" type="slidenum">
              <a:rPr lang="en-US" smtClean="0"/>
              <a:pPr/>
              <a:t>‹#›</a:t>
            </a:fld>
            <a:endParaRPr lang="en-US" dirty="0"/>
          </a:p>
        </p:txBody>
      </p:sp>
    </p:spTree>
    <p:extLst>
      <p:ext uri="{BB962C8B-B14F-4D97-AF65-F5344CB8AC3E}">
        <p14:creationId xmlns:p14="http://schemas.microsoft.com/office/powerpoint/2010/main" val="31029255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E56AF-6E7B-D7D4-4000-176FC32DC3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555E05-7E55-8CE0-CD92-30DAC31432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745ECF-1689-0DA8-5570-FE0218CEDC8E}"/>
              </a:ext>
            </a:extLst>
          </p:cNvPr>
          <p:cNvSpPr>
            <a:spLocks noGrp="1"/>
          </p:cNvSpPr>
          <p:nvPr>
            <p:ph type="dt" sz="half" idx="10"/>
          </p:nvPr>
        </p:nvSpPr>
        <p:spPr/>
        <p:txBody>
          <a:bodyPr/>
          <a:lstStyle/>
          <a:p>
            <a:fld id="{76959583-F55B-4641-A90E-B2E9CD41D316}" type="datetimeFigureOut">
              <a:rPr lang="en-US" smtClean="0"/>
              <a:t>7/15/2026</a:t>
            </a:fld>
            <a:endParaRPr lang="en-US"/>
          </a:p>
        </p:txBody>
      </p:sp>
      <p:sp>
        <p:nvSpPr>
          <p:cNvPr id="5" name="Footer Placeholder 4">
            <a:extLst>
              <a:ext uri="{FF2B5EF4-FFF2-40B4-BE49-F238E27FC236}">
                <a16:creationId xmlns:a16="http://schemas.microsoft.com/office/drawing/2014/main" id="{612D1E12-F3F0-AE71-7E94-F1EE74C1CD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727555-887A-631B-119C-3F3B093E3A71}"/>
              </a:ext>
            </a:extLst>
          </p:cNvPr>
          <p:cNvSpPr>
            <a:spLocks noGrp="1"/>
          </p:cNvSpPr>
          <p:nvPr>
            <p:ph type="sldNum" sz="quarter" idx="12"/>
          </p:nvPr>
        </p:nvSpPr>
        <p:spPr/>
        <p:txBody>
          <a:bodyPr/>
          <a:lstStyle/>
          <a:p>
            <a:fld id="{E591C3EE-22F7-4579-90BC-EF540D813B90}" type="slidenum">
              <a:rPr lang="en-US" smtClean="0"/>
              <a:t>‹#›</a:t>
            </a:fld>
            <a:endParaRPr lang="en-US"/>
          </a:p>
        </p:txBody>
      </p:sp>
    </p:spTree>
    <p:extLst>
      <p:ext uri="{BB962C8B-B14F-4D97-AF65-F5344CB8AC3E}">
        <p14:creationId xmlns:p14="http://schemas.microsoft.com/office/powerpoint/2010/main" val="2486770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1C83A-12F2-D9E0-7D83-2E44047B67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74E1CF-97B8-7534-64A1-5D17BCDE13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2400F7-8308-3F23-9D1E-F820167CBB65}"/>
              </a:ext>
            </a:extLst>
          </p:cNvPr>
          <p:cNvSpPr>
            <a:spLocks noGrp="1"/>
          </p:cNvSpPr>
          <p:nvPr>
            <p:ph type="dt" sz="half" idx="10"/>
          </p:nvPr>
        </p:nvSpPr>
        <p:spPr/>
        <p:txBody>
          <a:bodyPr/>
          <a:lstStyle/>
          <a:p>
            <a:fld id="{76959583-F55B-4641-A90E-B2E9CD41D316}" type="datetimeFigureOut">
              <a:rPr lang="en-US" smtClean="0"/>
              <a:t>7/15/2026</a:t>
            </a:fld>
            <a:endParaRPr lang="en-US"/>
          </a:p>
        </p:txBody>
      </p:sp>
      <p:sp>
        <p:nvSpPr>
          <p:cNvPr id="5" name="Footer Placeholder 4">
            <a:extLst>
              <a:ext uri="{FF2B5EF4-FFF2-40B4-BE49-F238E27FC236}">
                <a16:creationId xmlns:a16="http://schemas.microsoft.com/office/drawing/2014/main" id="{90F48BBE-C298-9D11-00A7-3987F98A05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3AA363-0CEF-712F-F269-5A6CF8F8F1EC}"/>
              </a:ext>
            </a:extLst>
          </p:cNvPr>
          <p:cNvSpPr>
            <a:spLocks noGrp="1"/>
          </p:cNvSpPr>
          <p:nvPr>
            <p:ph type="sldNum" sz="quarter" idx="12"/>
          </p:nvPr>
        </p:nvSpPr>
        <p:spPr/>
        <p:txBody>
          <a:bodyPr/>
          <a:lstStyle/>
          <a:p>
            <a:fld id="{E591C3EE-22F7-4579-90BC-EF540D813B90}" type="slidenum">
              <a:rPr lang="en-US" smtClean="0"/>
              <a:t>‹#›</a:t>
            </a:fld>
            <a:endParaRPr lang="en-US"/>
          </a:p>
        </p:txBody>
      </p:sp>
    </p:spTree>
    <p:extLst>
      <p:ext uri="{BB962C8B-B14F-4D97-AF65-F5344CB8AC3E}">
        <p14:creationId xmlns:p14="http://schemas.microsoft.com/office/powerpoint/2010/main" val="3132185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1CF88-56D8-96FB-9585-5257EE0F84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5C4BC9-818A-BEFA-9529-352AFD1C95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5076CE-00F0-102E-7C18-75741665BFE8}"/>
              </a:ext>
            </a:extLst>
          </p:cNvPr>
          <p:cNvSpPr>
            <a:spLocks noGrp="1"/>
          </p:cNvSpPr>
          <p:nvPr>
            <p:ph type="dt" sz="half" idx="10"/>
          </p:nvPr>
        </p:nvSpPr>
        <p:spPr/>
        <p:txBody>
          <a:bodyPr/>
          <a:lstStyle/>
          <a:p>
            <a:fld id="{76959583-F55B-4641-A90E-B2E9CD41D316}" type="datetimeFigureOut">
              <a:rPr lang="en-US" smtClean="0"/>
              <a:t>7/15/2026</a:t>
            </a:fld>
            <a:endParaRPr lang="en-US"/>
          </a:p>
        </p:txBody>
      </p:sp>
      <p:sp>
        <p:nvSpPr>
          <p:cNvPr id="5" name="Footer Placeholder 4">
            <a:extLst>
              <a:ext uri="{FF2B5EF4-FFF2-40B4-BE49-F238E27FC236}">
                <a16:creationId xmlns:a16="http://schemas.microsoft.com/office/drawing/2014/main" id="{61196D91-844A-0038-6CF0-9498B4C8AD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F4BDC-F2F7-F9B0-9328-ADB14F903600}"/>
              </a:ext>
            </a:extLst>
          </p:cNvPr>
          <p:cNvSpPr>
            <a:spLocks noGrp="1"/>
          </p:cNvSpPr>
          <p:nvPr>
            <p:ph type="sldNum" sz="quarter" idx="12"/>
          </p:nvPr>
        </p:nvSpPr>
        <p:spPr/>
        <p:txBody>
          <a:bodyPr/>
          <a:lstStyle/>
          <a:p>
            <a:fld id="{E591C3EE-22F7-4579-90BC-EF540D813B90}" type="slidenum">
              <a:rPr lang="en-US" smtClean="0"/>
              <a:t>‹#›</a:t>
            </a:fld>
            <a:endParaRPr lang="en-US"/>
          </a:p>
        </p:txBody>
      </p:sp>
    </p:spTree>
    <p:extLst>
      <p:ext uri="{BB962C8B-B14F-4D97-AF65-F5344CB8AC3E}">
        <p14:creationId xmlns:p14="http://schemas.microsoft.com/office/powerpoint/2010/main" val="15246679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97C0B-BBCC-AAE5-4FF5-9F14E1CE71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9D4A95-BEFC-3D5B-17FA-AE65FE6910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9FB7D5-DF23-4ADF-8FCE-004068045D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A5180F-C30F-46F0-EB68-69EF1E8A76E4}"/>
              </a:ext>
            </a:extLst>
          </p:cNvPr>
          <p:cNvSpPr>
            <a:spLocks noGrp="1"/>
          </p:cNvSpPr>
          <p:nvPr>
            <p:ph type="dt" sz="half" idx="10"/>
          </p:nvPr>
        </p:nvSpPr>
        <p:spPr/>
        <p:txBody>
          <a:bodyPr/>
          <a:lstStyle/>
          <a:p>
            <a:fld id="{76959583-F55B-4641-A90E-B2E9CD41D316}" type="datetimeFigureOut">
              <a:rPr lang="en-US" smtClean="0"/>
              <a:t>7/15/2026</a:t>
            </a:fld>
            <a:endParaRPr lang="en-US"/>
          </a:p>
        </p:txBody>
      </p:sp>
      <p:sp>
        <p:nvSpPr>
          <p:cNvPr id="6" name="Footer Placeholder 5">
            <a:extLst>
              <a:ext uri="{FF2B5EF4-FFF2-40B4-BE49-F238E27FC236}">
                <a16:creationId xmlns:a16="http://schemas.microsoft.com/office/drawing/2014/main" id="{BF5699AD-DF7E-EB87-A8BA-2DCFA12DB9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A4DD76-BEC8-7BCD-3A27-0F83709D6365}"/>
              </a:ext>
            </a:extLst>
          </p:cNvPr>
          <p:cNvSpPr>
            <a:spLocks noGrp="1"/>
          </p:cNvSpPr>
          <p:nvPr>
            <p:ph type="sldNum" sz="quarter" idx="12"/>
          </p:nvPr>
        </p:nvSpPr>
        <p:spPr/>
        <p:txBody>
          <a:bodyPr/>
          <a:lstStyle/>
          <a:p>
            <a:fld id="{E591C3EE-22F7-4579-90BC-EF540D813B90}" type="slidenum">
              <a:rPr lang="en-US" smtClean="0"/>
              <a:t>‹#›</a:t>
            </a:fld>
            <a:endParaRPr lang="en-US"/>
          </a:p>
        </p:txBody>
      </p:sp>
    </p:spTree>
    <p:extLst>
      <p:ext uri="{BB962C8B-B14F-4D97-AF65-F5344CB8AC3E}">
        <p14:creationId xmlns:p14="http://schemas.microsoft.com/office/powerpoint/2010/main" val="23430341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818F2-2B46-9976-7E6C-8212728901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F56D68-2E9E-8FA4-D182-BA6EC1028C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129290-FAAC-9573-DCDB-48FFAA18D3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7C02A4-1EA6-3489-F377-AD53D44A1F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568261-D179-8A60-F601-5E8C2EB9C5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176125-7474-D401-AF5E-011D793BB924}"/>
              </a:ext>
            </a:extLst>
          </p:cNvPr>
          <p:cNvSpPr>
            <a:spLocks noGrp="1"/>
          </p:cNvSpPr>
          <p:nvPr>
            <p:ph type="dt" sz="half" idx="10"/>
          </p:nvPr>
        </p:nvSpPr>
        <p:spPr/>
        <p:txBody>
          <a:bodyPr/>
          <a:lstStyle/>
          <a:p>
            <a:fld id="{76959583-F55B-4641-A90E-B2E9CD41D316}" type="datetimeFigureOut">
              <a:rPr lang="en-US" smtClean="0"/>
              <a:t>7/15/2026</a:t>
            </a:fld>
            <a:endParaRPr lang="en-US"/>
          </a:p>
        </p:txBody>
      </p:sp>
      <p:sp>
        <p:nvSpPr>
          <p:cNvPr id="8" name="Footer Placeholder 7">
            <a:extLst>
              <a:ext uri="{FF2B5EF4-FFF2-40B4-BE49-F238E27FC236}">
                <a16:creationId xmlns:a16="http://schemas.microsoft.com/office/drawing/2014/main" id="{70FFBDAF-52E0-44FB-9243-FAB6D34EF6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2D959E-D60C-6538-DEE4-B0CC6AA2CEC9}"/>
              </a:ext>
            </a:extLst>
          </p:cNvPr>
          <p:cNvSpPr>
            <a:spLocks noGrp="1"/>
          </p:cNvSpPr>
          <p:nvPr>
            <p:ph type="sldNum" sz="quarter" idx="12"/>
          </p:nvPr>
        </p:nvSpPr>
        <p:spPr/>
        <p:txBody>
          <a:bodyPr/>
          <a:lstStyle/>
          <a:p>
            <a:fld id="{E591C3EE-22F7-4579-90BC-EF540D813B90}" type="slidenum">
              <a:rPr lang="en-US" smtClean="0"/>
              <a:t>‹#›</a:t>
            </a:fld>
            <a:endParaRPr lang="en-US"/>
          </a:p>
        </p:txBody>
      </p:sp>
    </p:spTree>
    <p:extLst>
      <p:ext uri="{BB962C8B-B14F-4D97-AF65-F5344CB8AC3E}">
        <p14:creationId xmlns:p14="http://schemas.microsoft.com/office/powerpoint/2010/main" val="31120150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0BFFA-9428-782A-2E62-77D3817C1F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6F82AF-B743-CDDC-7CC5-7B10B7678014}"/>
              </a:ext>
            </a:extLst>
          </p:cNvPr>
          <p:cNvSpPr>
            <a:spLocks noGrp="1"/>
          </p:cNvSpPr>
          <p:nvPr>
            <p:ph type="dt" sz="half" idx="10"/>
          </p:nvPr>
        </p:nvSpPr>
        <p:spPr/>
        <p:txBody>
          <a:bodyPr/>
          <a:lstStyle/>
          <a:p>
            <a:fld id="{76959583-F55B-4641-A90E-B2E9CD41D316}" type="datetimeFigureOut">
              <a:rPr lang="en-US" smtClean="0"/>
              <a:t>7/15/2026</a:t>
            </a:fld>
            <a:endParaRPr lang="en-US"/>
          </a:p>
        </p:txBody>
      </p:sp>
      <p:sp>
        <p:nvSpPr>
          <p:cNvPr id="4" name="Footer Placeholder 3">
            <a:extLst>
              <a:ext uri="{FF2B5EF4-FFF2-40B4-BE49-F238E27FC236}">
                <a16:creationId xmlns:a16="http://schemas.microsoft.com/office/drawing/2014/main" id="{A1FA9047-2B26-4CDF-590D-C539C41910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29E9A9-D87E-91A4-531B-ABD0DBF45830}"/>
              </a:ext>
            </a:extLst>
          </p:cNvPr>
          <p:cNvSpPr>
            <a:spLocks noGrp="1"/>
          </p:cNvSpPr>
          <p:nvPr>
            <p:ph type="sldNum" sz="quarter" idx="12"/>
          </p:nvPr>
        </p:nvSpPr>
        <p:spPr/>
        <p:txBody>
          <a:bodyPr/>
          <a:lstStyle/>
          <a:p>
            <a:fld id="{E591C3EE-22F7-4579-90BC-EF540D813B90}" type="slidenum">
              <a:rPr lang="en-US" smtClean="0"/>
              <a:t>‹#›</a:t>
            </a:fld>
            <a:endParaRPr lang="en-US"/>
          </a:p>
        </p:txBody>
      </p:sp>
    </p:spTree>
    <p:extLst>
      <p:ext uri="{BB962C8B-B14F-4D97-AF65-F5344CB8AC3E}">
        <p14:creationId xmlns:p14="http://schemas.microsoft.com/office/powerpoint/2010/main" val="4417314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806DBE-E865-541D-DEAA-A68ED0D9CE28}"/>
              </a:ext>
            </a:extLst>
          </p:cNvPr>
          <p:cNvSpPr>
            <a:spLocks noGrp="1"/>
          </p:cNvSpPr>
          <p:nvPr>
            <p:ph type="dt" sz="half" idx="10"/>
          </p:nvPr>
        </p:nvSpPr>
        <p:spPr/>
        <p:txBody>
          <a:bodyPr/>
          <a:lstStyle/>
          <a:p>
            <a:fld id="{76959583-F55B-4641-A90E-B2E9CD41D316}" type="datetimeFigureOut">
              <a:rPr lang="en-US" smtClean="0"/>
              <a:t>7/15/2026</a:t>
            </a:fld>
            <a:endParaRPr lang="en-US"/>
          </a:p>
        </p:txBody>
      </p:sp>
      <p:sp>
        <p:nvSpPr>
          <p:cNvPr id="3" name="Footer Placeholder 2">
            <a:extLst>
              <a:ext uri="{FF2B5EF4-FFF2-40B4-BE49-F238E27FC236}">
                <a16:creationId xmlns:a16="http://schemas.microsoft.com/office/drawing/2014/main" id="{E04CED5F-2BCA-D734-E6C3-EA01A0359B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7B2588-BBF8-E9C9-EDEC-CF9A4B302FA3}"/>
              </a:ext>
            </a:extLst>
          </p:cNvPr>
          <p:cNvSpPr>
            <a:spLocks noGrp="1"/>
          </p:cNvSpPr>
          <p:nvPr>
            <p:ph type="sldNum" sz="quarter" idx="12"/>
          </p:nvPr>
        </p:nvSpPr>
        <p:spPr/>
        <p:txBody>
          <a:bodyPr/>
          <a:lstStyle/>
          <a:p>
            <a:fld id="{E591C3EE-22F7-4579-90BC-EF540D813B90}" type="slidenum">
              <a:rPr lang="en-US" smtClean="0"/>
              <a:t>‹#›</a:t>
            </a:fld>
            <a:endParaRPr lang="en-US"/>
          </a:p>
        </p:txBody>
      </p:sp>
    </p:spTree>
    <p:extLst>
      <p:ext uri="{BB962C8B-B14F-4D97-AF65-F5344CB8AC3E}">
        <p14:creationId xmlns:p14="http://schemas.microsoft.com/office/powerpoint/2010/main" val="11235403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B205A-E8D3-F86B-7E8C-4F4A71BFB8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845C4A-033E-66A9-233F-88E909273A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582623-16C8-F7B0-7A3F-A0E567ECFE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063E0D-26E7-7039-8CD8-CB55B16723B4}"/>
              </a:ext>
            </a:extLst>
          </p:cNvPr>
          <p:cNvSpPr>
            <a:spLocks noGrp="1"/>
          </p:cNvSpPr>
          <p:nvPr>
            <p:ph type="dt" sz="half" idx="10"/>
          </p:nvPr>
        </p:nvSpPr>
        <p:spPr/>
        <p:txBody>
          <a:bodyPr/>
          <a:lstStyle/>
          <a:p>
            <a:fld id="{76959583-F55B-4641-A90E-B2E9CD41D316}" type="datetimeFigureOut">
              <a:rPr lang="en-US" smtClean="0"/>
              <a:t>7/15/2026</a:t>
            </a:fld>
            <a:endParaRPr lang="en-US"/>
          </a:p>
        </p:txBody>
      </p:sp>
      <p:sp>
        <p:nvSpPr>
          <p:cNvPr id="6" name="Footer Placeholder 5">
            <a:extLst>
              <a:ext uri="{FF2B5EF4-FFF2-40B4-BE49-F238E27FC236}">
                <a16:creationId xmlns:a16="http://schemas.microsoft.com/office/drawing/2014/main" id="{D4DAE8D5-3F59-8BCD-FE77-0C1889723C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87B785-4D64-DC7B-15BB-EE6146E12A79}"/>
              </a:ext>
            </a:extLst>
          </p:cNvPr>
          <p:cNvSpPr>
            <a:spLocks noGrp="1"/>
          </p:cNvSpPr>
          <p:nvPr>
            <p:ph type="sldNum" sz="quarter" idx="12"/>
          </p:nvPr>
        </p:nvSpPr>
        <p:spPr/>
        <p:txBody>
          <a:bodyPr/>
          <a:lstStyle/>
          <a:p>
            <a:fld id="{E591C3EE-22F7-4579-90BC-EF540D813B90}" type="slidenum">
              <a:rPr lang="en-US" smtClean="0"/>
              <a:t>‹#›</a:t>
            </a:fld>
            <a:endParaRPr lang="en-US"/>
          </a:p>
        </p:txBody>
      </p:sp>
    </p:spTree>
    <p:extLst>
      <p:ext uri="{BB962C8B-B14F-4D97-AF65-F5344CB8AC3E}">
        <p14:creationId xmlns:p14="http://schemas.microsoft.com/office/powerpoint/2010/main" val="298134405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4C940-98DD-AB11-46FB-5457E3477F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342424-66B1-AE5B-63B1-8C10BD7A17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5DB862-CC2C-0FCD-A80E-377190EBC9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5843DE-11CF-CC7F-3A11-51FFB15EDAA2}"/>
              </a:ext>
            </a:extLst>
          </p:cNvPr>
          <p:cNvSpPr>
            <a:spLocks noGrp="1"/>
          </p:cNvSpPr>
          <p:nvPr>
            <p:ph type="dt" sz="half" idx="10"/>
          </p:nvPr>
        </p:nvSpPr>
        <p:spPr/>
        <p:txBody>
          <a:bodyPr/>
          <a:lstStyle/>
          <a:p>
            <a:fld id="{76959583-F55B-4641-A90E-B2E9CD41D316}" type="datetimeFigureOut">
              <a:rPr lang="en-US" smtClean="0"/>
              <a:t>7/15/2026</a:t>
            </a:fld>
            <a:endParaRPr lang="en-US"/>
          </a:p>
        </p:txBody>
      </p:sp>
      <p:sp>
        <p:nvSpPr>
          <p:cNvPr id="6" name="Footer Placeholder 5">
            <a:extLst>
              <a:ext uri="{FF2B5EF4-FFF2-40B4-BE49-F238E27FC236}">
                <a16:creationId xmlns:a16="http://schemas.microsoft.com/office/drawing/2014/main" id="{1CFF818B-3F50-D34F-EDEA-94900F6FD4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20B5CC-892E-8D5C-C3D1-11B419764F28}"/>
              </a:ext>
            </a:extLst>
          </p:cNvPr>
          <p:cNvSpPr>
            <a:spLocks noGrp="1"/>
          </p:cNvSpPr>
          <p:nvPr>
            <p:ph type="sldNum" sz="quarter" idx="12"/>
          </p:nvPr>
        </p:nvSpPr>
        <p:spPr/>
        <p:txBody>
          <a:bodyPr/>
          <a:lstStyle/>
          <a:p>
            <a:fld id="{E591C3EE-22F7-4579-90BC-EF540D813B90}" type="slidenum">
              <a:rPr lang="en-US" smtClean="0"/>
              <a:t>‹#›</a:t>
            </a:fld>
            <a:endParaRPr lang="en-US"/>
          </a:p>
        </p:txBody>
      </p:sp>
    </p:spTree>
    <p:extLst>
      <p:ext uri="{BB962C8B-B14F-4D97-AF65-F5344CB8AC3E}">
        <p14:creationId xmlns:p14="http://schemas.microsoft.com/office/powerpoint/2010/main" val="2033201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F7696-F8EE-F850-1331-44AAEF3C729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14D772-955F-4EEC-A6C9-E364B33B8E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B62AB6-AD28-3F2B-F41C-21CE3A7DC1E2}"/>
              </a:ext>
            </a:extLst>
          </p:cNvPr>
          <p:cNvSpPr>
            <a:spLocks noGrp="1"/>
          </p:cNvSpPr>
          <p:nvPr>
            <p:ph type="dt" sz="half" idx="10"/>
          </p:nvPr>
        </p:nvSpPr>
        <p:spPr/>
        <p:txBody>
          <a:bodyPr/>
          <a:lstStyle/>
          <a:p>
            <a:fld id="{76959583-F55B-4641-A90E-B2E9CD41D316}" type="datetimeFigureOut">
              <a:rPr lang="en-US" smtClean="0"/>
              <a:t>7/15/2026</a:t>
            </a:fld>
            <a:endParaRPr lang="en-US"/>
          </a:p>
        </p:txBody>
      </p:sp>
      <p:sp>
        <p:nvSpPr>
          <p:cNvPr id="5" name="Footer Placeholder 4">
            <a:extLst>
              <a:ext uri="{FF2B5EF4-FFF2-40B4-BE49-F238E27FC236}">
                <a16:creationId xmlns:a16="http://schemas.microsoft.com/office/drawing/2014/main" id="{9E51367A-5164-6F27-25F1-5E19FB86F7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395C3-16F1-9399-38C1-97BDA240E3A3}"/>
              </a:ext>
            </a:extLst>
          </p:cNvPr>
          <p:cNvSpPr>
            <a:spLocks noGrp="1"/>
          </p:cNvSpPr>
          <p:nvPr>
            <p:ph type="sldNum" sz="quarter" idx="12"/>
          </p:nvPr>
        </p:nvSpPr>
        <p:spPr/>
        <p:txBody>
          <a:bodyPr/>
          <a:lstStyle/>
          <a:p>
            <a:fld id="{E591C3EE-22F7-4579-90BC-EF540D813B90}" type="slidenum">
              <a:rPr lang="en-US" smtClean="0"/>
              <a:t>‹#›</a:t>
            </a:fld>
            <a:endParaRPr lang="en-US"/>
          </a:p>
        </p:txBody>
      </p:sp>
    </p:spTree>
    <p:extLst>
      <p:ext uri="{BB962C8B-B14F-4D97-AF65-F5344CB8AC3E}">
        <p14:creationId xmlns:p14="http://schemas.microsoft.com/office/powerpoint/2010/main" val="969386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4E45C1-F838-1E4E-A763-B13A28CD84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74CE6A-31EE-3E16-5F87-F4C4BE743D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E8A405-3A95-CB2E-638E-CF2AB989C4F0}"/>
              </a:ext>
            </a:extLst>
          </p:cNvPr>
          <p:cNvSpPr>
            <a:spLocks noGrp="1"/>
          </p:cNvSpPr>
          <p:nvPr>
            <p:ph type="dt" sz="half" idx="10"/>
          </p:nvPr>
        </p:nvSpPr>
        <p:spPr/>
        <p:txBody>
          <a:bodyPr/>
          <a:lstStyle/>
          <a:p>
            <a:fld id="{76959583-F55B-4641-A90E-B2E9CD41D316}" type="datetimeFigureOut">
              <a:rPr lang="en-US" smtClean="0"/>
              <a:t>7/15/2026</a:t>
            </a:fld>
            <a:endParaRPr lang="en-US"/>
          </a:p>
        </p:txBody>
      </p:sp>
      <p:sp>
        <p:nvSpPr>
          <p:cNvPr id="5" name="Footer Placeholder 4">
            <a:extLst>
              <a:ext uri="{FF2B5EF4-FFF2-40B4-BE49-F238E27FC236}">
                <a16:creationId xmlns:a16="http://schemas.microsoft.com/office/drawing/2014/main" id="{2F2387C3-653B-F2F7-A295-0C9E18F502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0A665C-9892-9C85-B5AD-F8103510889A}"/>
              </a:ext>
            </a:extLst>
          </p:cNvPr>
          <p:cNvSpPr>
            <a:spLocks noGrp="1"/>
          </p:cNvSpPr>
          <p:nvPr>
            <p:ph type="sldNum" sz="quarter" idx="12"/>
          </p:nvPr>
        </p:nvSpPr>
        <p:spPr/>
        <p:txBody>
          <a:bodyPr/>
          <a:lstStyle/>
          <a:p>
            <a:fld id="{E591C3EE-22F7-4579-90BC-EF540D813B90}" type="slidenum">
              <a:rPr lang="en-US" smtClean="0"/>
              <a:t>‹#›</a:t>
            </a:fld>
            <a:endParaRPr lang="en-US"/>
          </a:p>
        </p:txBody>
      </p:sp>
    </p:spTree>
    <p:extLst>
      <p:ext uri="{BB962C8B-B14F-4D97-AF65-F5344CB8AC3E}">
        <p14:creationId xmlns:p14="http://schemas.microsoft.com/office/powerpoint/2010/main" val="1052911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1_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D04F4719-6C13-A7C7-FB00-8B0C770F1732}"/>
              </a:ext>
            </a:extLst>
          </p:cNvPr>
          <p:cNvSpPr txBox="1">
            <a:spLocks noGrp="1"/>
          </p:cNvSpPr>
          <p:nvPr>
            <p:ph type="sldNum" sz="quarter" idx="10"/>
          </p:nvPr>
        </p:nvSpPr>
        <p:spPr>
          <a:ln/>
        </p:spPr>
        <p:txBody>
          <a:bodyPr/>
          <a:lstStyle>
            <a:lvl1pPr>
              <a:defRPr/>
            </a:lvl1pPr>
          </a:lstStyle>
          <a:p>
            <a:fld id="{2BAE4410-3C25-4119-ADEF-1F09EC5B8B34}" type="slidenum">
              <a:rPr lang="en-US" altLang="en-US"/>
              <a:pPr/>
              <a:t>‹#›</a:t>
            </a:fld>
            <a:endParaRPr lang="en-US" altLang="en-US"/>
          </a:p>
        </p:txBody>
      </p:sp>
    </p:spTree>
    <p:extLst>
      <p:ext uri="{BB962C8B-B14F-4D97-AF65-F5344CB8AC3E}">
        <p14:creationId xmlns:p14="http://schemas.microsoft.com/office/powerpoint/2010/main" val="410640105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3.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theme" Target="../theme/theme4.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C67BBB-3797-0819-A723-63A6266859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104263-C186-FE0B-FCC7-504E9D2044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8EFECF6-F693-7DB8-FF9B-D3494D5567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fld id="{76959583-F55B-4641-A90E-B2E9CD41D316}" type="datetimeFigureOut">
              <a:rPr lang="en-US" smtClean="0"/>
              <a:pPr/>
              <a:t>7/15/2026</a:t>
            </a:fld>
            <a:endParaRPr lang="en-US" dirty="0"/>
          </a:p>
        </p:txBody>
      </p:sp>
      <p:sp>
        <p:nvSpPr>
          <p:cNvPr id="5" name="Footer Placeholder 4">
            <a:extLst>
              <a:ext uri="{FF2B5EF4-FFF2-40B4-BE49-F238E27FC236}">
                <a16:creationId xmlns:a16="http://schemas.microsoft.com/office/drawing/2014/main" id="{CCEAE391-D988-E688-ACDB-A9A3AE08B3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D82B689A-8EB0-43F0-BE9D-D9987C749B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defRPr>
            </a:lvl1pPr>
          </a:lstStyle>
          <a:p>
            <a:fld id="{E591C3EE-22F7-4579-90BC-EF540D813B90}" type="slidenum">
              <a:rPr lang="en-US" smtClean="0"/>
              <a:pPr/>
              <a:t>‹#›</a:t>
            </a:fld>
            <a:endParaRPr lang="en-US" dirty="0"/>
          </a:p>
        </p:txBody>
      </p:sp>
    </p:spTree>
    <p:extLst>
      <p:ext uri="{BB962C8B-B14F-4D97-AF65-F5344CB8AC3E}">
        <p14:creationId xmlns:p14="http://schemas.microsoft.com/office/powerpoint/2010/main" val="12014921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9600" y="274639"/>
            <a:ext cx="10972800" cy="1143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rPr dirty="0"/>
              <a:t>Title Text</a:t>
            </a:r>
          </a:p>
        </p:txBody>
      </p:sp>
      <p:sp>
        <p:nvSpPr>
          <p:cNvPr id="3" name="Body Level One…"/>
          <p:cNvSpPr txBox="1">
            <a:spLocks noGrp="1"/>
          </p:cNvSpPr>
          <p:nvPr>
            <p:ph type="body" idx="1"/>
          </p:nvPr>
        </p:nvSpPr>
        <p:spPr>
          <a:xfrm>
            <a:off x="609600" y="1600200"/>
            <a:ext cx="10972800" cy="45259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pic>
        <p:nvPicPr>
          <p:cNvPr id="4" name="Picture 3" descr="Picture 3"/>
          <p:cNvPicPr>
            <a:picLocks noChangeAspect="1"/>
          </p:cNvPicPr>
          <p:nvPr/>
        </p:nvPicPr>
        <p:blipFill>
          <a:blip r:embed="rId9" cstate="email">
            <a:extLst>
              <a:ext uri="{28A0092B-C50C-407E-A947-70E740481C1C}">
                <a14:useLocalDpi xmlns:a14="http://schemas.microsoft.com/office/drawing/2010/main"/>
              </a:ext>
            </a:extLst>
          </a:blip>
          <a:srcRect/>
          <a:stretch>
            <a:fillRect/>
          </a:stretch>
        </p:blipFill>
        <p:spPr>
          <a:xfrm>
            <a:off x="127718" y="6035621"/>
            <a:ext cx="11936564" cy="822381"/>
          </a:xfrm>
          <a:prstGeom prst="rect">
            <a:avLst/>
          </a:prstGeom>
          <a:ln w="12700">
            <a:miter lim="400000"/>
          </a:ln>
        </p:spPr>
      </p:pic>
      <p:sp>
        <p:nvSpPr>
          <p:cNvPr id="5" name="Slide Number"/>
          <p:cNvSpPr txBox="1">
            <a:spLocks noGrp="1"/>
          </p:cNvSpPr>
          <p:nvPr>
            <p:ph type="sldNum" sz="quarter" idx="2"/>
          </p:nvPr>
        </p:nvSpPr>
        <p:spPr>
          <a:xfrm>
            <a:off x="11259237" y="6379095"/>
            <a:ext cx="323163" cy="319639"/>
          </a:xfrm>
          <a:prstGeom prst="rect">
            <a:avLst/>
          </a:prstGeom>
          <a:ln w="12700">
            <a:miter lim="400000"/>
          </a:ln>
        </p:spPr>
        <p:txBody>
          <a:bodyPr wrap="none" lIns="45719" rIns="45719" anchor="ctr">
            <a:spAutoFit/>
          </a:bodyPr>
          <a:lstStyle>
            <a:lvl1pPr algn="r">
              <a:defRPr sz="1477">
                <a:solidFill>
                  <a:srgbClr val="888888"/>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64767335"/>
      </p:ext>
    </p:extLst>
  </p:cSld>
  <p:clrMap bg1="lt1" tx1="dk1" bg2="lt2" tx2="dk2" accent1="accent1" accent2="accent2" accent3="accent3" accent4="accent4" accent5="accent5" accent6="accent6" hlink="hlink" folHlink="folHlink"/>
  <p:sldLayoutIdLst>
    <p:sldLayoutId id="2147483669" r:id="rId1"/>
    <p:sldLayoutId id="2147483672" r:id="rId2"/>
    <p:sldLayoutId id="2147483673" r:id="rId3"/>
    <p:sldLayoutId id="2147483674" r:id="rId4"/>
    <p:sldLayoutId id="2147483675" r:id="rId5"/>
    <p:sldLayoutId id="2147483677" r:id="rId6"/>
    <p:sldLayoutId id="2147483678" r:id="rId7"/>
  </p:sldLayoutIdLst>
  <p:transition spd="med"/>
  <p:txStyles>
    <p:titleStyle>
      <a:lvl1pPr marL="0" marR="0" indent="0" algn="l" defTabSz="562722" rtl="0" latinLnBrk="0">
        <a:lnSpc>
          <a:spcPct val="100000"/>
        </a:lnSpc>
        <a:spcBef>
          <a:spcPts val="0"/>
        </a:spcBef>
        <a:spcAft>
          <a:spcPts val="0"/>
        </a:spcAft>
        <a:buClrTx/>
        <a:buSzTx/>
        <a:buFontTx/>
        <a:buNone/>
        <a:tabLst/>
        <a:defRPr sz="5416" b="1" i="0" u="none" strike="noStrike" cap="none" spc="0" baseline="0">
          <a:solidFill>
            <a:srgbClr val="009051"/>
          </a:solidFill>
          <a:uFillTx/>
          <a:latin typeface="Arial" panose="020B0604020202020204" pitchFamily="34" charset="0"/>
          <a:ea typeface="+mn-ea"/>
          <a:cs typeface="Arial" panose="020B0604020202020204" pitchFamily="34" charset="0"/>
          <a:sym typeface="Calibri"/>
        </a:defRPr>
      </a:lvl1pPr>
      <a:lvl2pPr marL="0" marR="0" indent="0" algn="l" defTabSz="562722" rtl="0" latinLnBrk="0">
        <a:lnSpc>
          <a:spcPct val="100000"/>
        </a:lnSpc>
        <a:spcBef>
          <a:spcPts val="0"/>
        </a:spcBef>
        <a:spcAft>
          <a:spcPts val="0"/>
        </a:spcAft>
        <a:buClrTx/>
        <a:buSzTx/>
        <a:buFontTx/>
        <a:buNone/>
        <a:tabLst/>
        <a:defRPr sz="5416" b="1" i="0" u="none" strike="noStrike" cap="none" spc="0" baseline="0">
          <a:solidFill>
            <a:srgbClr val="009051"/>
          </a:solidFill>
          <a:uFillTx/>
          <a:latin typeface="+mn-lt"/>
          <a:ea typeface="+mn-ea"/>
          <a:cs typeface="+mn-cs"/>
          <a:sym typeface="Calibri"/>
        </a:defRPr>
      </a:lvl2pPr>
      <a:lvl3pPr marL="0" marR="0" indent="0" algn="l" defTabSz="562722" rtl="0" latinLnBrk="0">
        <a:lnSpc>
          <a:spcPct val="100000"/>
        </a:lnSpc>
        <a:spcBef>
          <a:spcPts val="0"/>
        </a:spcBef>
        <a:spcAft>
          <a:spcPts val="0"/>
        </a:spcAft>
        <a:buClrTx/>
        <a:buSzTx/>
        <a:buFontTx/>
        <a:buNone/>
        <a:tabLst/>
        <a:defRPr sz="5416" b="1" i="0" u="none" strike="noStrike" cap="none" spc="0" baseline="0">
          <a:solidFill>
            <a:srgbClr val="009051"/>
          </a:solidFill>
          <a:uFillTx/>
          <a:latin typeface="+mn-lt"/>
          <a:ea typeface="+mn-ea"/>
          <a:cs typeface="+mn-cs"/>
          <a:sym typeface="Calibri"/>
        </a:defRPr>
      </a:lvl3pPr>
      <a:lvl4pPr marL="0" marR="0" indent="0" algn="l" defTabSz="562722" rtl="0" latinLnBrk="0">
        <a:lnSpc>
          <a:spcPct val="100000"/>
        </a:lnSpc>
        <a:spcBef>
          <a:spcPts val="0"/>
        </a:spcBef>
        <a:spcAft>
          <a:spcPts val="0"/>
        </a:spcAft>
        <a:buClrTx/>
        <a:buSzTx/>
        <a:buFontTx/>
        <a:buNone/>
        <a:tabLst/>
        <a:defRPr sz="5416" b="1" i="0" u="none" strike="noStrike" cap="none" spc="0" baseline="0">
          <a:solidFill>
            <a:srgbClr val="009051"/>
          </a:solidFill>
          <a:uFillTx/>
          <a:latin typeface="+mn-lt"/>
          <a:ea typeface="+mn-ea"/>
          <a:cs typeface="+mn-cs"/>
          <a:sym typeface="Calibri"/>
        </a:defRPr>
      </a:lvl4pPr>
      <a:lvl5pPr marL="0" marR="0" indent="0" algn="l" defTabSz="562722" rtl="0" latinLnBrk="0">
        <a:lnSpc>
          <a:spcPct val="100000"/>
        </a:lnSpc>
        <a:spcBef>
          <a:spcPts val="0"/>
        </a:spcBef>
        <a:spcAft>
          <a:spcPts val="0"/>
        </a:spcAft>
        <a:buClrTx/>
        <a:buSzTx/>
        <a:buFontTx/>
        <a:buNone/>
        <a:tabLst/>
        <a:defRPr sz="5416" b="1" i="0" u="none" strike="noStrike" cap="none" spc="0" baseline="0">
          <a:solidFill>
            <a:srgbClr val="009051"/>
          </a:solidFill>
          <a:uFillTx/>
          <a:latin typeface="+mn-lt"/>
          <a:ea typeface="+mn-ea"/>
          <a:cs typeface="+mn-cs"/>
          <a:sym typeface="Calibri"/>
        </a:defRPr>
      </a:lvl5pPr>
      <a:lvl6pPr marL="0" marR="0" indent="0" algn="l" defTabSz="562722" rtl="0" latinLnBrk="0">
        <a:lnSpc>
          <a:spcPct val="100000"/>
        </a:lnSpc>
        <a:spcBef>
          <a:spcPts val="0"/>
        </a:spcBef>
        <a:spcAft>
          <a:spcPts val="0"/>
        </a:spcAft>
        <a:buClrTx/>
        <a:buSzTx/>
        <a:buFontTx/>
        <a:buNone/>
        <a:tabLst/>
        <a:defRPr sz="5416" b="1" i="0" u="none" strike="noStrike" cap="none" spc="0" baseline="0">
          <a:solidFill>
            <a:srgbClr val="009051"/>
          </a:solidFill>
          <a:uFillTx/>
          <a:latin typeface="+mn-lt"/>
          <a:ea typeface="+mn-ea"/>
          <a:cs typeface="+mn-cs"/>
          <a:sym typeface="Calibri"/>
        </a:defRPr>
      </a:lvl6pPr>
      <a:lvl7pPr marL="0" marR="0" indent="0" algn="l" defTabSz="562722" rtl="0" latinLnBrk="0">
        <a:lnSpc>
          <a:spcPct val="100000"/>
        </a:lnSpc>
        <a:spcBef>
          <a:spcPts val="0"/>
        </a:spcBef>
        <a:spcAft>
          <a:spcPts val="0"/>
        </a:spcAft>
        <a:buClrTx/>
        <a:buSzTx/>
        <a:buFontTx/>
        <a:buNone/>
        <a:tabLst/>
        <a:defRPr sz="5416" b="1" i="0" u="none" strike="noStrike" cap="none" spc="0" baseline="0">
          <a:solidFill>
            <a:srgbClr val="009051"/>
          </a:solidFill>
          <a:uFillTx/>
          <a:latin typeface="+mn-lt"/>
          <a:ea typeface="+mn-ea"/>
          <a:cs typeface="+mn-cs"/>
          <a:sym typeface="Calibri"/>
        </a:defRPr>
      </a:lvl7pPr>
      <a:lvl8pPr marL="0" marR="0" indent="0" algn="l" defTabSz="562722" rtl="0" latinLnBrk="0">
        <a:lnSpc>
          <a:spcPct val="100000"/>
        </a:lnSpc>
        <a:spcBef>
          <a:spcPts val="0"/>
        </a:spcBef>
        <a:spcAft>
          <a:spcPts val="0"/>
        </a:spcAft>
        <a:buClrTx/>
        <a:buSzTx/>
        <a:buFontTx/>
        <a:buNone/>
        <a:tabLst/>
        <a:defRPr sz="5416" b="1" i="0" u="none" strike="noStrike" cap="none" spc="0" baseline="0">
          <a:solidFill>
            <a:srgbClr val="009051"/>
          </a:solidFill>
          <a:uFillTx/>
          <a:latin typeface="+mn-lt"/>
          <a:ea typeface="+mn-ea"/>
          <a:cs typeface="+mn-cs"/>
          <a:sym typeface="Calibri"/>
        </a:defRPr>
      </a:lvl8pPr>
      <a:lvl9pPr marL="0" marR="0" indent="0" algn="l" defTabSz="562722" rtl="0" latinLnBrk="0">
        <a:lnSpc>
          <a:spcPct val="100000"/>
        </a:lnSpc>
        <a:spcBef>
          <a:spcPts val="0"/>
        </a:spcBef>
        <a:spcAft>
          <a:spcPts val="0"/>
        </a:spcAft>
        <a:buClrTx/>
        <a:buSzTx/>
        <a:buFontTx/>
        <a:buNone/>
        <a:tabLst/>
        <a:defRPr sz="5416" b="1" i="0" u="none" strike="noStrike" cap="none" spc="0" baseline="0">
          <a:solidFill>
            <a:srgbClr val="009051"/>
          </a:solidFill>
          <a:uFillTx/>
          <a:latin typeface="+mn-lt"/>
          <a:ea typeface="+mn-ea"/>
          <a:cs typeface="+mn-cs"/>
          <a:sym typeface="Calibri"/>
        </a:defRPr>
      </a:lvl9pPr>
    </p:titleStyle>
    <p:bodyStyle>
      <a:lvl1pPr marL="422041" marR="0" indent="-422041" algn="l" defTabSz="562722" rtl="0" latinLnBrk="0">
        <a:lnSpc>
          <a:spcPct val="100000"/>
        </a:lnSpc>
        <a:spcBef>
          <a:spcPts val="862"/>
        </a:spcBef>
        <a:spcAft>
          <a:spcPts val="0"/>
        </a:spcAft>
        <a:buClrTx/>
        <a:buSzPct val="100000"/>
        <a:buFont typeface="Arial"/>
        <a:buChar char="•"/>
        <a:tabLst/>
        <a:defRPr sz="3939" b="0" i="0" u="none" strike="noStrike" cap="none" spc="0" baseline="0">
          <a:solidFill>
            <a:srgbClr val="000000"/>
          </a:solidFill>
          <a:uFillTx/>
          <a:latin typeface="Arial" panose="020B0604020202020204" pitchFamily="34" charset="0"/>
          <a:ea typeface="+mn-ea"/>
          <a:cs typeface="Arial" panose="020B0604020202020204" pitchFamily="34" charset="0"/>
          <a:sym typeface="Calibri"/>
        </a:defRPr>
      </a:lvl1pPr>
      <a:lvl2pPr marL="964665" marR="0" indent="-401944" algn="l" defTabSz="562722" rtl="0" latinLnBrk="0">
        <a:lnSpc>
          <a:spcPct val="100000"/>
        </a:lnSpc>
        <a:spcBef>
          <a:spcPts val="862"/>
        </a:spcBef>
        <a:spcAft>
          <a:spcPts val="0"/>
        </a:spcAft>
        <a:buClrTx/>
        <a:buSzPct val="100000"/>
        <a:buFont typeface="Arial"/>
        <a:buChar char="–"/>
        <a:tabLst/>
        <a:defRPr sz="3939" b="0" i="0" u="none" strike="noStrike" cap="none" spc="0" baseline="0">
          <a:solidFill>
            <a:srgbClr val="000000"/>
          </a:solidFill>
          <a:uFillTx/>
          <a:latin typeface="Arial" panose="020B0604020202020204" pitchFamily="34" charset="0"/>
          <a:ea typeface="+mn-ea"/>
          <a:cs typeface="Arial" panose="020B0604020202020204" pitchFamily="34" charset="0"/>
          <a:sym typeface="Calibri"/>
        </a:defRPr>
      </a:lvl2pPr>
      <a:lvl3pPr marL="1500591" marR="0" indent="-375148" algn="l" defTabSz="562722" rtl="0" latinLnBrk="0">
        <a:lnSpc>
          <a:spcPct val="100000"/>
        </a:lnSpc>
        <a:spcBef>
          <a:spcPts val="862"/>
        </a:spcBef>
        <a:spcAft>
          <a:spcPts val="0"/>
        </a:spcAft>
        <a:buClrTx/>
        <a:buSzPct val="100000"/>
        <a:buFont typeface="Arial"/>
        <a:buChar char="•"/>
        <a:tabLst/>
        <a:defRPr sz="3939" b="0" i="0" u="none" strike="noStrike" cap="none" spc="0" baseline="0">
          <a:solidFill>
            <a:srgbClr val="000000"/>
          </a:solidFill>
          <a:uFillTx/>
          <a:latin typeface="Arial" panose="020B0604020202020204" pitchFamily="34" charset="0"/>
          <a:ea typeface="+mn-ea"/>
          <a:cs typeface="Arial" panose="020B0604020202020204" pitchFamily="34" charset="0"/>
          <a:sym typeface="Calibri"/>
        </a:defRPr>
      </a:lvl3pPr>
      <a:lvl4pPr marL="2138343" marR="0" indent="-450177" algn="l" defTabSz="562722" rtl="0" latinLnBrk="0">
        <a:lnSpc>
          <a:spcPct val="100000"/>
        </a:lnSpc>
        <a:spcBef>
          <a:spcPts val="862"/>
        </a:spcBef>
        <a:spcAft>
          <a:spcPts val="0"/>
        </a:spcAft>
        <a:buClrTx/>
        <a:buSzPct val="100000"/>
        <a:buFont typeface="Arial"/>
        <a:buChar char="–"/>
        <a:tabLst/>
        <a:defRPr sz="3939" b="0" i="0" u="none" strike="noStrike" cap="none" spc="0" baseline="0">
          <a:solidFill>
            <a:srgbClr val="000000"/>
          </a:solidFill>
          <a:uFillTx/>
          <a:latin typeface="Arial" panose="020B0604020202020204" pitchFamily="34" charset="0"/>
          <a:ea typeface="+mn-ea"/>
          <a:cs typeface="Arial" panose="020B0604020202020204" pitchFamily="34" charset="0"/>
          <a:sym typeface="Calibri"/>
        </a:defRPr>
      </a:lvl4pPr>
      <a:lvl5pPr marL="2701064" marR="0" indent="-450177" algn="l" defTabSz="562722" rtl="0" latinLnBrk="0">
        <a:lnSpc>
          <a:spcPct val="100000"/>
        </a:lnSpc>
        <a:spcBef>
          <a:spcPts val="862"/>
        </a:spcBef>
        <a:spcAft>
          <a:spcPts val="0"/>
        </a:spcAft>
        <a:buClrTx/>
        <a:buSzPct val="100000"/>
        <a:buFont typeface="Arial"/>
        <a:buChar char="»"/>
        <a:tabLst/>
        <a:defRPr sz="3939" b="0" i="0" u="none" strike="noStrike" cap="none" spc="0" baseline="0">
          <a:solidFill>
            <a:srgbClr val="000000"/>
          </a:solidFill>
          <a:uFillTx/>
          <a:latin typeface="Arial" panose="020B0604020202020204" pitchFamily="34" charset="0"/>
          <a:ea typeface="+mn-ea"/>
          <a:cs typeface="Arial" panose="020B0604020202020204" pitchFamily="34" charset="0"/>
          <a:sym typeface="Calibri"/>
        </a:defRPr>
      </a:lvl5pPr>
      <a:lvl6pPr marL="3263786" marR="0" indent="-450177" algn="l" defTabSz="562722" rtl="0" latinLnBrk="0">
        <a:lnSpc>
          <a:spcPct val="100000"/>
        </a:lnSpc>
        <a:spcBef>
          <a:spcPts val="862"/>
        </a:spcBef>
        <a:spcAft>
          <a:spcPts val="0"/>
        </a:spcAft>
        <a:buClrTx/>
        <a:buSzPct val="100000"/>
        <a:buFont typeface="Arial"/>
        <a:buChar char="•"/>
        <a:tabLst/>
        <a:defRPr sz="3939" b="0" i="0" u="none" strike="noStrike" cap="none" spc="0" baseline="0">
          <a:solidFill>
            <a:srgbClr val="000000"/>
          </a:solidFill>
          <a:uFillTx/>
          <a:latin typeface="+mn-lt"/>
          <a:ea typeface="+mn-ea"/>
          <a:cs typeface="+mn-cs"/>
          <a:sym typeface="Calibri"/>
        </a:defRPr>
      </a:lvl6pPr>
      <a:lvl7pPr marL="3826508" marR="0" indent="-450177" algn="l" defTabSz="562722" rtl="0" latinLnBrk="0">
        <a:lnSpc>
          <a:spcPct val="100000"/>
        </a:lnSpc>
        <a:spcBef>
          <a:spcPts val="862"/>
        </a:spcBef>
        <a:spcAft>
          <a:spcPts val="0"/>
        </a:spcAft>
        <a:buClrTx/>
        <a:buSzPct val="100000"/>
        <a:buFont typeface="Arial"/>
        <a:buChar char="•"/>
        <a:tabLst/>
        <a:defRPr sz="3939" b="0" i="0" u="none" strike="noStrike" cap="none" spc="0" baseline="0">
          <a:solidFill>
            <a:srgbClr val="000000"/>
          </a:solidFill>
          <a:uFillTx/>
          <a:latin typeface="+mn-lt"/>
          <a:ea typeface="+mn-ea"/>
          <a:cs typeface="+mn-cs"/>
          <a:sym typeface="Calibri"/>
        </a:defRPr>
      </a:lvl7pPr>
      <a:lvl8pPr marL="4389228" marR="0" indent="-450176" algn="l" defTabSz="562722" rtl="0" latinLnBrk="0">
        <a:lnSpc>
          <a:spcPct val="100000"/>
        </a:lnSpc>
        <a:spcBef>
          <a:spcPts val="862"/>
        </a:spcBef>
        <a:spcAft>
          <a:spcPts val="0"/>
        </a:spcAft>
        <a:buClrTx/>
        <a:buSzPct val="100000"/>
        <a:buFont typeface="Arial"/>
        <a:buChar char="•"/>
        <a:tabLst/>
        <a:defRPr sz="3939" b="0" i="0" u="none" strike="noStrike" cap="none" spc="0" baseline="0">
          <a:solidFill>
            <a:srgbClr val="000000"/>
          </a:solidFill>
          <a:uFillTx/>
          <a:latin typeface="+mn-lt"/>
          <a:ea typeface="+mn-ea"/>
          <a:cs typeface="+mn-cs"/>
          <a:sym typeface="Calibri"/>
        </a:defRPr>
      </a:lvl8pPr>
      <a:lvl9pPr marL="4951950" marR="0" indent="-450176" algn="l" defTabSz="562722" rtl="0" latinLnBrk="0">
        <a:lnSpc>
          <a:spcPct val="100000"/>
        </a:lnSpc>
        <a:spcBef>
          <a:spcPts val="862"/>
        </a:spcBef>
        <a:spcAft>
          <a:spcPts val="0"/>
        </a:spcAft>
        <a:buClrTx/>
        <a:buSzPct val="100000"/>
        <a:buFont typeface="Arial"/>
        <a:buChar char="•"/>
        <a:tabLst/>
        <a:defRPr sz="3939" b="0" i="0" u="none" strike="noStrike" cap="none" spc="0" baseline="0">
          <a:solidFill>
            <a:srgbClr val="000000"/>
          </a:solidFill>
          <a:uFillTx/>
          <a:latin typeface="+mn-lt"/>
          <a:ea typeface="+mn-ea"/>
          <a:cs typeface="+mn-cs"/>
          <a:sym typeface="Calibri"/>
        </a:defRPr>
      </a:lvl9pPr>
    </p:bodyStyle>
    <p:otherStyle>
      <a:lvl1pPr marL="0" marR="0" indent="0" algn="r" defTabSz="562722" rtl="0" latinLnBrk="0">
        <a:lnSpc>
          <a:spcPct val="100000"/>
        </a:lnSpc>
        <a:spcBef>
          <a:spcPts val="0"/>
        </a:spcBef>
        <a:spcAft>
          <a:spcPts val="0"/>
        </a:spcAft>
        <a:buClrTx/>
        <a:buSzTx/>
        <a:buFontTx/>
        <a:buNone/>
        <a:tabLst/>
        <a:defRPr sz="1477" b="0" i="0" u="none" strike="noStrike" cap="none" spc="0" baseline="0">
          <a:solidFill>
            <a:schemeClr val="tx1"/>
          </a:solidFill>
          <a:uFillTx/>
          <a:latin typeface="+mn-lt"/>
          <a:ea typeface="+mn-ea"/>
          <a:cs typeface="+mn-cs"/>
          <a:sym typeface="Calibri"/>
        </a:defRPr>
      </a:lvl1pPr>
      <a:lvl2pPr marL="0" marR="0" indent="562722" algn="r" defTabSz="562722" rtl="0" latinLnBrk="0">
        <a:lnSpc>
          <a:spcPct val="100000"/>
        </a:lnSpc>
        <a:spcBef>
          <a:spcPts val="0"/>
        </a:spcBef>
        <a:spcAft>
          <a:spcPts val="0"/>
        </a:spcAft>
        <a:buClrTx/>
        <a:buSzTx/>
        <a:buFontTx/>
        <a:buNone/>
        <a:tabLst/>
        <a:defRPr sz="1477" b="0" i="0" u="none" strike="noStrike" cap="none" spc="0" baseline="0">
          <a:solidFill>
            <a:schemeClr val="tx1"/>
          </a:solidFill>
          <a:uFillTx/>
          <a:latin typeface="+mn-lt"/>
          <a:ea typeface="+mn-ea"/>
          <a:cs typeface="+mn-cs"/>
          <a:sym typeface="Calibri"/>
        </a:defRPr>
      </a:lvl2pPr>
      <a:lvl3pPr marL="0" marR="0" indent="1125444" algn="r" defTabSz="562722" rtl="0" latinLnBrk="0">
        <a:lnSpc>
          <a:spcPct val="100000"/>
        </a:lnSpc>
        <a:spcBef>
          <a:spcPts val="0"/>
        </a:spcBef>
        <a:spcAft>
          <a:spcPts val="0"/>
        </a:spcAft>
        <a:buClrTx/>
        <a:buSzTx/>
        <a:buFontTx/>
        <a:buNone/>
        <a:tabLst/>
        <a:defRPr sz="1477" b="0" i="0" u="none" strike="noStrike" cap="none" spc="0" baseline="0">
          <a:solidFill>
            <a:schemeClr val="tx1"/>
          </a:solidFill>
          <a:uFillTx/>
          <a:latin typeface="+mn-lt"/>
          <a:ea typeface="+mn-ea"/>
          <a:cs typeface="+mn-cs"/>
          <a:sym typeface="Calibri"/>
        </a:defRPr>
      </a:lvl3pPr>
      <a:lvl4pPr marL="0" marR="0" indent="1688165" algn="r" defTabSz="562722" rtl="0" latinLnBrk="0">
        <a:lnSpc>
          <a:spcPct val="100000"/>
        </a:lnSpc>
        <a:spcBef>
          <a:spcPts val="0"/>
        </a:spcBef>
        <a:spcAft>
          <a:spcPts val="0"/>
        </a:spcAft>
        <a:buClrTx/>
        <a:buSzTx/>
        <a:buFontTx/>
        <a:buNone/>
        <a:tabLst/>
        <a:defRPr sz="1477" b="0" i="0" u="none" strike="noStrike" cap="none" spc="0" baseline="0">
          <a:solidFill>
            <a:schemeClr val="tx1"/>
          </a:solidFill>
          <a:uFillTx/>
          <a:latin typeface="+mn-lt"/>
          <a:ea typeface="+mn-ea"/>
          <a:cs typeface="+mn-cs"/>
          <a:sym typeface="Calibri"/>
        </a:defRPr>
      </a:lvl4pPr>
      <a:lvl5pPr marL="0" marR="0" indent="2250887" algn="r" defTabSz="562722" rtl="0" latinLnBrk="0">
        <a:lnSpc>
          <a:spcPct val="100000"/>
        </a:lnSpc>
        <a:spcBef>
          <a:spcPts val="0"/>
        </a:spcBef>
        <a:spcAft>
          <a:spcPts val="0"/>
        </a:spcAft>
        <a:buClrTx/>
        <a:buSzTx/>
        <a:buFontTx/>
        <a:buNone/>
        <a:tabLst/>
        <a:defRPr sz="1477" b="0" i="0" u="none" strike="noStrike" cap="none" spc="0" baseline="0">
          <a:solidFill>
            <a:schemeClr val="tx1"/>
          </a:solidFill>
          <a:uFillTx/>
          <a:latin typeface="+mn-lt"/>
          <a:ea typeface="+mn-ea"/>
          <a:cs typeface="+mn-cs"/>
          <a:sym typeface="Calibri"/>
        </a:defRPr>
      </a:lvl5pPr>
      <a:lvl6pPr marL="0" marR="0" indent="2813609" algn="r" defTabSz="562722" rtl="0" latinLnBrk="0">
        <a:lnSpc>
          <a:spcPct val="100000"/>
        </a:lnSpc>
        <a:spcBef>
          <a:spcPts val="0"/>
        </a:spcBef>
        <a:spcAft>
          <a:spcPts val="0"/>
        </a:spcAft>
        <a:buClrTx/>
        <a:buSzTx/>
        <a:buFontTx/>
        <a:buNone/>
        <a:tabLst/>
        <a:defRPr sz="1477" b="0" i="0" u="none" strike="noStrike" cap="none" spc="0" baseline="0">
          <a:solidFill>
            <a:schemeClr val="tx1"/>
          </a:solidFill>
          <a:uFillTx/>
          <a:latin typeface="+mn-lt"/>
          <a:ea typeface="+mn-ea"/>
          <a:cs typeface="+mn-cs"/>
          <a:sym typeface="Calibri"/>
        </a:defRPr>
      </a:lvl6pPr>
      <a:lvl7pPr marL="0" marR="0" indent="3376331" algn="r" defTabSz="562722" rtl="0" latinLnBrk="0">
        <a:lnSpc>
          <a:spcPct val="100000"/>
        </a:lnSpc>
        <a:spcBef>
          <a:spcPts val="0"/>
        </a:spcBef>
        <a:spcAft>
          <a:spcPts val="0"/>
        </a:spcAft>
        <a:buClrTx/>
        <a:buSzTx/>
        <a:buFontTx/>
        <a:buNone/>
        <a:tabLst/>
        <a:defRPr sz="1477" b="0" i="0" u="none" strike="noStrike" cap="none" spc="0" baseline="0">
          <a:solidFill>
            <a:schemeClr val="tx1"/>
          </a:solidFill>
          <a:uFillTx/>
          <a:latin typeface="+mn-lt"/>
          <a:ea typeface="+mn-ea"/>
          <a:cs typeface="+mn-cs"/>
          <a:sym typeface="Calibri"/>
        </a:defRPr>
      </a:lvl7pPr>
      <a:lvl8pPr marL="0" marR="0" indent="3939052" algn="r" defTabSz="562722" rtl="0" latinLnBrk="0">
        <a:lnSpc>
          <a:spcPct val="100000"/>
        </a:lnSpc>
        <a:spcBef>
          <a:spcPts val="0"/>
        </a:spcBef>
        <a:spcAft>
          <a:spcPts val="0"/>
        </a:spcAft>
        <a:buClrTx/>
        <a:buSzTx/>
        <a:buFontTx/>
        <a:buNone/>
        <a:tabLst/>
        <a:defRPr sz="1477" b="0" i="0" u="none" strike="noStrike" cap="none" spc="0" baseline="0">
          <a:solidFill>
            <a:schemeClr val="tx1"/>
          </a:solidFill>
          <a:uFillTx/>
          <a:latin typeface="+mn-lt"/>
          <a:ea typeface="+mn-ea"/>
          <a:cs typeface="+mn-cs"/>
          <a:sym typeface="Calibri"/>
        </a:defRPr>
      </a:lvl8pPr>
      <a:lvl9pPr marL="0" marR="0" indent="4501774" algn="r" defTabSz="562722" rtl="0" latinLnBrk="0">
        <a:lnSpc>
          <a:spcPct val="100000"/>
        </a:lnSpc>
        <a:spcBef>
          <a:spcPts val="0"/>
        </a:spcBef>
        <a:spcAft>
          <a:spcPts val="0"/>
        </a:spcAft>
        <a:buClrTx/>
        <a:buSzTx/>
        <a:buFontTx/>
        <a:buNone/>
        <a:tabLst/>
        <a:defRPr sz="1477" b="0" i="0" u="none" strike="noStrike" cap="none" spc="0" baseline="0">
          <a:solidFill>
            <a:schemeClr val="tx1"/>
          </a:solidFill>
          <a:uFillTx/>
          <a:latin typeface="+mn-lt"/>
          <a:ea typeface="+mn-ea"/>
          <a:cs typeface="+mn-cs"/>
          <a:sym typeface="Calibri"/>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fld id="{B50C47B4-A6F7-49EF-93C1-CFCC322D7169}" type="datetimeFigureOut">
              <a:rPr lang="en-US" smtClean="0"/>
              <a:pPr/>
              <a:t>7/15/2026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defRPr>
            </a:lvl1pPr>
          </a:lstStyle>
          <a:p>
            <a:fld id="{E53D8AB2-3107-45E4-AF0F-61A01BFB589C}" type="slidenum">
              <a:rPr lang="en-US" smtClean="0"/>
              <a:pPr/>
              <a:t>‹#›</a:t>
            </a:fld>
            <a:endParaRPr lang="en-US" dirty="0"/>
          </a:p>
        </p:txBody>
      </p:sp>
    </p:spTree>
    <p:extLst>
      <p:ext uri="{BB962C8B-B14F-4D97-AF65-F5344CB8AC3E}">
        <p14:creationId xmlns:p14="http://schemas.microsoft.com/office/powerpoint/2010/main" val="2648507706"/>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C67BBB-3797-0819-A723-63A6266859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104263-C186-FE0B-FCC7-504E9D2044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8EFECF6-F693-7DB8-FF9B-D3494D5567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fld id="{76959583-F55B-4641-A90E-B2E9CD41D316}" type="datetimeFigureOut">
              <a:rPr lang="en-US" smtClean="0"/>
              <a:pPr/>
              <a:t>7/15/2026</a:t>
            </a:fld>
            <a:endParaRPr lang="en-US" dirty="0"/>
          </a:p>
        </p:txBody>
      </p:sp>
      <p:sp>
        <p:nvSpPr>
          <p:cNvPr id="5" name="Footer Placeholder 4">
            <a:extLst>
              <a:ext uri="{FF2B5EF4-FFF2-40B4-BE49-F238E27FC236}">
                <a16:creationId xmlns:a16="http://schemas.microsoft.com/office/drawing/2014/main" id="{CCEAE391-D988-E688-ACDB-A9A3AE08B3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D82B689A-8EB0-43F0-BE9D-D9987C749B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defRPr>
            </a:lvl1pPr>
          </a:lstStyle>
          <a:p>
            <a:fld id="{E591C3EE-22F7-4579-90BC-EF540D813B90}" type="slidenum">
              <a:rPr lang="en-US" smtClean="0"/>
              <a:pPr/>
              <a:t>‹#›</a:t>
            </a:fld>
            <a:endParaRPr lang="en-US" dirty="0"/>
          </a:p>
        </p:txBody>
      </p:sp>
    </p:spTree>
    <p:extLst>
      <p:ext uri="{BB962C8B-B14F-4D97-AF65-F5344CB8AC3E}">
        <p14:creationId xmlns:p14="http://schemas.microsoft.com/office/powerpoint/2010/main" val="4049816266"/>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hemeOverride" Target="../theme/themeOverride1.xml"/><Relationship Id="rId5" Type="http://schemas.openxmlformats.org/officeDocument/2006/relationships/image" Target="../media/image1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xml"/><Relationship Id="rId1" Type="http://schemas.openxmlformats.org/officeDocument/2006/relationships/themeOverride" Target="../theme/themeOverride2.xml"/><Relationship Id="rId5" Type="http://schemas.openxmlformats.org/officeDocument/2006/relationships/image" Target="../media/image13.emf"/><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xml"/><Relationship Id="rId1" Type="http://schemas.openxmlformats.org/officeDocument/2006/relationships/themeOverride" Target="../theme/themeOverride3.xml"/><Relationship Id="rId4" Type="http://schemas.openxmlformats.org/officeDocument/2006/relationships/image" Target="../media/image14.jpg"/></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7FFE59E7_4170C68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1.xml"/><Relationship Id="rId4" Type="http://schemas.microsoft.com/office/2018/10/relationships/comments" Target="../comments/modernComment_7FFE59F0_37DE3266.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4.xml"/><Relationship Id="rId5" Type="http://schemas.openxmlformats.org/officeDocument/2006/relationships/image" Target="../media/image19.jpg"/><Relationship Id="rId4" Type="http://schemas.openxmlformats.org/officeDocument/2006/relationships/image" Target="../media/image11.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8.xml"/><Relationship Id="rId4" Type="http://schemas.openxmlformats.org/officeDocument/2006/relationships/image" Target="../media/image11.jpeg"/></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1.xml"/><Relationship Id="rId1" Type="http://schemas.openxmlformats.org/officeDocument/2006/relationships/tags" Target="../tags/tag20.xml"/><Relationship Id="rId4" Type="http://schemas.openxmlformats.org/officeDocument/2006/relationships/image" Target="../media/image20.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23.xml"/><Relationship Id="rId4" Type="http://schemas.openxmlformats.org/officeDocument/2006/relationships/image" Target="../media/image11.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43.xml"/><Relationship Id="rId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AC90FA-E286-2130-7A62-B690ADC811B8}"/>
              </a:ext>
            </a:extLst>
          </p:cNvPr>
          <p:cNvSpPr txBox="1"/>
          <p:nvPr/>
        </p:nvSpPr>
        <p:spPr>
          <a:xfrm>
            <a:off x="1046480" y="3901078"/>
            <a:ext cx="9977119" cy="1815882"/>
          </a:xfrm>
          <a:prstGeom prst="rect">
            <a:avLst/>
          </a:prstGeom>
          <a:noFill/>
          <a:ln>
            <a:solidFill>
              <a:schemeClr val="accent2"/>
            </a:solidFill>
          </a:ln>
        </p:spPr>
        <p:txBody>
          <a:bodyPr wrap="square" rtlCol="0">
            <a:spAutoFit/>
          </a:bodyPr>
          <a:lstStyle/>
          <a:p>
            <a:endParaRPr lang="en-US" sz="2800" b="1" dirty="0">
              <a:latin typeface="Arial" panose="020B0604020202020204" pitchFamily="34" charset="0"/>
            </a:endParaRPr>
          </a:p>
          <a:p>
            <a:pPr algn="ctr"/>
            <a:r>
              <a:rPr lang="en-US" sz="2800" b="1" dirty="0">
                <a:latin typeface="Arial" panose="020B0604020202020204" pitchFamily="34" charset="0"/>
              </a:rPr>
              <a:t> 4</a:t>
            </a:r>
            <a:r>
              <a:rPr lang="en-US" sz="2800" b="1" baseline="30000" dirty="0">
                <a:latin typeface="Arial" panose="020B0604020202020204" pitchFamily="34" charset="0"/>
              </a:rPr>
              <a:t>th</a:t>
            </a:r>
            <a:r>
              <a:rPr lang="en-US" sz="2800" b="1" dirty="0">
                <a:latin typeface="Arial" panose="020B0604020202020204" pitchFamily="34" charset="0"/>
              </a:rPr>
              <a:t> Implementation Support Mission</a:t>
            </a:r>
          </a:p>
          <a:p>
            <a:pPr algn="ctr"/>
            <a:r>
              <a:rPr lang="en-US" sz="2800" b="1" dirty="0">
                <a:latin typeface="Arial" panose="020B0604020202020204" pitchFamily="34" charset="0"/>
              </a:rPr>
              <a:t>IGAD Presentation </a:t>
            </a:r>
          </a:p>
          <a:p>
            <a:pPr algn="ctr"/>
            <a:r>
              <a:rPr lang="en-US" sz="2800" b="1" dirty="0">
                <a:latin typeface="Arial" panose="020B0604020202020204" pitchFamily="34" charset="0"/>
              </a:rPr>
              <a:t>July 2026</a:t>
            </a:r>
          </a:p>
        </p:txBody>
      </p:sp>
      <p:pic>
        <p:nvPicPr>
          <p:cNvPr id="5" name="Picture 14" descr="C:\Users\Ketema\Documents\IGAD-Dec 2019\IGAD-New-LOGO\Logo w_ island_P.jpg">
            <a:extLst>
              <a:ext uri="{FF2B5EF4-FFF2-40B4-BE49-F238E27FC236}">
                <a16:creationId xmlns:a16="http://schemas.microsoft.com/office/drawing/2014/main" id="{2261BF9B-D073-81C6-9550-5F807FAA48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20885"/>
          <a:stretch>
            <a:fillRect/>
          </a:stretch>
        </p:blipFill>
        <p:spPr bwMode="auto">
          <a:xfrm>
            <a:off x="4868153" y="183791"/>
            <a:ext cx="2022043" cy="1265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5B50E610-4FDF-4ED2-EFB5-3251C3548F83}"/>
              </a:ext>
            </a:extLst>
          </p:cNvPr>
          <p:cNvSpPr txBox="1">
            <a:spLocks noGrp="1"/>
          </p:cNvSpPr>
          <p:nvPr>
            <p:ph type="ctrTitle"/>
          </p:nvPr>
        </p:nvSpPr>
        <p:spPr>
          <a:xfrm>
            <a:off x="802640" y="1647030"/>
            <a:ext cx="10302240" cy="1938992"/>
          </a:xfrm>
          <a:prstGeom prst="rect">
            <a:avLst/>
          </a:prstGeom>
          <a:ln>
            <a:solidFill>
              <a:schemeClr val="accent2"/>
            </a:solidFill>
          </a:ln>
        </p:spPr>
        <p:txBody>
          <a:bodyPr>
            <a:noAutofit/>
          </a:bodyPr>
          <a:lstStyle/>
          <a:p>
            <a:pPr>
              <a:defRPr sz="2500">
                <a:solidFill>
                  <a:srgbClr val="008000"/>
                </a:solidFill>
                <a:latin typeface="Arial"/>
                <a:ea typeface="Arial"/>
                <a:cs typeface="Arial"/>
                <a:sym typeface="Arial"/>
              </a:defRPr>
            </a:pP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 </a:t>
            </a: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Health Emergency Preparedness Response and Resilience</a:t>
            </a:r>
            <a:br>
              <a:rPr lang="en-US" sz="2800" b="1" dirty="0">
                <a:solidFill>
                  <a:srgbClr val="008000"/>
                </a:solidFill>
                <a:latin typeface="Arial" panose="020B0604020202020204" pitchFamily="34" charset="0"/>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 MPA Program</a:t>
            </a:r>
            <a:br>
              <a:rPr lang="en-US" sz="2800" b="1" dirty="0">
                <a:solidFill>
                  <a:srgbClr val="008000"/>
                </a:solidFill>
                <a:latin typeface="Arial" panose="020B0604020202020204" pitchFamily="34" charset="0"/>
                <a:cs typeface="Arial" panose="020B0604020202020204" pitchFamily="34" charset="0"/>
              </a:rPr>
            </a:br>
            <a:endParaRPr lang="en-GB" sz="2800" b="1" dirty="0">
              <a:solidFill>
                <a:srgbClr val="000000"/>
              </a:solidFill>
              <a:latin typeface="Arial" panose="020B0604020202020204" pitchFamily="34" charset="0"/>
              <a:cs typeface="Arial" panose="020B0604020202020204" pitchFamily="34" charset="0"/>
            </a:endParaRPr>
          </a:p>
        </p:txBody>
      </p:sp>
    </p:spTree>
    <p:custDataLst>
      <p:tags r:id="rId2"/>
    </p:custData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291" name="Geographic Coverage of Project">
            <a:extLst>
              <a:ext uri="{FF2B5EF4-FFF2-40B4-BE49-F238E27FC236}">
                <a16:creationId xmlns:a16="http://schemas.microsoft.com/office/drawing/2014/main" id="{7681ECB4-D756-0F9E-9BA3-454D8EFFCB27}"/>
              </a:ext>
            </a:extLst>
          </p:cNvPr>
          <p:cNvSpPr txBox="1">
            <a:spLocks noGrp="1"/>
          </p:cNvSpPr>
          <p:nvPr>
            <p:ph type="title"/>
          </p:nvPr>
        </p:nvSpPr>
        <p:spPr bwMode="auto">
          <a:xfrm>
            <a:off x="0" y="279401"/>
            <a:ext cx="6176963" cy="1171028"/>
          </a:xfrm>
          <a:ln w="12700">
            <a:solidFill>
              <a:schemeClr val="accent2"/>
            </a:solidFill>
            <a:miter lim="400000"/>
            <a:headEnd/>
            <a:tailEnd/>
          </a:ln>
        </p:spPr>
        <p:txBody>
          <a:bodyPr vert="horz" wrap="square" tIns="45720" bIns="45720" numCol="1" anchorCtr="0" compatLnSpc="1">
            <a:prstTxWarp prst="textNoShape">
              <a:avLst/>
            </a:prstTxWarp>
            <a:normAutofit/>
          </a:bodyPr>
          <a:lstStyle/>
          <a:p>
            <a:pPr algn="ctr" eaLnBrk="1" hangingPunct="1"/>
            <a:r>
              <a:rPr lang="en-US" altLang="en-US" sz="2800" b="1" dirty="0">
                <a:solidFill>
                  <a:srgbClr val="008000"/>
                </a:solidFill>
                <a:latin typeface="Arial" panose="020B0604020202020204" pitchFamily="34" charset="0"/>
                <a:ea typeface="Arial"/>
                <a:cs typeface="Arial" panose="020B0604020202020204" pitchFamily="34" charset="0"/>
              </a:rPr>
              <a:t>Intergovernmental</a:t>
            </a:r>
            <a:r>
              <a:rPr lang="en-US" altLang="en-US" sz="2800" dirty="0">
                <a:latin typeface="Arial" panose="020B0604020202020204" pitchFamily="34" charset="0"/>
                <a:cs typeface="Arial" panose="020B0604020202020204" pitchFamily="34" charset="0"/>
              </a:rPr>
              <a:t> </a:t>
            </a:r>
            <a:r>
              <a:rPr lang="en-US" altLang="en-US" sz="2800" b="1" dirty="0">
                <a:solidFill>
                  <a:srgbClr val="008000"/>
                </a:solidFill>
                <a:latin typeface="Arial" panose="020B0604020202020204" pitchFamily="34" charset="0"/>
                <a:ea typeface="Arial"/>
                <a:cs typeface="Arial" panose="020B0604020202020204" pitchFamily="34" charset="0"/>
              </a:rPr>
              <a:t>Authority</a:t>
            </a:r>
            <a:r>
              <a:rPr lang="en-US" altLang="en-US" sz="2800" dirty="0">
                <a:latin typeface="Arial" panose="020B0604020202020204" pitchFamily="34" charset="0"/>
                <a:cs typeface="Arial" panose="020B0604020202020204" pitchFamily="34" charset="0"/>
              </a:rPr>
              <a:t> </a:t>
            </a:r>
            <a:r>
              <a:rPr lang="en-US" altLang="en-US" sz="2800" b="1" dirty="0">
                <a:solidFill>
                  <a:srgbClr val="008000"/>
                </a:solidFill>
                <a:latin typeface="Arial" panose="020B0604020202020204" pitchFamily="34" charset="0"/>
                <a:ea typeface="Arial"/>
                <a:cs typeface="Arial" panose="020B0604020202020204" pitchFamily="34" charset="0"/>
              </a:rPr>
              <a:t>on</a:t>
            </a:r>
            <a:r>
              <a:rPr lang="en-US" altLang="en-US" sz="2800" dirty="0">
                <a:latin typeface="Arial" panose="020B0604020202020204" pitchFamily="34" charset="0"/>
                <a:cs typeface="Arial" panose="020B0604020202020204" pitchFamily="34" charset="0"/>
              </a:rPr>
              <a:t> </a:t>
            </a:r>
            <a:r>
              <a:rPr lang="en-US" altLang="en-US" sz="2800" b="1" dirty="0">
                <a:solidFill>
                  <a:srgbClr val="008000"/>
                </a:solidFill>
                <a:latin typeface="Arial" panose="020B0604020202020204" pitchFamily="34" charset="0"/>
                <a:ea typeface="Arial"/>
                <a:cs typeface="Arial" panose="020B0604020202020204" pitchFamily="34" charset="0"/>
              </a:rPr>
              <a:t>Development</a:t>
            </a:r>
            <a:r>
              <a:rPr lang="en-US" altLang="en-US" sz="2800" dirty="0">
                <a:latin typeface="Arial" panose="020B0604020202020204" pitchFamily="34" charset="0"/>
                <a:cs typeface="Arial" panose="020B0604020202020204" pitchFamily="34" charset="0"/>
              </a:rPr>
              <a:t> (</a:t>
            </a:r>
            <a:r>
              <a:rPr lang="en-US" altLang="en-US" sz="2800" b="1" dirty="0">
                <a:solidFill>
                  <a:srgbClr val="008000"/>
                </a:solidFill>
                <a:latin typeface="Arial" panose="020B0604020202020204" pitchFamily="34" charset="0"/>
                <a:ea typeface="Arial"/>
                <a:cs typeface="Arial" panose="020B0604020202020204" pitchFamily="34" charset="0"/>
              </a:rPr>
              <a:t>IGAD</a:t>
            </a:r>
            <a:r>
              <a:rPr lang="en-US" altLang="en-US" sz="2800" dirty="0">
                <a:latin typeface="Arial" panose="020B0604020202020204" pitchFamily="34" charset="0"/>
                <a:cs typeface="Arial" panose="020B0604020202020204" pitchFamily="34" charset="0"/>
              </a:rPr>
              <a:t>)</a:t>
            </a:r>
          </a:p>
        </p:txBody>
      </p:sp>
      <p:sp>
        <p:nvSpPr>
          <p:cNvPr id="12294" name="Text Placeholder 3">
            <a:extLst>
              <a:ext uri="{FF2B5EF4-FFF2-40B4-BE49-F238E27FC236}">
                <a16:creationId xmlns:a16="http://schemas.microsoft.com/office/drawing/2014/main" id="{B4B15E1E-6AF6-0E63-0442-AD4411E399F3}"/>
              </a:ext>
            </a:extLst>
          </p:cNvPr>
          <p:cNvSpPr txBox="1">
            <a:spLocks noGrp="1"/>
          </p:cNvSpPr>
          <p:nvPr>
            <p:ph type="body" idx="1"/>
          </p:nvPr>
        </p:nvSpPr>
        <p:spPr bwMode="auto">
          <a:xfrm>
            <a:off x="0" y="1624012"/>
            <a:ext cx="6176963" cy="5233987"/>
          </a:xfrm>
          <a:ln>
            <a:solidFill>
              <a:schemeClr val="accent2"/>
            </a:solidFill>
          </a:ln>
        </p:spPr>
        <p:txBody>
          <a:bodyPr vert="horz" wrap="square" tIns="45720" bIns="45720" numCol="1" anchor="ctr" anchorCtr="0" compatLnSpc="1">
            <a:prstTxWarp prst="textNoShape">
              <a:avLst/>
            </a:prstTxWarp>
            <a:normAutofit fontScale="92500" lnSpcReduction="20000"/>
          </a:bodyPr>
          <a:lstStyle/>
          <a:p>
            <a:pPr lvl="0"/>
            <a:r>
              <a:rPr lang="en-GB" sz="2600" dirty="0">
                <a:cs typeface="Arial" panose="020B0604020202020204" pitchFamily="34" charset="0"/>
              </a:rPr>
              <a:t>IGADD in 1986 to cope with famines in the region </a:t>
            </a:r>
            <a:endParaRPr lang="en-US" sz="2600" dirty="0">
              <a:cs typeface="Arial" panose="020B0604020202020204" pitchFamily="34" charset="0"/>
            </a:endParaRPr>
          </a:p>
          <a:p>
            <a:pPr lvl="0"/>
            <a:r>
              <a:rPr lang="en-GB" sz="2600" dirty="0">
                <a:cs typeface="Arial" panose="020B0604020202020204" pitchFamily="34" charset="0"/>
              </a:rPr>
              <a:t>IGAD Transformed and widened its objective to Development: 1996 </a:t>
            </a:r>
            <a:endParaRPr lang="en-US" sz="2600" dirty="0">
              <a:cs typeface="Arial" panose="020B0604020202020204" pitchFamily="34" charset="0"/>
            </a:endParaRPr>
          </a:p>
          <a:p>
            <a:pPr lvl="0"/>
            <a:r>
              <a:rPr lang="en-GB" sz="2600" dirty="0">
                <a:cs typeface="Arial" panose="020B0604020202020204" pitchFamily="34" charset="0"/>
              </a:rPr>
              <a:t>Regional Economic Community (REC) of African Union</a:t>
            </a:r>
            <a:endParaRPr lang="en-US" sz="2600" dirty="0">
              <a:cs typeface="Arial" panose="020B0604020202020204" pitchFamily="34" charset="0"/>
            </a:endParaRPr>
          </a:p>
          <a:p>
            <a:pPr lvl="0"/>
            <a:r>
              <a:rPr lang="en-US" altLang="en-US" sz="2600" dirty="0">
                <a:cs typeface="Arial" panose="020B0604020202020204" pitchFamily="34" charset="0"/>
                <a:sym typeface="Arial" panose="020B0604020202020204" pitchFamily="34" charset="0"/>
              </a:rPr>
              <a:t>Coverage: East and Horn of African countries </a:t>
            </a:r>
          </a:p>
          <a:p>
            <a:pPr lvl="0"/>
            <a:r>
              <a:rPr lang="en-US" altLang="en-US" sz="2600" dirty="0">
                <a:cs typeface="Arial" panose="020B0604020202020204" pitchFamily="34" charset="0"/>
                <a:sym typeface="Arial" panose="020B0604020202020204" pitchFamily="34" charset="0"/>
              </a:rPr>
              <a:t>Headquarter: Djibouti City</a:t>
            </a:r>
          </a:p>
          <a:p>
            <a:pPr lvl="0"/>
            <a:r>
              <a:rPr lang="en-US" altLang="en-US" sz="2600" dirty="0">
                <a:cs typeface="Arial" panose="020B0604020202020204" pitchFamily="34" charset="0"/>
                <a:sym typeface="Arial" panose="020B0604020202020204" pitchFamily="34" charset="0"/>
              </a:rPr>
              <a:t>Total Population: Over 270m, 17% Africa’s Landmass, 70% is Arid and Semi-Arid Land Areas</a:t>
            </a:r>
          </a:p>
          <a:p>
            <a:pPr lvl="0"/>
            <a:r>
              <a:rPr lang="en-US" altLang="en-US" sz="2600" dirty="0">
                <a:cs typeface="Arial" panose="020B0604020202020204" pitchFamily="34" charset="0"/>
                <a:sym typeface="Arial" panose="020B0604020202020204" pitchFamily="34" charset="0"/>
              </a:rPr>
              <a:t>Over 20% of the population live in the cross-border areas</a:t>
            </a:r>
          </a:p>
          <a:p>
            <a:pPr lvl="0"/>
            <a:r>
              <a:rPr lang="en-US" altLang="en-US" sz="2600" dirty="0">
                <a:cs typeface="Arial" panose="020B0604020202020204" pitchFamily="34" charset="0"/>
                <a:sym typeface="Arial" panose="020B0604020202020204" pitchFamily="34" charset="0"/>
              </a:rPr>
              <a:t>Most countries generally characterized with fragile Public Health system</a:t>
            </a:r>
          </a:p>
        </p:txBody>
      </p:sp>
      <p:sp>
        <p:nvSpPr>
          <p:cNvPr id="143" name="Slide Number">
            <a:extLst>
              <a:ext uri="{FF2B5EF4-FFF2-40B4-BE49-F238E27FC236}">
                <a16:creationId xmlns:a16="http://schemas.microsoft.com/office/drawing/2014/main" id="{8E4FE03F-D3C8-670C-0203-57DE50FAE218}"/>
              </a:ext>
            </a:extLst>
          </p:cNvPr>
          <p:cNvSpPr>
            <a:spLocks noGrp="1"/>
          </p:cNvSpPr>
          <p:nvPr>
            <p:ph type="sldNum" sz="quarter" idx="10"/>
          </p:nvPr>
        </p:nvSpPr>
        <p:spPr>
          <a:xfrm>
            <a:off x="10299700" y="7145338"/>
            <a:ext cx="198438" cy="319087"/>
          </a:xfrm>
          <a:extLst>
            <a:ext uri="{C572A759-6A51-4108-AA02-DFA0A04FC94B}"/>
          </a:extLst>
        </p:spPr>
        <p:txBody>
          <a:bodyPr/>
          <a:lstStyle/>
          <a:p>
            <a:pPr marL="0" marR="0" lvl="0" indent="0" algn="r" defTabSz="457200" rtl="0" eaLnBrk="1" fontAlgn="base" latinLnBrk="0" hangingPunct="0">
              <a:lnSpc>
                <a:spcPct val="100000"/>
              </a:lnSpc>
              <a:spcBef>
                <a:spcPct val="0"/>
              </a:spcBef>
              <a:spcAft>
                <a:spcPct val="0"/>
              </a:spcAft>
              <a:buClrTx/>
              <a:buSzTx/>
              <a:buFontTx/>
              <a:buNone/>
              <a:tabLst/>
              <a:defRPr/>
            </a:pPr>
            <a:fld id="{896BC5D0-69F8-43A8-B541-3F6238ABD5DA}" type="slidenum">
              <a:rPr kumimoji="0" lang="en-US" altLang="en-US" sz="1400" b="0" i="0" u="none" strike="noStrike" kern="1200" cap="none" spc="0" normalizeH="0" baseline="0" noProof="0" smtClean="0">
                <a:ln>
                  <a:noFill/>
                </a:ln>
                <a:solidFill>
                  <a:srgbClr val="888888"/>
                </a:solidFill>
                <a:effectLst/>
                <a:uLnTx/>
                <a:uFillTx/>
                <a:cs typeface="Arial" panose="020B0604020202020204" pitchFamily="34" charset="0"/>
                <a:sym typeface="Calibri" panose="020F0502020204030204" pitchFamily="34" charset="0"/>
              </a:rPr>
              <a:pPr marL="0" marR="0" lvl="0" indent="0" algn="r" defTabSz="457200" rtl="0" eaLnBrk="1" fontAlgn="base" latinLnBrk="0" hangingPunct="0">
                <a:lnSpc>
                  <a:spcPct val="100000"/>
                </a:lnSpc>
                <a:spcBef>
                  <a:spcPct val="0"/>
                </a:spcBef>
                <a:spcAft>
                  <a:spcPct val="0"/>
                </a:spcAft>
                <a:buClrTx/>
                <a:buSzTx/>
                <a:buFontTx/>
                <a:buNone/>
                <a:tabLst/>
                <a:defRPr/>
              </a:pPr>
              <a:t>2</a:t>
            </a:fld>
            <a:endParaRPr kumimoji="0" lang="en-US" altLang="en-US" sz="1400" b="0" i="0" u="none" strike="noStrike" kern="1200" cap="none" spc="0" normalizeH="0" baseline="0" noProof="0" dirty="0">
              <a:ln>
                <a:noFill/>
              </a:ln>
              <a:solidFill>
                <a:srgbClr val="888888"/>
              </a:solidFill>
              <a:effectLst/>
              <a:uLnTx/>
              <a:uFillTx/>
              <a:cs typeface="Arial" panose="020B0604020202020204" pitchFamily="34" charset="0"/>
              <a:sym typeface="Calibri" panose="020F0502020204030204" pitchFamily="34" charset="0"/>
            </a:endParaRPr>
          </a:p>
        </p:txBody>
      </p:sp>
      <p:pic>
        <p:nvPicPr>
          <p:cNvPr id="12292" name="Picture 2">
            <a:extLst>
              <a:ext uri="{FF2B5EF4-FFF2-40B4-BE49-F238E27FC236}">
                <a16:creationId xmlns:a16="http://schemas.microsoft.com/office/drawing/2014/main" id="{C54D5D4A-B159-4AD3-C31A-C4FB6D970BF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13575" y="184150"/>
            <a:ext cx="5059363" cy="585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3">
            <a:extLst>
              <a:ext uri="{FF2B5EF4-FFF2-40B4-BE49-F238E27FC236}">
                <a16:creationId xmlns:a16="http://schemas.microsoft.com/office/drawing/2014/main" id="{CFCD2E82-B0F9-D690-68DC-A3D3A6412FC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346825" y="3795623"/>
            <a:ext cx="2728164" cy="306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extLst>
      <p:ext uri="{BB962C8B-B14F-4D97-AF65-F5344CB8AC3E}">
        <p14:creationId xmlns:p14="http://schemas.microsoft.com/office/powerpoint/2010/main" val="1315963549"/>
      </p:ext>
    </p:extLst>
  </p:cSld>
  <p:clrMapOvr>
    <a:overrideClrMapping bg1="lt1" tx1="dk1" bg2="lt2" tx2="dk2" accent1="accent1" accent2="accent2" accent3="accent3" accent4="accent4" accent5="accent5" accent6="accent6" hlink="hlink" folHlink="folHlink"/>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291" name="Geographic Coverage of Project">
            <a:extLst>
              <a:ext uri="{FF2B5EF4-FFF2-40B4-BE49-F238E27FC236}">
                <a16:creationId xmlns:a16="http://schemas.microsoft.com/office/drawing/2014/main" id="{7681ECB4-D756-0F9E-9BA3-454D8EFFCB27}"/>
              </a:ext>
            </a:extLst>
          </p:cNvPr>
          <p:cNvSpPr txBox="1">
            <a:spLocks noGrp="1"/>
          </p:cNvSpPr>
          <p:nvPr>
            <p:ph type="title"/>
          </p:nvPr>
        </p:nvSpPr>
        <p:spPr bwMode="auto">
          <a:xfrm>
            <a:off x="1" y="28734"/>
            <a:ext cx="12181956" cy="891767"/>
          </a:xfrm>
          <a:ln w="12700">
            <a:solidFill>
              <a:srgbClr val="000000"/>
            </a:solidFill>
            <a:miter lim="400000"/>
            <a:headEnd/>
            <a:tailEnd/>
          </a:ln>
        </p:spPr>
        <p:txBody>
          <a:bodyPr vert="horz" wrap="square" tIns="45720" bIns="45720" numCol="1" anchorCtr="0" compatLnSpc="1">
            <a:prstTxWarp prst="textNoShape">
              <a:avLst/>
            </a:prstTxWarp>
            <a:normAutofit/>
          </a:bodyPr>
          <a:lstStyle/>
          <a:p>
            <a:pPr eaLnBrk="1" hangingPunct="1"/>
            <a:r>
              <a:rPr lang="en-US" altLang="en-US" sz="2800" b="1" dirty="0">
                <a:solidFill>
                  <a:srgbClr val="008000"/>
                </a:solidFill>
                <a:latin typeface="Arial" panose="020B0604020202020204" pitchFamily="34" charset="0"/>
                <a:cs typeface="Arial" panose="020B0604020202020204" pitchFamily="34" charset="0"/>
              </a:rPr>
              <a:t>Governance Structure of (IGAD)</a:t>
            </a:r>
          </a:p>
        </p:txBody>
      </p:sp>
      <p:sp>
        <p:nvSpPr>
          <p:cNvPr id="12294" name="Text Placeholder 3">
            <a:extLst>
              <a:ext uri="{FF2B5EF4-FFF2-40B4-BE49-F238E27FC236}">
                <a16:creationId xmlns:a16="http://schemas.microsoft.com/office/drawing/2014/main" id="{B4B15E1E-6AF6-0E63-0442-AD4411E399F3}"/>
              </a:ext>
            </a:extLst>
          </p:cNvPr>
          <p:cNvSpPr txBox="1">
            <a:spLocks noGrp="1"/>
          </p:cNvSpPr>
          <p:nvPr>
            <p:ph type="body" idx="1"/>
          </p:nvPr>
        </p:nvSpPr>
        <p:spPr bwMode="auto">
          <a:xfrm>
            <a:off x="10043" y="920501"/>
            <a:ext cx="5145282" cy="5908765"/>
          </a:xfrm>
          <a:ln>
            <a:solidFill>
              <a:schemeClr val="accent2"/>
            </a:solidFill>
          </a:ln>
        </p:spPr>
        <p:txBody>
          <a:bodyPr vert="horz" wrap="square" tIns="45720" bIns="45720" numCol="1" anchor="ctr" anchorCtr="0" compatLnSpc="1">
            <a:prstTxWarp prst="textNoShape">
              <a:avLst/>
            </a:prstTxWarp>
            <a:noAutofit/>
          </a:bodyPr>
          <a:lstStyle/>
          <a:p>
            <a:r>
              <a:rPr lang="en-US" sz="2600" dirty="0">
                <a:cs typeface="Arial" panose="020B0604020202020204" pitchFamily="34" charset="0"/>
              </a:rPr>
              <a:t>Robust Governance structures</a:t>
            </a:r>
          </a:p>
          <a:p>
            <a:pPr lvl="1">
              <a:buFont typeface="Wingdings" panose="05000000000000000000" pitchFamily="2" charset="2"/>
              <a:buChar char="q"/>
            </a:pPr>
            <a:r>
              <a:rPr lang="en-US" sz="2600" dirty="0">
                <a:cs typeface="Arial" panose="020B0604020202020204" pitchFamily="34" charset="0"/>
              </a:rPr>
              <a:t>Summit – Heads of States and Governments</a:t>
            </a:r>
          </a:p>
          <a:p>
            <a:pPr lvl="1">
              <a:buFont typeface="Wingdings" panose="05000000000000000000" pitchFamily="2" charset="2"/>
              <a:buChar char="q"/>
            </a:pPr>
            <a:r>
              <a:rPr lang="en-US" sz="2600" dirty="0">
                <a:cs typeface="Arial" panose="020B0604020202020204" pitchFamily="34" charset="0"/>
              </a:rPr>
              <a:t>Council of Ministers </a:t>
            </a:r>
          </a:p>
          <a:p>
            <a:pPr lvl="1">
              <a:buFont typeface="Wingdings" panose="05000000000000000000" pitchFamily="2" charset="2"/>
              <a:buChar char="q"/>
            </a:pPr>
            <a:r>
              <a:rPr lang="en-US" sz="2600" dirty="0">
                <a:cs typeface="Arial" panose="020B0604020202020204" pitchFamily="34" charset="0"/>
              </a:rPr>
              <a:t>Committee of Ambassadors</a:t>
            </a:r>
          </a:p>
          <a:p>
            <a:pPr lvl="1">
              <a:buFont typeface="Wingdings" panose="05000000000000000000" pitchFamily="2" charset="2"/>
              <a:buChar char="q"/>
            </a:pPr>
            <a:r>
              <a:rPr lang="en-US" sz="2600" dirty="0">
                <a:cs typeface="Arial" panose="020B0604020202020204" pitchFamily="34" charset="0"/>
              </a:rPr>
              <a:t>IGAD Secretariat </a:t>
            </a:r>
          </a:p>
          <a:p>
            <a:pPr lvl="1">
              <a:buFont typeface="Wingdings" panose="05000000000000000000" pitchFamily="2" charset="2"/>
              <a:buChar char="q"/>
            </a:pPr>
            <a:r>
              <a:rPr lang="en-US" sz="2600" dirty="0">
                <a:cs typeface="Arial" panose="020B0604020202020204" pitchFamily="34" charset="0"/>
              </a:rPr>
              <a:t>Sectoral Ministerial Committees (e.g. Health, Livestock, Environment, </a:t>
            </a:r>
            <a:r>
              <a:rPr lang="en-US" sz="2600" dirty="0" err="1">
                <a:cs typeface="Arial" panose="020B0604020202020204" pitchFamily="34" charset="0"/>
              </a:rPr>
              <a:t>etc</a:t>
            </a:r>
            <a:r>
              <a:rPr lang="en-US" sz="2600" dirty="0">
                <a:cs typeface="Arial" panose="020B0604020202020204" pitchFamily="34" charset="0"/>
              </a:rPr>
              <a:t>)</a:t>
            </a:r>
          </a:p>
          <a:p>
            <a:pPr lvl="1">
              <a:buFont typeface="Wingdings" panose="05000000000000000000" pitchFamily="2" charset="2"/>
              <a:buChar char="q"/>
            </a:pPr>
            <a:r>
              <a:rPr lang="en-US" sz="2600" dirty="0">
                <a:cs typeface="Arial" panose="020B0604020202020204" pitchFamily="34" charset="0"/>
              </a:rPr>
              <a:t>Sectoral steering committees  </a:t>
            </a:r>
          </a:p>
          <a:p>
            <a:pPr lvl="1">
              <a:buFont typeface="Wingdings" panose="05000000000000000000" pitchFamily="2" charset="2"/>
              <a:buChar char="q"/>
            </a:pPr>
            <a:r>
              <a:rPr lang="en-US" sz="2600" dirty="0">
                <a:cs typeface="Arial" panose="020B0604020202020204" pitchFamily="34" charset="0"/>
              </a:rPr>
              <a:t>Technical platforms, including Cross Border points</a:t>
            </a:r>
          </a:p>
        </p:txBody>
      </p:sp>
      <p:sp>
        <p:nvSpPr>
          <p:cNvPr id="143" name="Slide Number">
            <a:extLst>
              <a:ext uri="{FF2B5EF4-FFF2-40B4-BE49-F238E27FC236}">
                <a16:creationId xmlns:a16="http://schemas.microsoft.com/office/drawing/2014/main" id="{8E4FE03F-D3C8-670C-0203-57DE50FAE218}"/>
              </a:ext>
            </a:extLst>
          </p:cNvPr>
          <p:cNvSpPr>
            <a:spLocks noGrp="1"/>
          </p:cNvSpPr>
          <p:nvPr>
            <p:ph type="sldNum" sz="quarter" idx="10"/>
          </p:nvPr>
        </p:nvSpPr>
        <p:spPr>
          <a:xfrm>
            <a:off x="10299700" y="7145338"/>
            <a:ext cx="198438" cy="319087"/>
          </a:xfrm>
          <a:extLst>
            <a:ext uri="{C572A759-6A51-4108-AA02-DFA0A04FC94B}"/>
          </a:extLst>
        </p:spPr>
        <p:txBody>
          <a:bodyPr/>
          <a:lstStyle/>
          <a:p>
            <a:pPr marL="0" marR="0" lvl="0" indent="0" algn="r" defTabSz="457200" rtl="0" eaLnBrk="1" fontAlgn="base" latinLnBrk="0" hangingPunct="0">
              <a:lnSpc>
                <a:spcPct val="100000"/>
              </a:lnSpc>
              <a:spcBef>
                <a:spcPct val="0"/>
              </a:spcBef>
              <a:spcAft>
                <a:spcPct val="0"/>
              </a:spcAft>
              <a:buClrTx/>
              <a:buSzTx/>
              <a:buFontTx/>
              <a:buNone/>
              <a:tabLst/>
              <a:defRPr/>
            </a:pPr>
            <a:fld id="{896BC5D0-69F8-43A8-B541-3F6238ABD5DA}" type="slidenum">
              <a:rPr kumimoji="0" lang="en-US" altLang="en-US" sz="1400" b="0" i="0" u="none" strike="noStrike" kern="1200" cap="none" spc="0" normalizeH="0" baseline="0" noProof="0" smtClean="0">
                <a:ln>
                  <a:noFill/>
                </a:ln>
                <a:solidFill>
                  <a:srgbClr val="888888"/>
                </a:solidFill>
                <a:effectLst/>
                <a:uLnTx/>
                <a:uFillTx/>
                <a:cs typeface="Arial" panose="020B0604020202020204" pitchFamily="34" charset="0"/>
                <a:sym typeface="Calibri" panose="020F0502020204030204" pitchFamily="34" charset="0"/>
              </a:rPr>
              <a:pPr marL="0" marR="0" lvl="0" indent="0" algn="r" defTabSz="457200" rtl="0" eaLnBrk="1" fontAlgn="base" latinLnBrk="0" hangingPunct="0">
                <a:lnSpc>
                  <a:spcPct val="100000"/>
                </a:lnSpc>
                <a:spcBef>
                  <a:spcPct val="0"/>
                </a:spcBef>
                <a:spcAft>
                  <a:spcPct val="0"/>
                </a:spcAft>
                <a:buClrTx/>
                <a:buSzTx/>
                <a:buFontTx/>
                <a:buNone/>
                <a:tabLst/>
                <a:defRPr/>
              </a:pPr>
              <a:t>3</a:t>
            </a:fld>
            <a:endParaRPr kumimoji="0" lang="en-US" altLang="en-US" sz="1400" b="0" i="0" u="none" strike="noStrike" kern="1200" cap="none" spc="0" normalizeH="0" baseline="0" noProof="0" dirty="0">
              <a:ln>
                <a:noFill/>
              </a:ln>
              <a:solidFill>
                <a:srgbClr val="888888"/>
              </a:solidFill>
              <a:effectLst/>
              <a:uLnTx/>
              <a:uFillTx/>
              <a:cs typeface="Arial" panose="020B0604020202020204" pitchFamily="34" charset="0"/>
              <a:sym typeface="Calibri" panose="020F0502020204030204" pitchFamily="34" charset="0"/>
            </a:endParaRPr>
          </a:p>
        </p:txBody>
      </p:sp>
      <p:pic>
        <p:nvPicPr>
          <p:cNvPr id="7" name="Content Placeholder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8475" y="920501"/>
            <a:ext cx="6924842" cy="5908765"/>
          </a:xfrm>
          <a:prstGeom prst="rect">
            <a:avLst/>
          </a:prstGeom>
        </p:spPr>
      </p:pic>
    </p:spTree>
    <p:custDataLst>
      <p:tags r:id="rId2"/>
    </p:custDataLst>
    <p:extLst>
      <p:ext uri="{BB962C8B-B14F-4D97-AF65-F5344CB8AC3E}">
        <p14:creationId xmlns:p14="http://schemas.microsoft.com/office/powerpoint/2010/main" val="3902581343"/>
      </p:ext>
    </p:extLst>
  </p:cSld>
  <p:clrMapOvr>
    <a:overrideClrMapping bg1="lt1" tx1="dk1" bg2="lt2" tx2="dk2" accent1="accent1" accent2="accent2" accent3="accent3" accent4="accent4" accent5="accent5" accent6="accent6" hlink="hlink" folHlink="folHlink"/>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C72CB3-16CC-9029-6FED-033F6F72DCAE}"/>
              </a:ext>
            </a:extLst>
          </p:cNvPr>
          <p:cNvSpPr>
            <a:spLocks noGrp="1"/>
          </p:cNvSpPr>
          <p:nvPr>
            <p:ph type="title"/>
          </p:nvPr>
        </p:nvSpPr>
        <p:spPr>
          <a:xfrm>
            <a:off x="839788" y="457200"/>
            <a:ext cx="4471951" cy="1600200"/>
          </a:xfrm>
          <a:ln>
            <a:solidFill>
              <a:schemeClr val="accent2"/>
            </a:solidFill>
          </a:ln>
        </p:spPr>
        <p:txBody>
          <a:bodyPr/>
          <a:lstStyle/>
          <a:p>
            <a:r>
              <a:rPr lang="en-US" b="1" dirty="0">
                <a:solidFill>
                  <a:srgbClr val="008000"/>
                </a:solidFill>
                <a:latin typeface="Arial" panose="020B0604020202020204" pitchFamily="34" charset="0"/>
                <a:cs typeface="Arial" panose="020B0604020202020204" pitchFamily="34" charset="0"/>
              </a:rPr>
              <a:t>Program Development Objective</a:t>
            </a:r>
            <a:endParaRPr lang="en-US" dirty="0"/>
          </a:p>
        </p:txBody>
      </p:sp>
      <p:pic>
        <p:nvPicPr>
          <p:cNvPr id="8" name="Content Placeholder 7">
            <a:extLst>
              <a:ext uri="{FF2B5EF4-FFF2-40B4-BE49-F238E27FC236}">
                <a16:creationId xmlns:a16="http://schemas.microsoft.com/office/drawing/2014/main" id="{CD465FE6-6924-5C53-0060-0C9940E4059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6096001" y="457200"/>
            <a:ext cx="5635888" cy="6293714"/>
          </a:xfrm>
        </p:spPr>
      </p:pic>
      <p:sp>
        <p:nvSpPr>
          <p:cNvPr id="6" name="Text Placeholder 5">
            <a:extLst>
              <a:ext uri="{FF2B5EF4-FFF2-40B4-BE49-F238E27FC236}">
                <a16:creationId xmlns:a16="http://schemas.microsoft.com/office/drawing/2014/main" id="{36CBEC91-47F7-8ED3-6FA3-38283F05CFCE}"/>
              </a:ext>
            </a:extLst>
          </p:cNvPr>
          <p:cNvSpPr>
            <a:spLocks noGrp="1"/>
          </p:cNvSpPr>
          <p:nvPr>
            <p:ph type="body" sz="half" idx="2"/>
          </p:nvPr>
        </p:nvSpPr>
        <p:spPr>
          <a:xfrm>
            <a:off x="839788" y="2170414"/>
            <a:ext cx="4471951" cy="4580500"/>
          </a:xfrm>
          <a:ln>
            <a:solidFill>
              <a:schemeClr val="accent2"/>
            </a:solidFill>
          </a:ln>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ea typeface="AR PL UKai CN" panose="02000503000000000000" pitchFamily="2" charset="-128"/>
                <a:cs typeface="Arial" panose="020B0604020202020204" pitchFamily="34" charset="0"/>
              </a:rPr>
              <a:t>To strengthen health system resilience and multisectoral preparedness for responding to health emergencies in Eastern and Southern Africa.</a:t>
            </a:r>
          </a:p>
          <a:p>
            <a:endParaRPr lang="en-US" dirty="0"/>
          </a:p>
        </p:txBody>
      </p:sp>
    </p:spTree>
    <p:extLst>
      <p:ext uri="{BB962C8B-B14F-4D97-AF65-F5344CB8AC3E}">
        <p14:creationId xmlns:p14="http://schemas.microsoft.com/office/powerpoint/2010/main" val="1496969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2" name="Title 1"/>
          <p:cNvSpPr>
            <a:spLocks noGrp="1"/>
          </p:cNvSpPr>
          <p:nvPr>
            <p:ph type="title"/>
          </p:nvPr>
        </p:nvSpPr>
        <p:spPr>
          <a:xfrm>
            <a:off x="841248" y="334644"/>
            <a:ext cx="10509504" cy="1076914"/>
          </a:xfrm>
        </p:spPr>
        <p:txBody>
          <a:bodyPr anchor="ctr">
            <a:normAutofit/>
          </a:bodyPr>
          <a:lstStyle/>
          <a:p>
            <a:r>
              <a:rPr lang="en-US" sz="2800" b="1" dirty="0">
                <a:solidFill>
                  <a:srgbClr val="008000"/>
                </a:solidFill>
                <a:latin typeface="Arial" panose="020B0604020202020204" pitchFamily="34" charset="0"/>
                <a:cs typeface="Arial" panose="020B0604020202020204" pitchFamily="34" charset="0"/>
              </a:rPr>
              <a:t>Project Data</a:t>
            </a:r>
          </a:p>
        </p:txBody>
      </p:sp>
      <p:sp>
        <p:nvSpPr>
          <p:cNvPr id="14" name="Rectangle 13">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6" name="Rectangle 15">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aphicFrame>
        <p:nvGraphicFramePr>
          <p:cNvPr id="7" name="Content Placeholder 4"/>
          <p:cNvGraphicFramePr>
            <a:graphicFrameLocks noGrp="1"/>
          </p:cNvGraphicFramePr>
          <p:nvPr>
            <p:ph idx="1"/>
            <p:extLst>
              <p:ext uri="{D42A27DB-BD31-4B8C-83A1-F6EECF244321}">
                <p14:modId xmlns:p14="http://schemas.microsoft.com/office/powerpoint/2010/main" val="336992220"/>
              </p:ext>
            </p:extLst>
          </p:nvPr>
        </p:nvGraphicFramePr>
        <p:xfrm>
          <a:off x="860258" y="1737360"/>
          <a:ext cx="10462340" cy="4618386"/>
        </p:xfrm>
        <a:graphic>
          <a:graphicData uri="http://schemas.openxmlformats.org/drawingml/2006/table">
            <a:tbl>
              <a:tblPr firstRow="1" bandRow="1">
                <a:tableStyleId>{93296810-A885-4BE3-A3E7-6D5BEEA58F35}</a:tableStyleId>
              </a:tblPr>
              <a:tblGrid>
                <a:gridCol w="5708517">
                  <a:extLst>
                    <a:ext uri="{9D8B030D-6E8A-4147-A177-3AD203B41FA5}">
                      <a16:colId xmlns:a16="http://schemas.microsoft.com/office/drawing/2014/main" val="4073128157"/>
                    </a:ext>
                  </a:extLst>
                </a:gridCol>
                <a:gridCol w="4753823">
                  <a:extLst>
                    <a:ext uri="{9D8B030D-6E8A-4147-A177-3AD203B41FA5}">
                      <a16:colId xmlns:a16="http://schemas.microsoft.com/office/drawing/2014/main" val="1738879967"/>
                    </a:ext>
                  </a:extLst>
                </a:gridCol>
              </a:tblGrid>
              <a:tr h="528349">
                <a:tc>
                  <a:txBody>
                    <a:bodyPr/>
                    <a:lstStyle/>
                    <a:p>
                      <a:pPr algn="ctr"/>
                      <a:r>
                        <a:rPr lang="en-US" sz="2700" b="1" dirty="0">
                          <a:solidFill>
                            <a:schemeClr val="bg1"/>
                          </a:solidFill>
                          <a:latin typeface="Arial" panose="020B0604020202020204" pitchFamily="34" charset="0"/>
                          <a:cs typeface="Arial" panose="020B0604020202020204" pitchFamily="34" charset="0"/>
                        </a:rPr>
                        <a:t>Description </a:t>
                      </a:r>
                    </a:p>
                  </a:txBody>
                  <a:tcPr marL="78468" marR="78468" marT="39234" marB="39234"/>
                </a:tc>
                <a:tc>
                  <a:txBody>
                    <a:bodyPr/>
                    <a:lstStyle/>
                    <a:p>
                      <a:pPr algn="l"/>
                      <a:r>
                        <a:rPr lang="en-US" sz="2700" b="1" dirty="0">
                          <a:solidFill>
                            <a:schemeClr val="bg1"/>
                          </a:solidFill>
                          <a:latin typeface="Arial" panose="020B0604020202020204" pitchFamily="34" charset="0"/>
                          <a:cs typeface="Arial" panose="020B0604020202020204" pitchFamily="34" charset="0"/>
                        </a:rPr>
                        <a:t>              Date</a:t>
                      </a:r>
                    </a:p>
                  </a:txBody>
                  <a:tcPr marL="78468" marR="78468" marT="39234" marB="39234"/>
                </a:tc>
                <a:extLst>
                  <a:ext uri="{0D108BD9-81ED-4DB2-BD59-A6C34878D82A}">
                    <a16:rowId xmlns:a16="http://schemas.microsoft.com/office/drawing/2014/main" val="3960839467"/>
                  </a:ext>
                </a:extLst>
              </a:tr>
              <a:tr h="611306">
                <a:tc>
                  <a:txBody>
                    <a:bodyPr/>
                    <a:lstStyle/>
                    <a:p>
                      <a:r>
                        <a:rPr lang="en-US" sz="2700" dirty="0">
                          <a:latin typeface="Arial" panose="020B0604020202020204" pitchFamily="34" charset="0"/>
                          <a:cs typeface="Arial" panose="020B0604020202020204" pitchFamily="34" charset="0"/>
                        </a:rPr>
                        <a:t>IGAD Financial Agreement Date </a:t>
                      </a:r>
                    </a:p>
                  </a:txBody>
                  <a:tcPr marL="78468" marR="78468" marT="39234" marB="39234"/>
                </a:tc>
                <a:tc>
                  <a:txBody>
                    <a:bodyPr/>
                    <a:lstStyle/>
                    <a:p>
                      <a:r>
                        <a:rPr lang="en-US" sz="2700" dirty="0">
                          <a:latin typeface="Arial" panose="020B0604020202020204" pitchFamily="34" charset="0"/>
                          <a:cs typeface="Arial" panose="020B0604020202020204" pitchFamily="34" charset="0"/>
                        </a:rPr>
                        <a:t>7</a:t>
                      </a:r>
                      <a:r>
                        <a:rPr lang="en-US" sz="2700" baseline="30000" dirty="0">
                          <a:latin typeface="Arial" panose="020B0604020202020204" pitchFamily="34" charset="0"/>
                          <a:cs typeface="Arial" panose="020B0604020202020204" pitchFamily="34" charset="0"/>
                        </a:rPr>
                        <a:t>th</a:t>
                      </a:r>
                      <a:r>
                        <a:rPr lang="en-US" sz="2700" dirty="0">
                          <a:latin typeface="Arial" panose="020B0604020202020204" pitchFamily="34" charset="0"/>
                          <a:cs typeface="Arial" panose="020B0604020202020204" pitchFamily="34" charset="0"/>
                        </a:rPr>
                        <a:t> December 2023</a:t>
                      </a:r>
                    </a:p>
                  </a:txBody>
                  <a:tcPr marL="78468" marR="78468" marT="39234" marB="39234"/>
                </a:tc>
                <a:extLst>
                  <a:ext uri="{0D108BD9-81ED-4DB2-BD59-A6C34878D82A}">
                    <a16:rowId xmlns:a16="http://schemas.microsoft.com/office/drawing/2014/main" val="4082691948"/>
                  </a:ext>
                </a:extLst>
              </a:tr>
              <a:tr h="528349">
                <a:tc>
                  <a:txBody>
                    <a:bodyPr/>
                    <a:lstStyle/>
                    <a:p>
                      <a:r>
                        <a:rPr lang="en-US" sz="2700" dirty="0">
                          <a:latin typeface="Arial" panose="020B0604020202020204" pitchFamily="34" charset="0"/>
                          <a:cs typeface="Arial" panose="020B0604020202020204" pitchFamily="34" charset="0"/>
                        </a:rPr>
                        <a:t>Effectiveness date</a:t>
                      </a:r>
                    </a:p>
                  </a:txBody>
                  <a:tcPr marL="78468" marR="78468" marT="39234" marB="39234"/>
                </a:tc>
                <a:tc>
                  <a:txBody>
                    <a:bodyPr/>
                    <a:lstStyle/>
                    <a:p>
                      <a:r>
                        <a:rPr lang="en-US" sz="2700" dirty="0">
                          <a:latin typeface="Arial" panose="020B0604020202020204" pitchFamily="34" charset="0"/>
                          <a:cs typeface="Arial" panose="020B0604020202020204" pitchFamily="34" charset="0"/>
                        </a:rPr>
                        <a:t>March</a:t>
                      </a:r>
                      <a:r>
                        <a:rPr lang="en-US" sz="2700" baseline="0" dirty="0">
                          <a:latin typeface="Arial" panose="020B0604020202020204" pitchFamily="34" charset="0"/>
                          <a:cs typeface="Arial" panose="020B0604020202020204" pitchFamily="34" charset="0"/>
                        </a:rPr>
                        <a:t> 7, 2024</a:t>
                      </a:r>
                      <a:endParaRPr lang="en-US" sz="2700" dirty="0">
                        <a:latin typeface="Arial" panose="020B0604020202020204" pitchFamily="34" charset="0"/>
                        <a:cs typeface="Arial" panose="020B0604020202020204" pitchFamily="34" charset="0"/>
                      </a:endParaRPr>
                    </a:p>
                  </a:txBody>
                  <a:tcPr marL="78468" marR="78468" marT="39234" marB="39234"/>
                </a:tc>
                <a:extLst>
                  <a:ext uri="{0D108BD9-81ED-4DB2-BD59-A6C34878D82A}">
                    <a16:rowId xmlns:a16="http://schemas.microsoft.com/office/drawing/2014/main" val="4255361287"/>
                  </a:ext>
                </a:extLst>
              </a:tr>
              <a:tr h="528349">
                <a:tc>
                  <a:txBody>
                    <a:bodyPr/>
                    <a:lstStyle/>
                    <a:p>
                      <a:r>
                        <a:rPr lang="en-US" sz="2700" dirty="0">
                          <a:latin typeface="Arial" panose="020B0604020202020204" pitchFamily="34" charset="0"/>
                          <a:cs typeface="Arial" panose="020B0604020202020204" pitchFamily="34" charset="0"/>
                        </a:rPr>
                        <a:t>Closing Date</a:t>
                      </a:r>
                      <a:r>
                        <a:rPr lang="en-US" sz="2700" baseline="0" dirty="0">
                          <a:latin typeface="Arial" panose="020B0604020202020204" pitchFamily="34" charset="0"/>
                          <a:cs typeface="Arial" panose="020B0604020202020204" pitchFamily="34" charset="0"/>
                        </a:rPr>
                        <a:t> of the Project </a:t>
                      </a:r>
                      <a:endParaRPr lang="en-US" sz="2700" dirty="0">
                        <a:latin typeface="Arial" panose="020B0604020202020204" pitchFamily="34" charset="0"/>
                        <a:cs typeface="Arial" panose="020B0604020202020204" pitchFamily="34" charset="0"/>
                      </a:endParaRPr>
                    </a:p>
                  </a:txBody>
                  <a:tcPr marL="78468" marR="78468" marT="39234" marB="39234"/>
                </a:tc>
                <a:tc>
                  <a:txBody>
                    <a:bodyPr/>
                    <a:lstStyle/>
                    <a:p>
                      <a:r>
                        <a:rPr lang="en-US" sz="2700" dirty="0">
                          <a:latin typeface="Arial" panose="020B0604020202020204" pitchFamily="34" charset="0"/>
                          <a:cs typeface="Arial" panose="020B0604020202020204" pitchFamily="34" charset="0"/>
                        </a:rPr>
                        <a:t>September 30, 2030</a:t>
                      </a:r>
                    </a:p>
                  </a:txBody>
                  <a:tcPr marL="78468" marR="78468" marT="39234" marB="39234"/>
                </a:tc>
                <a:extLst>
                  <a:ext uri="{0D108BD9-81ED-4DB2-BD59-A6C34878D82A}">
                    <a16:rowId xmlns:a16="http://schemas.microsoft.com/office/drawing/2014/main" val="1106761970"/>
                  </a:ext>
                </a:extLst>
              </a:tr>
              <a:tr h="528349">
                <a:tc>
                  <a:txBody>
                    <a:bodyPr/>
                    <a:lstStyle/>
                    <a:p>
                      <a:r>
                        <a:rPr lang="en-US" sz="2700" dirty="0">
                          <a:latin typeface="Arial" panose="020B0604020202020204" pitchFamily="34" charset="0"/>
                          <a:cs typeface="Arial" panose="020B0604020202020204" pitchFamily="34" charset="0"/>
                        </a:rPr>
                        <a:t>Project Amount</a:t>
                      </a:r>
                    </a:p>
                  </a:txBody>
                  <a:tcPr marL="78468" marR="78468" marT="39234" marB="39234"/>
                </a:tc>
                <a:tc>
                  <a:txBody>
                    <a:bodyPr/>
                    <a:lstStyle/>
                    <a:p>
                      <a:r>
                        <a:rPr lang="en-US" sz="2700" dirty="0">
                          <a:latin typeface="Arial" panose="020B0604020202020204" pitchFamily="34" charset="0"/>
                          <a:cs typeface="Arial" panose="020B0604020202020204" pitchFamily="34" charset="0"/>
                        </a:rPr>
                        <a:t>Us$ 19 Million (OF</a:t>
                      </a:r>
                      <a:r>
                        <a:rPr lang="en-US" sz="2700" baseline="0" dirty="0">
                          <a:latin typeface="Arial" panose="020B0604020202020204" pitchFamily="34" charset="0"/>
                          <a:cs typeface="Arial" panose="020B0604020202020204" pitchFamily="34" charset="0"/>
                        </a:rPr>
                        <a:t> &amp; AF)</a:t>
                      </a:r>
                      <a:endParaRPr lang="en-US" sz="2700" dirty="0">
                        <a:latin typeface="Arial" panose="020B0604020202020204" pitchFamily="34" charset="0"/>
                        <a:cs typeface="Arial" panose="020B0604020202020204" pitchFamily="34" charset="0"/>
                      </a:endParaRPr>
                    </a:p>
                  </a:txBody>
                  <a:tcPr marL="78468" marR="78468" marT="39234" marB="39234"/>
                </a:tc>
                <a:extLst>
                  <a:ext uri="{0D108BD9-81ED-4DB2-BD59-A6C34878D82A}">
                    <a16:rowId xmlns:a16="http://schemas.microsoft.com/office/drawing/2014/main" val="19482436"/>
                  </a:ext>
                </a:extLst>
              </a:tr>
              <a:tr h="946842">
                <a:tc>
                  <a:txBody>
                    <a:bodyPr/>
                    <a:lstStyle/>
                    <a:p>
                      <a:r>
                        <a:rPr lang="en-US" sz="2700" kern="1200" dirty="0">
                          <a:solidFill>
                            <a:schemeClr val="dk1"/>
                          </a:solidFill>
                          <a:latin typeface="Arial" panose="020B0604020202020204" pitchFamily="34" charset="0"/>
                          <a:cs typeface="Arial" panose="020B0604020202020204" pitchFamily="34" charset="0"/>
                        </a:rPr>
                        <a:t>Disbursement up</a:t>
                      </a:r>
                      <a:r>
                        <a:rPr lang="en-US" sz="2700" kern="1200" baseline="0" dirty="0">
                          <a:solidFill>
                            <a:schemeClr val="dk1"/>
                          </a:solidFill>
                          <a:latin typeface="Arial" panose="020B0604020202020204" pitchFamily="34" charset="0"/>
                          <a:cs typeface="Arial" panose="020B0604020202020204" pitchFamily="34" charset="0"/>
                        </a:rPr>
                        <a:t> to June</a:t>
                      </a:r>
                      <a:r>
                        <a:rPr lang="en-US" sz="2700" kern="1200" dirty="0">
                          <a:solidFill>
                            <a:schemeClr val="dk1"/>
                          </a:solidFill>
                          <a:latin typeface="Arial" panose="020B0604020202020204" pitchFamily="34" charset="0"/>
                          <a:cs typeface="Arial" panose="020B0604020202020204" pitchFamily="34" charset="0"/>
                        </a:rPr>
                        <a:t>  2026</a:t>
                      </a:r>
                      <a:endParaRPr lang="en-US" sz="2700" kern="1200" dirty="0">
                        <a:solidFill>
                          <a:schemeClr val="dk1"/>
                        </a:solidFill>
                        <a:latin typeface="Arial" panose="020B0604020202020204" pitchFamily="34" charset="0"/>
                        <a:ea typeface="+mn-ea"/>
                        <a:cs typeface="Arial" panose="020B0604020202020204" pitchFamily="34" charset="0"/>
                      </a:endParaRPr>
                    </a:p>
                  </a:txBody>
                  <a:tcPr marL="78468" marR="78468" marT="39234" marB="39234"/>
                </a:tc>
                <a:tc>
                  <a:txBody>
                    <a:bodyPr/>
                    <a:lstStyle/>
                    <a:p>
                      <a:r>
                        <a:rPr lang="en-US" sz="2700" kern="1200" dirty="0">
                          <a:solidFill>
                            <a:schemeClr val="dk1"/>
                          </a:solidFill>
                          <a:latin typeface="Arial" panose="020B0604020202020204" pitchFamily="34" charset="0"/>
                          <a:cs typeface="Arial" panose="020B0604020202020204" pitchFamily="34" charset="0"/>
                        </a:rPr>
                        <a:t>US$ </a:t>
                      </a:r>
                      <a:r>
                        <a:rPr lang="en-AE" sz="2700" b="0" u="none" strike="noStrike" kern="1200" dirty="0">
                          <a:solidFill>
                            <a:srgbClr val="000000"/>
                          </a:solidFill>
                          <a:effectLst/>
                          <a:latin typeface="Arial" panose="020B0604020202020204" pitchFamily="34" charset="0"/>
                          <a:cs typeface="Arial" panose="020B0604020202020204" pitchFamily="34" charset="0"/>
                        </a:rPr>
                        <a:t> </a:t>
                      </a:r>
                      <a:r>
                        <a:rPr lang="en-AE" sz="2700" b="0" u="none" strike="noStrike" dirty="0">
                          <a:solidFill>
                            <a:srgbClr val="000000"/>
                          </a:solidFill>
                          <a:effectLst/>
                          <a:latin typeface="Arial" panose="020B0604020202020204" pitchFamily="34" charset="0"/>
                          <a:cs typeface="Arial" panose="020B0604020202020204" pitchFamily="34" charset="0"/>
                        </a:rPr>
                        <a:t>8,714,663 (46% of the project amount)</a:t>
                      </a:r>
                      <a:endParaRPr lang="en-US" sz="2700" kern="1200" dirty="0">
                        <a:solidFill>
                          <a:schemeClr val="dk1"/>
                        </a:solidFill>
                        <a:latin typeface="Arial" panose="020B0604020202020204" pitchFamily="34" charset="0"/>
                        <a:ea typeface="+mn-ea"/>
                        <a:cs typeface="Arial" panose="020B0604020202020204" pitchFamily="34" charset="0"/>
                      </a:endParaRPr>
                    </a:p>
                  </a:txBody>
                  <a:tcPr marL="78468" marR="78468" marT="39234" marB="39234"/>
                </a:tc>
                <a:extLst>
                  <a:ext uri="{0D108BD9-81ED-4DB2-BD59-A6C34878D82A}">
                    <a16:rowId xmlns:a16="http://schemas.microsoft.com/office/drawing/2014/main" val="2347279260"/>
                  </a:ext>
                </a:extLst>
              </a:tr>
              <a:tr h="946842">
                <a:tc>
                  <a:txBody>
                    <a:bodyPr/>
                    <a:lstStyle/>
                    <a:p>
                      <a:pPr algn="l" fontAlgn="b"/>
                      <a:r>
                        <a:rPr lang="en-US" sz="2700" b="0" u="none" strike="noStrike" dirty="0">
                          <a:solidFill>
                            <a:srgbClr val="000000"/>
                          </a:solidFill>
                          <a:effectLst/>
                          <a:latin typeface="Arial" panose="020B0604020202020204" pitchFamily="34" charset="0"/>
                          <a:cs typeface="Arial" panose="020B0604020202020204" pitchFamily="34" charset="0"/>
                        </a:rPr>
                        <a:t>Burn rate: </a:t>
                      </a:r>
                    </a:p>
                    <a:p>
                      <a:pPr algn="l" fontAlgn="b"/>
                      <a:r>
                        <a:rPr lang="en-US" sz="2700" b="0" u="none" strike="noStrike" dirty="0">
                          <a:solidFill>
                            <a:srgbClr val="000000"/>
                          </a:solidFill>
                          <a:effectLst/>
                          <a:latin typeface="Arial" panose="020B0604020202020204" pitchFamily="34" charset="0"/>
                          <a:cs typeface="Arial" panose="020B0604020202020204" pitchFamily="34" charset="0"/>
                        </a:rPr>
                        <a:t>   (expenditure vs. funds received)</a:t>
                      </a:r>
                      <a:endParaRPr lang="lv-LV" sz="2700" b="0" i="0" u="none" strike="noStrike" dirty="0">
                        <a:solidFill>
                          <a:srgbClr val="000000"/>
                        </a:solidFill>
                        <a:effectLst/>
                        <a:latin typeface="Arial" panose="020B0604020202020204" pitchFamily="34" charset="0"/>
                        <a:cs typeface="Arial" panose="020B0604020202020204" pitchFamily="34" charset="0"/>
                      </a:endParaRPr>
                    </a:p>
                  </a:txBody>
                  <a:tcPr marL="78468" marR="78468" marT="39234" marB="39234"/>
                </a:tc>
                <a:tc>
                  <a:txBody>
                    <a:bodyPr/>
                    <a:lstStyle/>
                    <a:p>
                      <a:r>
                        <a:rPr lang="en-US" sz="2700" kern="1200" dirty="0">
                          <a:solidFill>
                            <a:schemeClr val="dk1"/>
                          </a:solidFill>
                          <a:latin typeface="Arial" panose="020B0604020202020204" pitchFamily="34" charset="0"/>
                          <a:cs typeface="Arial" panose="020B0604020202020204" pitchFamily="34" charset="0"/>
                        </a:rPr>
                        <a:t>US$ </a:t>
                      </a:r>
                      <a:r>
                        <a:rPr lang="en-US" sz="2700" b="0" u="none" strike="noStrike" dirty="0">
                          <a:solidFill>
                            <a:srgbClr val="000000"/>
                          </a:solidFill>
                          <a:effectLst/>
                          <a:latin typeface="Arial" panose="020B0604020202020204" pitchFamily="34" charset="0"/>
                          <a:cs typeface="Arial" panose="020B0604020202020204" pitchFamily="34" charset="0"/>
                        </a:rPr>
                        <a:t>6,024,801</a:t>
                      </a:r>
                      <a:r>
                        <a:rPr lang="en-US" sz="2700" kern="1200" dirty="0">
                          <a:solidFill>
                            <a:schemeClr val="dk1"/>
                          </a:solidFill>
                          <a:latin typeface="Arial" panose="020B0604020202020204" pitchFamily="34" charset="0"/>
                          <a:cs typeface="Arial" panose="020B0604020202020204" pitchFamily="34" charset="0"/>
                        </a:rPr>
                        <a:t> (69% of the disbursed amount)</a:t>
                      </a:r>
                      <a:endParaRPr lang="en-US" sz="2700" kern="1200" dirty="0">
                        <a:solidFill>
                          <a:schemeClr val="dk1"/>
                        </a:solidFill>
                        <a:latin typeface="Arial" panose="020B0604020202020204" pitchFamily="34" charset="0"/>
                        <a:ea typeface="+mn-ea"/>
                        <a:cs typeface="Arial" panose="020B0604020202020204" pitchFamily="34" charset="0"/>
                      </a:endParaRPr>
                    </a:p>
                  </a:txBody>
                  <a:tcPr marL="78468" marR="78468" marT="39234" marB="39234"/>
                </a:tc>
                <a:extLst>
                  <a:ext uri="{0D108BD9-81ED-4DB2-BD59-A6C34878D82A}">
                    <a16:rowId xmlns:a16="http://schemas.microsoft.com/office/drawing/2014/main" val="4116883869"/>
                  </a:ext>
                </a:extLst>
              </a:tr>
            </a:tbl>
          </a:graphicData>
        </a:graphic>
      </p:graphicFrame>
    </p:spTree>
    <p:custDataLst>
      <p:tags r:id="rId1"/>
    </p:custDataLst>
    <p:extLst>
      <p:ext uri="{BB962C8B-B14F-4D97-AF65-F5344CB8AC3E}">
        <p14:creationId xmlns:p14="http://schemas.microsoft.com/office/powerpoint/2010/main" val="3239929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647908-C192-7497-AC99-32D22669B547}"/>
              </a:ext>
            </a:extLst>
          </p:cNvPr>
          <p:cNvSpPr>
            <a:spLocks noGrp="1"/>
          </p:cNvSpPr>
          <p:nvPr>
            <p:ph type="title"/>
          </p:nvPr>
        </p:nvSpPr>
        <p:spPr>
          <a:xfrm>
            <a:off x="839787" y="365125"/>
            <a:ext cx="11158809" cy="1106835"/>
          </a:xfrm>
          <a:ln>
            <a:solidFill>
              <a:schemeClr val="accent2"/>
            </a:solidFill>
          </a:ln>
        </p:spPr>
        <p:txBody>
          <a:bodyPr>
            <a:normAutofit/>
          </a:bodyPr>
          <a:lstStyle/>
          <a:p>
            <a:r>
              <a:rPr lang="en-US" sz="2800" b="1" dirty="0">
                <a:solidFill>
                  <a:srgbClr val="008000"/>
                </a:solidFill>
                <a:latin typeface="Arial" panose="020B0604020202020204" pitchFamily="34" charset="0"/>
                <a:cs typeface="Arial" panose="020B0604020202020204" pitchFamily="34" charset="0"/>
              </a:rPr>
              <a:t>Strategic Focus of The IGAD Regional Component</a:t>
            </a:r>
            <a:endParaRPr lang="en-US" sz="2800" b="1" dirty="0"/>
          </a:p>
        </p:txBody>
      </p:sp>
      <p:sp>
        <p:nvSpPr>
          <p:cNvPr id="6" name="Content Placeholder 5">
            <a:extLst>
              <a:ext uri="{FF2B5EF4-FFF2-40B4-BE49-F238E27FC236}">
                <a16:creationId xmlns:a16="http://schemas.microsoft.com/office/drawing/2014/main" id="{3A8EB57A-FC44-600A-D50B-F2000DE30034}"/>
              </a:ext>
            </a:extLst>
          </p:cNvPr>
          <p:cNvSpPr>
            <a:spLocks noGrp="1"/>
          </p:cNvSpPr>
          <p:nvPr>
            <p:ph sz="half" idx="2"/>
          </p:nvPr>
        </p:nvSpPr>
        <p:spPr>
          <a:xfrm>
            <a:off x="836613" y="1958664"/>
            <a:ext cx="4014167" cy="4319473"/>
          </a:xfrm>
        </p:spPr>
        <p:txBody>
          <a:bodyPr>
            <a:normAutofit fontScale="92500" lnSpcReduction="20000"/>
          </a:bodyPr>
          <a:lstStyle/>
          <a:p>
            <a:r>
              <a:rPr lang="en-US" dirty="0">
                <a:cs typeface="Arial" panose="020B0604020202020204" pitchFamily="34" charset="0"/>
              </a:rPr>
              <a:t>Climate and Health</a:t>
            </a:r>
          </a:p>
          <a:p>
            <a:r>
              <a:rPr lang="en-US" dirty="0">
                <a:cs typeface="Arial" panose="020B0604020202020204" pitchFamily="34" charset="0"/>
              </a:rPr>
              <a:t>Workforce development</a:t>
            </a:r>
          </a:p>
          <a:p>
            <a:r>
              <a:rPr lang="en-US" dirty="0">
                <a:cs typeface="Arial" panose="020B0604020202020204" pitchFamily="34" charset="0"/>
              </a:rPr>
              <a:t>Local Manufacturing</a:t>
            </a:r>
          </a:p>
          <a:p>
            <a:r>
              <a:rPr lang="en-US" dirty="0">
                <a:cs typeface="Arial" panose="020B0604020202020204" pitchFamily="34" charset="0"/>
              </a:rPr>
              <a:t>Cross border collaboration</a:t>
            </a:r>
          </a:p>
          <a:p>
            <a:r>
              <a:rPr lang="en-US" dirty="0">
                <a:cs typeface="Arial" panose="020B0604020202020204" pitchFamily="34" charset="0"/>
              </a:rPr>
              <a:t>Collaborative Surveillance </a:t>
            </a:r>
          </a:p>
          <a:p>
            <a:r>
              <a:rPr lang="en-US" dirty="0">
                <a:cs typeface="Arial" panose="020B0604020202020204" pitchFamily="34" charset="0"/>
              </a:rPr>
              <a:t>NCDs and Mental Health</a:t>
            </a:r>
          </a:p>
          <a:p>
            <a:r>
              <a:rPr lang="en-US" dirty="0">
                <a:cs typeface="Arial" panose="020B0604020202020204" pitchFamily="34" charset="0"/>
              </a:rPr>
              <a:t>Gender and Equity integration </a:t>
            </a:r>
          </a:p>
          <a:p>
            <a:endParaRPr lang="en-US" dirty="0">
              <a:cs typeface="Arial" panose="020B0604020202020204" pitchFamily="34" charset="0"/>
            </a:endParaRPr>
          </a:p>
        </p:txBody>
      </p:sp>
      <p:pic>
        <p:nvPicPr>
          <p:cNvPr id="10" name="Content Placeholder 9">
            <a:extLst>
              <a:ext uri="{FF2B5EF4-FFF2-40B4-BE49-F238E27FC236}">
                <a16:creationId xmlns:a16="http://schemas.microsoft.com/office/drawing/2014/main" id="{D28229E6-87E7-4C17-8189-0EDB633005F3}"/>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999823" y="1958664"/>
            <a:ext cx="6998774" cy="3801295"/>
          </a:xfrm>
        </p:spPr>
      </p:pic>
    </p:spTree>
    <p:extLst>
      <p:ext uri="{BB962C8B-B14F-4D97-AF65-F5344CB8AC3E}">
        <p14:creationId xmlns:p14="http://schemas.microsoft.com/office/powerpoint/2010/main" val="2396743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11DD7-876F-B6C7-DD1B-DD652D2AA66B}"/>
              </a:ext>
            </a:extLst>
          </p:cNvPr>
          <p:cNvSpPr>
            <a:spLocks noGrp="1"/>
          </p:cNvSpPr>
          <p:nvPr>
            <p:ph type="title"/>
          </p:nvPr>
        </p:nvSpPr>
        <p:spPr>
          <a:xfrm>
            <a:off x="0" y="0"/>
            <a:ext cx="12192000" cy="589037"/>
          </a:xfrm>
          <a:ln>
            <a:solidFill>
              <a:srgbClr val="FFC000"/>
            </a:solidFill>
          </a:ln>
        </p:spPr>
        <p:txBody>
          <a:bodyPr>
            <a:noAutofit/>
          </a:bodyPr>
          <a:lstStyle/>
          <a:p>
            <a:r>
              <a:rPr lang="en-US" sz="2800" kern="1200" dirty="0">
                <a:solidFill>
                  <a:srgbClr val="008000"/>
                </a:solidFill>
                <a:ea typeface="+mj-ea"/>
              </a:rPr>
              <a:t> Delineation of Interventions </a:t>
            </a:r>
          </a:p>
        </p:txBody>
      </p:sp>
      <p:graphicFrame>
        <p:nvGraphicFramePr>
          <p:cNvPr id="4" name="Content Placeholder 3">
            <a:extLst>
              <a:ext uri="{FF2B5EF4-FFF2-40B4-BE49-F238E27FC236}">
                <a16:creationId xmlns:a16="http://schemas.microsoft.com/office/drawing/2014/main" id="{DD92D681-F951-C13F-6884-FF153BA10D56}"/>
              </a:ext>
            </a:extLst>
          </p:cNvPr>
          <p:cNvGraphicFramePr>
            <a:graphicFrameLocks noGrp="1"/>
          </p:cNvGraphicFramePr>
          <p:nvPr>
            <p:ph idx="1"/>
            <p:extLst>
              <p:ext uri="{D42A27DB-BD31-4B8C-83A1-F6EECF244321}">
                <p14:modId xmlns:p14="http://schemas.microsoft.com/office/powerpoint/2010/main" val="1824442513"/>
              </p:ext>
            </p:extLst>
          </p:nvPr>
        </p:nvGraphicFramePr>
        <p:xfrm>
          <a:off x="178419" y="589037"/>
          <a:ext cx="11835161" cy="6583288"/>
        </p:xfrm>
        <a:graphic>
          <a:graphicData uri="http://schemas.openxmlformats.org/drawingml/2006/table">
            <a:tbl>
              <a:tblPr firstRow="1" firstCol="1" bandRow="1"/>
              <a:tblGrid>
                <a:gridCol w="5836961">
                  <a:extLst>
                    <a:ext uri="{9D8B030D-6E8A-4147-A177-3AD203B41FA5}">
                      <a16:colId xmlns:a16="http://schemas.microsoft.com/office/drawing/2014/main" val="1675311610"/>
                    </a:ext>
                  </a:extLst>
                </a:gridCol>
                <a:gridCol w="5998200">
                  <a:extLst>
                    <a:ext uri="{9D8B030D-6E8A-4147-A177-3AD203B41FA5}">
                      <a16:colId xmlns:a16="http://schemas.microsoft.com/office/drawing/2014/main" val="189268342"/>
                    </a:ext>
                  </a:extLst>
                </a:gridCol>
              </a:tblGrid>
              <a:tr h="5926821">
                <a:tc>
                  <a:txBody>
                    <a:bodyPr/>
                    <a:lstStyle/>
                    <a:p>
                      <a:pPr marL="0" marR="0" algn="l">
                        <a:lnSpc>
                          <a:spcPct val="107000"/>
                        </a:lnSpc>
                        <a:spcBef>
                          <a:spcPts val="0"/>
                        </a:spcBef>
                        <a:spcAft>
                          <a:spcPts val="0"/>
                        </a:spcAft>
                      </a:pPr>
                      <a:r>
                        <a:rPr lang="en-US" sz="2000" b="1" dirty="0">
                          <a:solidFill>
                            <a:srgbClr val="000000"/>
                          </a:solidFill>
                          <a:effectLst/>
                          <a:latin typeface="Arial" panose="020B0604020202020204" pitchFamily="34" charset="0"/>
                          <a:ea typeface="+mj-ea"/>
                          <a:cs typeface="Arial" panose="020B0604020202020204" pitchFamily="34" charset="0"/>
                        </a:rPr>
                        <a:t>IGAD</a:t>
                      </a:r>
                      <a:endParaRPr lang="en-US" sz="2000" b="1"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mj-ea"/>
                          <a:cs typeface="Arial" panose="020B0604020202020204" pitchFamily="34" charset="0"/>
                        </a:rPr>
                        <a:t>Policy, harmonization, and high-level coordination </a:t>
                      </a: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mj-ea"/>
                          <a:cs typeface="Arial" panose="020B0604020202020204" pitchFamily="34" charset="0"/>
                        </a:rPr>
                        <a:t>Climate</a:t>
                      </a:r>
                      <a:r>
                        <a:rPr lang="en-US" sz="2000" b="0" baseline="0" dirty="0">
                          <a:solidFill>
                            <a:srgbClr val="000000"/>
                          </a:solidFill>
                          <a:effectLst/>
                          <a:latin typeface="Arial" panose="020B0604020202020204" pitchFamily="34" charset="0"/>
                          <a:ea typeface="+mj-ea"/>
                          <a:cs typeface="Arial" panose="020B0604020202020204" pitchFamily="34" charset="0"/>
                        </a:rPr>
                        <a:t> and</a:t>
                      </a:r>
                      <a:r>
                        <a:rPr lang="en-US" sz="2000" b="0" dirty="0">
                          <a:solidFill>
                            <a:srgbClr val="000000"/>
                          </a:solidFill>
                          <a:effectLst/>
                          <a:latin typeface="Arial" panose="020B0604020202020204" pitchFamily="34" charset="0"/>
                          <a:ea typeface="+mj-ea"/>
                          <a:cs typeface="Arial" panose="020B0604020202020204" pitchFamily="34" charset="0"/>
                        </a:rPr>
                        <a:t> Health and One Health</a:t>
                      </a: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mj-ea"/>
                          <a:cs typeface="Arial" panose="020B0604020202020204" pitchFamily="34" charset="0"/>
                        </a:rPr>
                        <a:t>Human resources development on aspects of technical areas under the IGAD. </a:t>
                      </a:r>
                      <a:r>
                        <a:rPr lang="en-US" sz="2000" b="1" dirty="0">
                          <a:solidFill>
                            <a:srgbClr val="000000"/>
                          </a:solidFill>
                          <a:effectLst/>
                          <a:latin typeface="Arial" panose="020B0604020202020204" pitchFamily="34" charset="0"/>
                          <a:ea typeface="+mj-ea"/>
                          <a:cs typeface="Arial" panose="020B0604020202020204" pitchFamily="34" charset="0"/>
                        </a:rPr>
                        <a:t>Policy matters related to HRH under IGAD but the lead is ECSA-HC</a:t>
                      </a:r>
                      <a:endParaRPr lang="en-US" sz="2000" b="1"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GB" sz="2000" b="0" u="none" strike="noStrike" dirty="0">
                          <a:effectLst/>
                          <a:latin typeface="Arial" panose="020B0604020202020204" pitchFamily="34" charset="0"/>
                          <a:cs typeface="Arial" panose="020B0604020202020204" pitchFamily="34" charset="0"/>
                        </a:rPr>
                        <a:t>Access to quality health commodities,  local vaccine and pharmaceutical manufacturing</a:t>
                      </a:r>
                      <a:r>
                        <a:rPr lang="en-US" sz="2000" b="0" dirty="0">
                          <a:solidFill>
                            <a:srgbClr val="000000"/>
                          </a:solidFill>
                          <a:effectLst/>
                          <a:latin typeface="Arial" panose="020B0604020202020204" pitchFamily="34" charset="0"/>
                          <a:ea typeface="+mj-ea"/>
                          <a:cs typeface="Arial" panose="020B0604020202020204" pitchFamily="34" charset="0"/>
                        </a:rPr>
                        <a:t> </a:t>
                      </a: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mj-ea"/>
                          <a:cs typeface="Arial" panose="020B0604020202020204" pitchFamily="34" charset="0"/>
                        </a:rPr>
                        <a:t>Gender and equity consideration</a:t>
                      </a: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mj-ea"/>
                          <a:cs typeface="Arial" panose="020B0604020202020204" pitchFamily="34" charset="0"/>
                        </a:rPr>
                        <a:t>Health information systems and digitalization but the </a:t>
                      </a:r>
                      <a:r>
                        <a:rPr lang="en-US" sz="2000" b="1" dirty="0">
                          <a:solidFill>
                            <a:srgbClr val="000000"/>
                          </a:solidFill>
                          <a:effectLst/>
                          <a:latin typeface="Arial" panose="020B0604020202020204" pitchFamily="34" charset="0"/>
                          <a:ea typeface="+mj-ea"/>
                          <a:cs typeface="Arial" panose="020B0604020202020204" pitchFamily="34" charset="0"/>
                        </a:rPr>
                        <a:t>lead is ECSA-HC </a:t>
                      </a:r>
                      <a:endParaRPr lang="en-US" sz="2000" b="1"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mj-ea"/>
                          <a:cs typeface="Arial" panose="020B0604020202020204" pitchFamily="34" charset="0"/>
                        </a:rPr>
                        <a:t>Cross border collaboration and essential services continuity </a:t>
                      </a: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mj-ea"/>
                          <a:cs typeface="Arial" panose="020B0604020202020204" pitchFamily="34" charset="0"/>
                        </a:rPr>
                        <a:t>Mental health Psychosocial Support and NCDs</a:t>
                      </a: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mj-ea"/>
                          <a:cs typeface="Arial" panose="020B0604020202020204" pitchFamily="34" charset="0"/>
                        </a:rPr>
                        <a:t>Co-convening of </a:t>
                      </a:r>
                      <a:r>
                        <a:rPr lang="en-US" sz="2000" b="1" dirty="0">
                          <a:solidFill>
                            <a:srgbClr val="000000"/>
                          </a:solidFill>
                          <a:effectLst/>
                          <a:latin typeface="Arial" panose="020B0604020202020204" pitchFamily="34" charset="0"/>
                          <a:ea typeface="+mj-ea"/>
                          <a:cs typeface="Arial" panose="020B0604020202020204" pitchFamily="34" charset="0"/>
                        </a:rPr>
                        <a:t>RAC</a:t>
                      </a:r>
                      <a:r>
                        <a:rPr lang="en-US" sz="2000" b="0" dirty="0">
                          <a:solidFill>
                            <a:srgbClr val="000000"/>
                          </a:solidFill>
                          <a:effectLst/>
                          <a:latin typeface="Arial" panose="020B0604020202020204" pitchFamily="34" charset="0"/>
                          <a:ea typeface="+mj-ea"/>
                          <a:cs typeface="Arial" panose="020B0604020202020204" pitchFamily="34" charset="0"/>
                        </a:rPr>
                        <a:t> and Communities of Practice (</a:t>
                      </a:r>
                      <a:r>
                        <a:rPr lang="en-US" sz="2000" b="1" dirty="0">
                          <a:solidFill>
                            <a:srgbClr val="000000"/>
                          </a:solidFill>
                          <a:effectLst/>
                          <a:latin typeface="Arial" panose="020B0604020202020204" pitchFamily="34" charset="0"/>
                          <a:ea typeface="+mj-ea"/>
                          <a:cs typeface="Arial" panose="020B0604020202020204" pitchFamily="34" charset="0"/>
                        </a:rPr>
                        <a:t>COPs</a:t>
                      </a:r>
                      <a:r>
                        <a:rPr lang="en-US" sz="2000" b="0" dirty="0">
                          <a:solidFill>
                            <a:srgbClr val="000000"/>
                          </a:solidFill>
                          <a:effectLst/>
                          <a:latin typeface="Arial" panose="020B0604020202020204" pitchFamily="34" charset="0"/>
                          <a:ea typeface="+mj-ea"/>
                          <a:cs typeface="Arial" panose="020B0604020202020204" pitchFamily="34" charset="0"/>
                        </a:rPr>
                        <a:t>) (facilitate country &amp; regional learning and knowledge exchange) – </a:t>
                      </a:r>
                      <a:r>
                        <a:rPr lang="en-US" sz="2000" b="1" dirty="0">
                          <a:solidFill>
                            <a:srgbClr val="000000"/>
                          </a:solidFill>
                          <a:effectLst/>
                          <a:latin typeface="Arial" panose="020B0604020202020204" pitchFamily="34" charset="0"/>
                          <a:ea typeface="+mj-ea"/>
                          <a:cs typeface="Arial" panose="020B0604020202020204" pitchFamily="34" charset="0"/>
                        </a:rPr>
                        <a:t>(Co-lead)</a:t>
                      </a:r>
                      <a:endParaRPr lang="en-US" sz="2000" b="1"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txBody>
                  <a:tcPr marL="31153" marR="31153" marT="539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28600" marR="0" algn="l">
                        <a:lnSpc>
                          <a:spcPct val="107000"/>
                        </a:lnSpc>
                        <a:spcBef>
                          <a:spcPts val="0"/>
                        </a:spcBef>
                        <a:spcAft>
                          <a:spcPts val="0"/>
                        </a:spcAft>
                      </a:pPr>
                      <a:r>
                        <a:rPr lang="en-US" sz="20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ECSA-HC</a:t>
                      </a:r>
                      <a:endParaRPr lang="en-US" sz="2000" b="1"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Human resources development on aspects on technical areas under the ECSA-HC</a:t>
                      </a: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Health information systems and digitalization </a:t>
                      </a: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Communicable diseases surveillance, cross-border surveillance including PoE, AMR </a:t>
                      </a: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Laboratory systems improvement</a:t>
                      </a: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Management of emergency preparedness and response interventions including joint/intercountry response and essential services continuity </a:t>
                      </a: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 communication and community engagement (RCCE) and health information systems</a:t>
                      </a: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Coordinate M&amp;E activities</a:t>
                      </a: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p>
                      <a:pPr marL="342900" marR="0" lvl="0" indent="-342900" algn="l">
                        <a:lnSpc>
                          <a:spcPct val="107000"/>
                        </a:lnSpc>
                        <a:spcBef>
                          <a:spcPts val="0"/>
                        </a:spcBef>
                        <a:spcAft>
                          <a:spcPts val="0"/>
                        </a:spcAft>
                        <a:buFont typeface="+mj-lt"/>
                        <a:buAutoNum type="arabicPeriod"/>
                        <a:tabLst>
                          <a:tab pos="457200" algn="l"/>
                        </a:tabLst>
                      </a:pPr>
                      <a:r>
                        <a:rPr lang="en-US" sz="20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Co-convening of the RAC and selected Communities of Practice (facilitate country &amp; regional learning and knowledge exchange) - (Co-lead)</a:t>
                      </a: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txBody>
                  <a:tcPr marL="31153" marR="31153" marT="539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6365997"/>
                  </a:ext>
                </a:extLst>
              </a:tr>
              <a:tr h="342142">
                <a:tc gridSpan="2">
                  <a:txBody>
                    <a:bodyPr/>
                    <a:lstStyle/>
                    <a:p>
                      <a:pPr marL="0" marR="0" algn="l">
                        <a:lnSpc>
                          <a:spcPct val="107000"/>
                        </a:lnSpc>
                        <a:spcBef>
                          <a:spcPts val="0"/>
                        </a:spcBef>
                        <a:spcAft>
                          <a:spcPts val="0"/>
                        </a:spcAft>
                      </a:pPr>
                      <a:endParaRPr lang="en-US" sz="2000" b="0" dirty="0">
                        <a:solidFill>
                          <a:srgbClr val="000000"/>
                        </a:solidFill>
                        <a:effectLst/>
                        <a:latin typeface="Arial" panose="020B0604020202020204" pitchFamily="34" charset="0"/>
                        <a:ea typeface="Yu Mincho" panose="02020400000000000000" pitchFamily="18" charset="-128"/>
                        <a:cs typeface="Arial" panose="020B0604020202020204" pitchFamily="34" charset="0"/>
                      </a:endParaRPr>
                    </a:p>
                  </a:txBody>
                  <a:tcPr marL="31153" marR="31153" marT="539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502865311"/>
                  </a:ext>
                </a:extLst>
              </a:tr>
            </a:tbl>
          </a:graphicData>
        </a:graphic>
      </p:graphicFrame>
    </p:spTree>
    <p:custDataLst>
      <p:tags r:id="rId1"/>
    </p:custDataLst>
    <p:extLst>
      <p:ext uri="{BB962C8B-B14F-4D97-AF65-F5344CB8AC3E}">
        <p14:creationId xmlns:p14="http://schemas.microsoft.com/office/powerpoint/2010/main" val="164124341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48237-8957-F31D-B811-AAE7B5653333}"/>
              </a:ext>
            </a:extLst>
          </p:cNvPr>
          <p:cNvSpPr>
            <a:spLocks noGrp="1"/>
          </p:cNvSpPr>
          <p:nvPr>
            <p:ph type="title"/>
          </p:nvPr>
        </p:nvSpPr>
        <p:spPr>
          <a:xfrm>
            <a:off x="414067" y="365125"/>
            <a:ext cx="11542143" cy="1015101"/>
          </a:xfrm>
          <a:ln>
            <a:solidFill>
              <a:srgbClr val="FFC000"/>
            </a:solidFill>
          </a:ln>
        </p:spPr>
        <p:txBody>
          <a:bodyPr>
            <a:normAutofit fontScale="90000"/>
          </a:bodyPr>
          <a:lstStyle/>
          <a:p>
            <a:pPr algn="ctr"/>
            <a:r>
              <a:rPr lang="en-US" sz="3600" b="1" dirty="0"/>
              <a:t>IGAD HEPRR MPA 2026 Annual Work Plan: Implementation Progress (January–June 2026)</a:t>
            </a:r>
          </a:p>
        </p:txBody>
      </p:sp>
      <p:graphicFrame>
        <p:nvGraphicFramePr>
          <p:cNvPr id="4" name="Content Placeholder 3">
            <a:extLst>
              <a:ext uri="{FF2B5EF4-FFF2-40B4-BE49-F238E27FC236}">
                <a16:creationId xmlns:a16="http://schemas.microsoft.com/office/drawing/2014/main" id="{F736EA4D-4BAB-69F7-0488-7785833080E4}"/>
              </a:ext>
            </a:extLst>
          </p:cNvPr>
          <p:cNvGraphicFramePr>
            <a:graphicFrameLocks noGrp="1"/>
          </p:cNvGraphicFramePr>
          <p:nvPr>
            <p:ph idx="1"/>
            <p:extLst>
              <p:ext uri="{D42A27DB-BD31-4B8C-83A1-F6EECF244321}">
                <p14:modId xmlns:p14="http://schemas.microsoft.com/office/powerpoint/2010/main" val="1948982700"/>
              </p:ext>
            </p:extLst>
          </p:nvPr>
        </p:nvGraphicFramePr>
        <p:xfrm>
          <a:off x="414067" y="1725283"/>
          <a:ext cx="11542144" cy="4857270"/>
        </p:xfrm>
        <a:graphic>
          <a:graphicData uri="http://schemas.openxmlformats.org/drawingml/2006/table">
            <a:tbl>
              <a:tblPr firstRow="1" bandRow="1">
                <a:tableStyleId>{5C22544A-7EE6-4342-B048-85BDC9FD1C3A}</a:tableStyleId>
              </a:tblPr>
              <a:tblGrid>
                <a:gridCol w="4209691">
                  <a:extLst>
                    <a:ext uri="{9D8B030D-6E8A-4147-A177-3AD203B41FA5}">
                      <a16:colId xmlns:a16="http://schemas.microsoft.com/office/drawing/2014/main" val="489644466"/>
                    </a:ext>
                  </a:extLst>
                </a:gridCol>
                <a:gridCol w="3444389">
                  <a:extLst>
                    <a:ext uri="{9D8B030D-6E8A-4147-A177-3AD203B41FA5}">
                      <a16:colId xmlns:a16="http://schemas.microsoft.com/office/drawing/2014/main" val="2675832173"/>
                    </a:ext>
                  </a:extLst>
                </a:gridCol>
                <a:gridCol w="3888064">
                  <a:extLst>
                    <a:ext uri="{9D8B030D-6E8A-4147-A177-3AD203B41FA5}">
                      <a16:colId xmlns:a16="http://schemas.microsoft.com/office/drawing/2014/main" val="3505545629"/>
                    </a:ext>
                  </a:extLst>
                </a:gridCol>
              </a:tblGrid>
              <a:tr h="953518">
                <a:tc>
                  <a:txBody>
                    <a:bodyPr/>
                    <a:lstStyle/>
                    <a:p>
                      <a:pPr lvl="0" algn="l"/>
                      <a:r>
                        <a:rPr lang="en-US" sz="2800" b="1" dirty="0">
                          <a:solidFill>
                            <a:schemeClr val="tx1"/>
                          </a:solidFill>
                          <a:latin typeface="Arial" panose="020B0604020202020204" pitchFamily="34" charset="0"/>
                          <a:cs typeface="Arial" panose="020B0604020202020204" pitchFamily="34" charset="0"/>
                        </a:rPr>
                        <a:t>Status</a:t>
                      </a:r>
                    </a:p>
                  </a:txBody>
                  <a:tcPr>
                    <a:solidFill>
                      <a:schemeClr val="accent1">
                        <a:lumMod val="20000"/>
                        <a:lumOff val="80000"/>
                      </a:schemeClr>
                    </a:solidFill>
                  </a:tcPr>
                </a:tc>
                <a:tc>
                  <a:txBody>
                    <a:bodyPr/>
                    <a:lstStyle/>
                    <a:p>
                      <a:pPr lvl="0" algn="ctr">
                        <a:buNone/>
                      </a:pPr>
                      <a:r>
                        <a:rPr lang="en-US" sz="2800" b="1" dirty="0">
                          <a:solidFill>
                            <a:schemeClr val="tx1"/>
                          </a:solidFill>
                          <a:latin typeface="Arial" panose="020B0604020202020204" pitchFamily="34" charset="0"/>
                          <a:cs typeface="Arial" panose="020B0604020202020204" pitchFamily="34" charset="0"/>
                        </a:rPr>
                        <a:t>No. of Activities</a:t>
                      </a:r>
                    </a:p>
                  </a:txBody>
                  <a:tcPr anchor="ctr">
                    <a:solidFill>
                      <a:schemeClr val="accent1">
                        <a:lumMod val="20000"/>
                        <a:lumOff val="80000"/>
                      </a:schemeClr>
                    </a:solidFill>
                  </a:tcPr>
                </a:tc>
                <a:tc>
                  <a:txBody>
                    <a:bodyPr/>
                    <a:lstStyle/>
                    <a:p>
                      <a:pPr lvl="0" algn="ctr">
                        <a:buNone/>
                      </a:pPr>
                      <a:r>
                        <a:rPr lang="en-US" sz="2800" b="1" dirty="0">
                          <a:solidFill>
                            <a:schemeClr val="tx1"/>
                          </a:solidFill>
                          <a:latin typeface="Arial" panose="020B0604020202020204" pitchFamily="34" charset="0"/>
                          <a:cs typeface="Arial" panose="020B0604020202020204" pitchFamily="34" charset="0"/>
                        </a:rPr>
                        <a:t>%</a:t>
                      </a:r>
                    </a:p>
                  </a:txBody>
                  <a:tcPr anchor="ctr">
                    <a:solidFill>
                      <a:schemeClr val="accent1">
                        <a:lumMod val="20000"/>
                        <a:lumOff val="80000"/>
                      </a:schemeClr>
                    </a:solidFill>
                  </a:tcPr>
                </a:tc>
                <a:extLst>
                  <a:ext uri="{0D108BD9-81ED-4DB2-BD59-A6C34878D82A}">
                    <a16:rowId xmlns:a16="http://schemas.microsoft.com/office/drawing/2014/main" val="1567296557"/>
                  </a:ext>
                </a:extLst>
              </a:tr>
              <a:tr h="953518">
                <a:tc>
                  <a:txBody>
                    <a:bodyPr/>
                    <a:lstStyle/>
                    <a:p>
                      <a:pPr algn="l"/>
                      <a:r>
                        <a:rPr lang="en-US" sz="2800" dirty="0">
                          <a:solidFill>
                            <a:schemeClr val="tx1"/>
                          </a:solidFill>
                          <a:latin typeface="Arial" panose="020B0604020202020204" pitchFamily="34" charset="0"/>
                          <a:cs typeface="Arial" panose="020B0604020202020204" pitchFamily="34" charset="0"/>
                        </a:rPr>
                        <a:t>Completed</a:t>
                      </a:r>
                    </a:p>
                  </a:txBody>
                  <a:tcPr/>
                </a:tc>
                <a:tc>
                  <a:txBody>
                    <a:bodyPr/>
                    <a:lstStyle/>
                    <a:p>
                      <a:pPr algn="ctr"/>
                      <a:r>
                        <a:rPr lang="en-US" sz="2800" dirty="0">
                          <a:latin typeface="Arial" panose="020B0604020202020204" pitchFamily="34" charset="0"/>
                          <a:cs typeface="Arial" panose="020B0604020202020204" pitchFamily="34" charset="0"/>
                        </a:rPr>
                        <a:t>15</a:t>
                      </a:r>
                    </a:p>
                  </a:txBody>
                  <a:tcPr/>
                </a:tc>
                <a:tc>
                  <a:txBody>
                    <a:bodyPr/>
                    <a:lstStyle/>
                    <a:p>
                      <a:pPr algn="ctr"/>
                      <a:r>
                        <a:rPr lang="en-US" sz="2800" dirty="0">
                          <a:latin typeface="Arial" panose="020B0604020202020204" pitchFamily="34" charset="0"/>
                          <a:cs typeface="Arial" panose="020B0604020202020204" pitchFamily="34" charset="0"/>
                        </a:rPr>
                        <a:t>28</a:t>
                      </a:r>
                    </a:p>
                  </a:txBody>
                  <a:tcPr/>
                </a:tc>
                <a:extLst>
                  <a:ext uri="{0D108BD9-81ED-4DB2-BD59-A6C34878D82A}">
                    <a16:rowId xmlns:a16="http://schemas.microsoft.com/office/drawing/2014/main" val="4102817978"/>
                  </a:ext>
                </a:extLst>
              </a:tr>
              <a:tr h="1043198">
                <a:tc>
                  <a:txBody>
                    <a:bodyPr/>
                    <a:lstStyle/>
                    <a:p>
                      <a:pPr algn="l"/>
                      <a:r>
                        <a:rPr lang="en-US" sz="2800" dirty="0">
                          <a:solidFill>
                            <a:schemeClr val="tx1"/>
                          </a:solidFill>
                          <a:latin typeface="Arial" panose="020B0604020202020204" pitchFamily="34" charset="0"/>
                          <a:cs typeface="Arial" panose="020B0604020202020204" pitchFamily="34" charset="0"/>
                        </a:rPr>
                        <a:t>Ongoing</a:t>
                      </a:r>
                    </a:p>
                  </a:txBody>
                  <a:tcPr/>
                </a:tc>
                <a:tc>
                  <a:txBody>
                    <a:bodyPr/>
                    <a:lstStyle/>
                    <a:p>
                      <a:pPr algn="ctr"/>
                      <a:r>
                        <a:rPr lang="en-US" sz="2800" dirty="0">
                          <a:latin typeface="Arial" panose="020B0604020202020204" pitchFamily="34" charset="0"/>
                          <a:cs typeface="Arial" panose="020B0604020202020204" pitchFamily="34" charset="0"/>
                        </a:rPr>
                        <a:t>19</a:t>
                      </a:r>
                    </a:p>
                  </a:txBody>
                  <a:tcPr/>
                </a:tc>
                <a:tc>
                  <a:txBody>
                    <a:bodyPr/>
                    <a:lstStyle/>
                    <a:p>
                      <a:pPr algn="ctr"/>
                      <a:r>
                        <a:rPr lang="en-US" sz="2800" dirty="0">
                          <a:latin typeface="Arial" panose="020B0604020202020204" pitchFamily="34" charset="0"/>
                          <a:cs typeface="Arial" panose="020B0604020202020204" pitchFamily="34" charset="0"/>
                        </a:rPr>
                        <a:t>35</a:t>
                      </a:r>
                    </a:p>
                  </a:txBody>
                  <a:tcPr/>
                </a:tc>
                <a:extLst>
                  <a:ext uri="{0D108BD9-81ED-4DB2-BD59-A6C34878D82A}">
                    <a16:rowId xmlns:a16="http://schemas.microsoft.com/office/drawing/2014/main" val="2547301120"/>
                  </a:ext>
                </a:extLst>
              </a:tr>
              <a:tr h="953518">
                <a:tc>
                  <a:txBody>
                    <a:bodyPr/>
                    <a:lstStyle/>
                    <a:p>
                      <a:pPr algn="l"/>
                      <a:r>
                        <a:rPr lang="en-US" sz="2800" dirty="0">
                          <a:solidFill>
                            <a:schemeClr val="tx1"/>
                          </a:solidFill>
                          <a:latin typeface="Arial" panose="020B0604020202020204" pitchFamily="34" charset="0"/>
                          <a:cs typeface="Arial" panose="020B0604020202020204" pitchFamily="34" charset="0"/>
                        </a:rPr>
                        <a:t>Planned for Jul–Dec</a:t>
                      </a:r>
                    </a:p>
                  </a:txBody>
                  <a:tcPr/>
                </a:tc>
                <a:tc>
                  <a:txBody>
                    <a:bodyPr/>
                    <a:lstStyle/>
                    <a:p>
                      <a:pPr algn="ctr"/>
                      <a:r>
                        <a:rPr lang="en-US" sz="2800" dirty="0">
                          <a:latin typeface="Arial" panose="020B0604020202020204" pitchFamily="34" charset="0"/>
                          <a:cs typeface="Arial" panose="020B0604020202020204" pitchFamily="34" charset="0"/>
                        </a:rPr>
                        <a:t>20</a:t>
                      </a:r>
                    </a:p>
                  </a:txBody>
                  <a:tcPr/>
                </a:tc>
                <a:tc>
                  <a:txBody>
                    <a:bodyPr/>
                    <a:lstStyle/>
                    <a:p>
                      <a:pPr algn="ctr"/>
                      <a:r>
                        <a:rPr lang="en-US" sz="2800" dirty="0">
                          <a:latin typeface="Arial" panose="020B0604020202020204" pitchFamily="34" charset="0"/>
                          <a:cs typeface="Arial" panose="020B0604020202020204" pitchFamily="34" charset="0"/>
                        </a:rPr>
                        <a:t>37</a:t>
                      </a:r>
                    </a:p>
                  </a:txBody>
                  <a:tcPr/>
                </a:tc>
                <a:extLst>
                  <a:ext uri="{0D108BD9-81ED-4DB2-BD59-A6C34878D82A}">
                    <a16:rowId xmlns:a16="http://schemas.microsoft.com/office/drawing/2014/main" val="3125561146"/>
                  </a:ext>
                </a:extLst>
              </a:tr>
              <a:tr h="953518">
                <a:tc>
                  <a:txBody>
                    <a:bodyPr/>
                    <a:lstStyle/>
                    <a:p>
                      <a:pPr algn="l"/>
                      <a:r>
                        <a:rPr lang="en-US" sz="2800" b="1" dirty="0">
                          <a:solidFill>
                            <a:schemeClr val="tx1"/>
                          </a:solidFill>
                          <a:latin typeface="Arial" panose="020B0604020202020204" pitchFamily="34" charset="0"/>
                          <a:cs typeface="Arial" panose="020B0604020202020204" pitchFamily="34" charset="0"/>
                        </a:rPr>
                        <a:t>Total AWP Activities</a:t>
                      </a:r>
                    </a:p>
                  </a:txBody>
                  <a:tcPr/>
                </a:tc>
                <a:tc>
                  <a:txBody>
                    <a:bodyPr/>
                    <a:lstStyle/>
                    <a:p>
                      <a:pPr algn="ctr"/>
                      <a:r>
                        <a:rPr lang="en-US" sz="2800" b="1" dirty="0">
                          <a:latin typeface="Arial" panose="020B0604020202020204" pitchFamily="34" charset="0"/>
                          <a:cs typeface="Arial" panose="020B0604020202020204" pitchFamily="34" charset="0"/>
                        </a:rPr>
                        <a:t>54</a:t>
                      </a:r>
                    </a:p>
                  </a:txBody>
                  <a:tcPr/>
                </a:tc>
                <a:tc>
                  <a:txBody>
                    <a:bodyPr/>
                    <a:lstStyle/>
                    <a:p>
                      <a:pPr algn="ctr"/>
                      <a:r>
                        <a:rPr lang="en-US" sz="2800" b="1" dirty="0">
                          <a:latin typeface="Arial" panose="020B0604020202020204" pitchFamily="34" charset="0"/>
                          <a:cs typeface="Arial" panose="020B0604020202020204" pitchFamily="34" charset="0"/>
                        </a:rPr>
                        <a:t>100</a:t>
                      </a:r>
                    </a:p>
                  </a:txBody>
                  <a:tcPr/>
                </a:tc>
                <a:extLst>
                  <a:ext uri="{0D108BD9-81ED-4DB2-BD59-A6C34878D82A}">
                    <a16:rowId xmlns:a16="http://schemas.microsoft.com/office/drawing/2014/main" val="1931714690"/>
                  </a:ext>
                </a:extLst>
              </a:tr>
            </a:tbl>
          </a:graphicData>
        </a:graphic>
      </p:graphicFrame>
    </p:spTree>
    <p:custDataLst>
      <p:tags r:id="rId1"/>
    </p:custDataLst>
    <p:extLst>
      <p:ext uri="{BB962C8B-B14F-4D97-AF65-F5344CB8AC3E}">
        <p14:creationId xmlns:p14="http://schemas.microsoft.com/office/powerpoint/2010/main" val="46208419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9E5D7-7F6E-A1A4-2D63-7CCD09396EC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C215C3-2D7B-9AE7-A452-3CF7C2A8B8A6}"/>
              </a:ext>
            </a:extLst>
          </p:cNvPr>
          <p:cNvSpPr txBox="1"/>
          <p:nvPr/>
        </p:nvSpPr>
        <p:spPr>
          <a:xfrm>
            <a:off x="1378428" y="1482616"/>
            <a:ext cx="9562531" cy="3354765"/>
          </a:xfrm>
          <a:prstGeom prst="rect">
            <a:avLst/>
          </a:prstGeom>
          <a:noFill/>
          <a:ln>
            <a:solidFill>
              <a:schemeClr val="accent2"/>
            </a:solidFill>
          </a:ln>
        </p:spPr>
        <p:txBody>
          <a:bodyPr wrap="square" rtlCol="0">
            <a:spAutoFit/>
          </a:bodyPr>
          <a:lstStyle/>
          <a:p>
            <a:endParaRPr lang="en-US" sz="2400" b="1" dirty="0">
              <a:latin typeface="Arial" panose="020B0604020202020204" pitchFamily="34" charset="0"/>
              <a:cs typeface="Arial" panose="020B0604020202020204" pitchFamily="34" charset="0"/>
            </a:endParaRPr>
          </a:p>
          <a:p>
            <a:pPr algn="ctr"/>
            <a:br>
              <a:rPr kumimoji="0" lang="en-US" sz="2800" b="1" i="0" u="none" strike="noStrike" kern="1200" cap="none" spc="0" normalizeH="0" baseline="0" noProof="0" dirty="0">
                <a:ln>
                  <a:noFill/>
                </a:ln>
                <a:solidFill>
                  <a:srgbClr val="008000"/>
                </a:solidFill>
                <a:effectLst/>
                <a:uLnTx/>
                <a:uFillTx/>
                <a:latin typeface="Arial" panose="020B0604020202020204" pitchFamily="34" charset="0"/>
                <a:ea typeface="+mj-ea"/>
                <a:cs typeface="Arial" panose="020B0604020202020204" pitchFamily="34" charset="0"/>
              </a:rPr>
            </a:br>
            <a:r>
              <a:rPr lang="en-US" sz="3200" b="1" dirty="0">
                <a:solidFill>
                  <a:srgbClr val="008000"/>
                </a:solidFill>
                <a:latin typeface="Arial" panose="020B0604020202020204" pitchFamily="34" charset="0"/>
                <a:ea typeface="+mj-ea"/>
                <a:cs typeface="Arial" panose="020B0604020202020204" pitchFamily="34" charset="0"/>
              </a:rPr>
              <a:t>Component 1:1 </a:t>
            </a:r>
          </a:p>
          <a:p>
            <a:pPr algn="ctr"/>
            <a:r>
              <a:rPr lang="en-US" sz="3200" b="1" dirty="0">
                <a:solidFill>
                  <a:srgbClr val="000000"/>
                </a:solidFill>
                <a:latin typeface="Arial" panose="020B0604020202020204" pitchFamily="34" charset="0"/>
                <a:ea typeface="Yu Mincho" panose="02020400000000000000" pitchFamily="18" charset="-128"/>
                <a:cs typeface="Arial" panose="020B0604020202020204" pitchFamily="34" charset="0"/>
              </a:rPr>
              <a:t>Strengthening the preparedness and resilience of regional systems to manage health emergencies</a:t>
            </a:r>
            <a:br>
              <a:rPr lang="en-US" sz="3200" b="1"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sz="3200" b="1" dirty="0">
              <a:latin typeface="Arial" panose="020B0604020202020204" pitchFamily="34" charset="0"/>
              <a:cs typeface="Arial" panose="020B0604020202020204" pitchFamily="34" charset="0"/>
            </a:endParaRPr>
          </a:p>
        </p:txBody>
      </p:sp>
      <p:pic>
        <p:nvPicPr>
          <p:cNvPr id="5" name="Picture 14" descr="C:\Users\Ketema\Documents\IGAD-Dec 2019\IGAD-New-LOGO\Logo w_ island_P.jpg">
            <a:extLst>
              <a:ext uri="{FF2B5EF4-FFF2-40B4-BE49-F238E27FC236}">
                <a16:creationId xmlns:a16="http://schemas.microsoft.com/office/drawing/2014/main" id="{AFAF9E76-94E7-B02B-4B0B-4039E70223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0885"/>
          <a:stretch>
            <a:fillRect/>
          </a:stretch>
        </p:blipFill>
        <p:spPr bwMode="auto">
          <a:xfrm>
            <a:off x="4747383" y="30327"/>
            <a:ext cx="2022043" cy="1265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780697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69589-5886-E32F-8EB5-DCF3F62965FA}"/>
              </a:ext>
            </a:extLst>
          </p:cNvPr>
          <p:cNvSpPr>
            <a:spLocks noGrp="1"/>
          </p:cNvSpPr>
          <p:nvPr>
            <p:ph type="title"/>
          </p:nvPr>
        </p:nvSpPr>
        <p:spPr>
          <a:xfrm>
            <a:off x="127644" y="141892"/>
            <a:ext cx="11977735" cy="793269"/>
          </a:xfrm>
          <a:ln>
            <a:solidFill>
              <a:schemeClr val="accent2"/>
            </a:solidFill>
          </a:ln>
        </p:spPr>
        <p:txBody>
          <a:bodyPr>
            <a:normAutofit fontScale="90000"/>
          </a:bodyPr>
          <a:lstStyle/>
          <a:p>
            <a:br>
              <a:rPr lang="en-US" b="1"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3100" b="1" dirty="0">
                <a:solidFill>
                  <a:srgbClr val="00B050"/>
                </a:solidFill>
                <a:latin typeface="Arial" panose="020B0604020202020204" pitchFamily="34" charset="0"/>
                <a:ea typeface="Yu Mincho" panose="02020400000000000000" pitchFamily="18" charset="-128"/>
                <a:cs typeface="Arial" panose="020B0604020202020204" pitchFamily="34" charset="0"/>
              </a:rPr>
              <a:t>Component 1.1: Strengthening multisectoral collaboration and partnerships </a:t>
            </a:r>
            <a:br>
              <a:rPr lang="en-US" b="1"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b="1" dirty="0"/>
          </a:p>
        </p:txBody>
      </p:sp>
      <p:sp>
        <p:nvSpPr>
          <p:cNvPr id="3" name="Content Placeholder 2">
            <a:extLst>
              <a:ext uri="{FF2B5EF4-FFF2-40B4-BE49-F238E27FC236}">
                <a16:creationId xmlns:a16="http://schemas.microsoft.com/office/drawing/2014/main" id="{A2733DA4-5CA5-DE08-857B-751750B45467}"/>
              </a:ext>
            </a:extLst>
          </p:cNvPr>
          <p:cNvSpPr>
            <a:spLocks noGrp="1"/>
          </p:cNvSpPr>
          <p:nvPr>
            <p:ph idx="1"/>
          </p:nvPr>
        </p:nvSpPr>
        <p:spPr>
          <a:xfrm>
            <a:off x="86620" y="1123950"/>
            <a:ext cx="12018759" cy="5592158"/>
          </a:xfrm>
          <a:ln>
            <a:solidFill>
              <a:schemeClr val="accent2"/>
            </a:solidFill>
          </a:ln>
        </p:spPr>
        <p:txBody>
          <a:bodyPr>
            <a:normAutofit lnSpcReduction="10000"/>
          </a:bodyPr>
          <a:lstStyle/>
          <a:p>
            <a:r>
              <a:rPr lang="en-GB" sz="2600" b="1" dirty="0"/>
              <a:t>Establish effective Partnerships</a:t>
            </a:r>
            <a:r>
              <a:rPr lang="en-GB" sz="2600" dirty="0"/>
              <a:t>: for implementation of MPA program </a:t>
            </a:r>
            <a:endParaRPr lang="en-US" sz="2600" dirty="0"/>
          </a:p>
          <a:p>
            <a:pPr lvl="1">
              <a:buFont typeface="Wingdings" panose="05000000000000000000" pitchFamily="2" charset="2"/>
              <a:buChar char="§"/>
            </a:pPr>
            <a:r>
              <a:rPr lang="en-US" sz="2600" b="1" dirty="0"/>
              <a:t>MOUs</a:t>
            </a:r>
            <a:r>
              <a:rPr lang="en-US" sz="2600" dirty="0"/>
              <a:t> with participating countries </a:t>
            </a:r>
          </a:p>
          <a:p>
            <a:pPr lvl="1"/>
            <a:r>
              <a:rPr lang="en-US" sz="2600" dirty="0"/>
              <a:t>Signed with Mozambique</a:t>
            </a:r>
          </a:p>
          <a:p>
            <a:pPr lvl="1"/>
            <a:r>
              <a:rPr lang="en-US" sz="2600" dirty="0"/>
              <a:t>Drafting and revision of the MOU with Botswana</a:t>
            </a:r>
          </a:p>
          <a:p>
            <a:pPr lvl="1"/>
            <a:r>
              <a:rPr lang="en-US" sz="2600" dirty="0"/>
              <a:t>MOU with Angola not initiated yet (as last MOU)</a:t>
            </a:r>
          </a:p>
          <a:p>
            <a:pPr marL="457200" lvl="1" indent="0">
              <a:buNone/>
            </a:pPr>
            <a:endParaRPr lang="en-US" sz="2600" b="1" dirty="0"/>
          </a:p>
          <a:p>
            <a:r>
              <a:rPr lang="en-US" sz="3000" b="1" dirty="0"/>
              <a:t>RECs engagement:</a:t>
            </a:r>
          </a:p>
          <a:p>
            <a:pPr lvl="1">
              <a:buFont typeface="Wingdings" panose="05000000000000000000" pitchFamily="2" charset="2"/>
              <a:buChar char="§"/>
            </a:pPr>
            <a:r>
              <a:rPr lang="en-US" sz="2600" dirty="0"/>
              <a:t>Participation of RECs in all IGAD regional activities including the virtual events </a:t>
            </a:r>
          </a:p>
          <a:p>
            <a:pPr lvl="1">
              <a:buFont typeface="Wingdings" panose="05000000000000000000" pitchFamily="2" charset="2"/>
              <a:buChar char="§"/>
            </a:pPr>
            <a:r>
              <a:rPr lang="en-US" sz="2600" dirty="0"/>
              <a:t>IGAD is engaged in events organized by RECs (</a:t>
            </a:r>
            <a:r>
              <a:rPr lang="en-US" sz="2600" dirty="0" err="1"/>
              <a:t>e.g</a:t>
            </a:r>
            <a:r>
              <a:rPr lang="en-US" sz="2600" dirty="0"/>
              <a:t> COMESA-green manufacturing event)</a:t>
            </a:r>
          </a:p>
          <a:p>
            <a:pPr lvl="1">
              <a:buFont typeface="Wingdings" panose="05000000000000000000" pitchFamily="2" charset="2"/>
              <a:buChar char="§"/>
            </a:pPr>
            <a:r>
              <a:rPr lang="en-US" sz="2600" dirty="0"/>
              <a:t>Inter-RECs meeting in coordination with SADC as Chair of RECs is planned for August </a:t>
            </a:r>
            <a:r>
              <a:rPr lang="en-US" sz="2600" b="1" dirty="0"/>
              <a:t>19 to 21 August </a:t>
            </a:r>
            <a:r>
              <a:rPr lang="en-US" sz="2600" dirty="0"/>
              <a:t>in Addis Ababa (back to back with RC Ministerial meeting) with identification of local manufacturing as focus area for discussion</a:t>
            </a:r>
          </a:p>
          <a:p>
            <a:endParaRPr lang="en-GB" sz="2600" dirty="0"/>
          </a:p>
          <a:p>
            <a:pPr lvl="1"/>
            <a:endParaRPr lang="en-US" sz="2600" dirty="0"/>
          </a:p>
          <a:p>
            <a:endParaRPr lang="en-US" sz="2600" dirty="0"/>
          </a:p>
          <a:p>
            <a:pPr lvl="1"/>
            <a:endParaRPr lang="en-US" sz="2600" dirty="0"/>
          </a:p>
        </p:txBody>
      </p:sp>
    </p:spTree>
    <p:custDataLst>
      <p:tags r:id="rId1"/>
    </p:custDataLst>
    <p:extLst>
      <p:ext uri="{BB962C8B-B14F-4D97-AF65-F5344CB8AC3E}">
        <p14:creationId xmlns:p14="http://schemas.microsoft.com/office/powerpoint/2010/main" val="3794487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46E97-7A00-A5D1-3518-A13B8C430BDA}"/>
              </a:ext>
            </a:extLst>
          </p:cNvPr>
          <p:cNvSpPr>
            <a:spLocks noGrp="1"/>
          </p:cNvSpPr>
          <p:nvPr>
            <p:ph type="title"/>
          </p:nvPr>
        </p:nvSpPr>
        <p:spPr>
          <a:xfrm>
            <a:off x="167833" y="133109"/>
            <a:ext cx="11939285" cy="1186405"/>
          </a:xfrm>
        </p:spPr>
        <p:txBody>
          <a:bodyPr>
            <a:noAutofit/>
          </a:bodyPr>
          <a:lstStyle/>
          <a:p>
            <a:r>
              <a:rPr lang="en-US" sz="3600" b="1" dirty="0">
                <a:solidFill>
                  <a:srgbClr val="00B050"/>
                </a:solidFill>
                <a:latin typeface="Arial" panose="020B0604020202020204" pitchFamily="34" charset="0"/>
              </a:rPr>
              <a:t>IGAD Emergency Ministerial Meeting on Ebola Virus Disease Outbreak Response </a:t>
            </a:r>
          </a:p>
        </p:txBody>
      </p:sp>
      <p:sp>
        <p:nvSpPr>
          <p:cNvPr id="3" name="Content Placeholder 2">
            <a:extLst>
              <a:ext uri="{FF2B5EF4-FFF2-40B4-BE49-F238E27FC236}">
                <a16:creationId xmlns:a16="http://schemas.microsoft.com/office/drawing/2014/main" id="{1D5094EE-0E4A-5D85-7CBA-8406A796DEBB}"/>
              </a:ext>
            </a:extLst>
          </p:cNvPr>
          <p:cNvSpPr>
            <a:spLocks noGrp="1"/>
          </p:cNvSpPr>
          <p:nvPr>
            <p:ph idx="1"/>
          </p:nvPr>
        </p:nvSpPr>
        <p:spPr>
          <a:xfrm>
            <a:off x="167833" y="1319514"/>
            <a:ext cx="12024167" cy="5405377"/>
          </a:xfrm>
        </p:spPr>
        <p:txBody>
          <a:bodyPr>
            <a:normAutofit/>
          </a:bodyPr>
          <a:lstStyle/>
          <a:p>
            <a:r>
              <a:rPr lang="en-US" sz="3200" dirty="0"/>
              <a:t>IGAD convened council of Health Ministers meeting virtually; 29</a:t>
            </a:r>
            <a:r>
              <a:rPr lang="en-US" sz="3200" baseline="30000" dirty="0"/>
              <a:t>th</a:t>
            </a:r>
            <a:r>
              <a:rPr lang="en-US" sz="3200" dirty="0"/>
              <a:t> May, 2026</a:t>
            </a:r>
          </a:p>
          <a:p>
            <a:r>
              <a:rPr lang="en-US" sz="3200" dirty="0"/>
              <a:t>In Collaboration with regional Partner organizations; WHO, IFRC and Pandemic Fund Secretariat and AFCDC  </a:t>
            </a:r>
          </a:p>
          <a:p>
            <a:r>
              <a:rPr lang="en-US" sz="3200" dirty="0"/>
              <a:t>EVD Declared as an event of regional concern </a:t>
            </a:r>
          </a:p>
          <a:p>
            <a:r>
              <a:rPr lang="en-US" sz="3200" dirty="0"/>
              <a:t>IGAD made a contribution USD 8.5 million for the regional support from the Pandemic Fund portfolio; </a:t>
            </a:r>
          </a:p>
          <a:p>
            <a:pPr lvl="1"/>
            <a:r>
              <a:rPr lang="en-US" sz="2800" dirty="0"/>
              <a:t>7 Million (1 Million for each of the 7 member states) </a:t>
            </a:r>
          </a:p>
          <a:p>
            <a:pPr lvl="1"/>
            <a:r>
              <a:rPr lang="en-US" sz="2800" dirty="0"/>
              <a:t>Additional 1.5 Million for Technical Assistance (TA) and Support for regional Coordination </a:t>
            </a:r>
          </a:p>
          <a:p>
            <a:pPr lvl="1"/>
            <a:r>
              <a:rPr lang="en-US" sz="2800" dirty="0"/>
              <a:t>IGAD developed and disseminated EVD guidance note </a:t>
            </a:r>
          </a:p>
          <a:p>
            <a:endParaRPr lang="en-US" sz="3200" dirty="0"/>
          </a:p>
        </p:txBody>
      </p:sp>
    </p:spTree>
    <p:extLst>
      <p:ext uri="{BB962C8B-B14F-4D97-AF65-F5344CB8AC3E}">
        <p14:creationId xmlns:p14="http://schemas.microsoft.com/office/powerpoint/2010/main" val="312430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69589-5886-E32F-8EB5-DCF3F62965FA}"/>
              </a:ext>
            </a:extLst>
          </p:cNvPr>
          <p:cNvSpPr>
            <a:spLocks noGrp="1"/>
          </p:cNvSpPr>
          <p:nvPr>
            <p:ph type="title"/>
          </p:nvPr>
        </p:nvSpPr>
        <p:spPr>
          <a:xfrm>
            <a:off x="127643" y="141892"/>
            <a:ext cx="11977735" cy="793269"/>
          </a:xfrm>
          <a:ln>
            <a:solidFill>
              <a:schemeClr val="accent2"/>
            </a:solidFill>
          </a:ln>
        </p:spPr>
        <p:txBody>
          <a:bodyPr>
            <a:normAutofit fontScale="90000"/>
          </a:bodyPr>
          <a:lstStyle/>
          <a:p>
            <a:br>
              <a:rPr lang="en-US" b="1"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3100" b="1" dirty="0">
                <a:solidFill>
                  <a:srgbClr val="00B050"/>
                </a:solidFill>
                <a:latin typeface="Arial" panose="020B0604020202020204" pitchFamily="34" charset="0"/>
                <a:ea typeface="Yu Mincho" panose="02020400000000000000" pitchFamily="18" charset="-128"/>
                <a:cs typeface="Arial" panose="020B0604020202020204" pitchFamily="34" charset="0"/>
              </a:rPr>
              <a:t>Component 1.1: Strengthening multisectoral collaboration and partnerships </a:t>
            </a:r>
            <a:br>
              <a:rPr lang="en-US" b="1"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b="1" dirty="0"/>
          </a:p>
        </p:txBody>
      </p:sp>
      <p:sp>
        <p:nvSpPr>
          <p:cNvPr id="9" name="TextBox 8">
            <a:extLst>
              <a:ext uri="{FF2B5EF4-FFF2-40B4-BE49-F238E27FC236}">
                <a16:creationId xmlns:a16="http://schemas.microsoft.com/office/drawing/2014/main" id="{84FA05B7-DD7A-6CB0-3FD0-B09A9F9A65D0}"/>
              </a:ext>
            </a:extLst>
          </p:cNvPr>
          <p:cNvSpPr txBox="1"/>
          <p:nvPr/>
        </p:nvSpPr>
        <p:spPr>
          <a:xfrm>
            <a:off x="213359" y="834590"/>
            <a:ext cx="11892019" cy="5878532"/>
          </a:xfrm>
          <a:prstGeom prst="rect">
            <a:avLst/>
          </a:prstGeom>
          <a:noFill/>
        </p:spPr>
        <p:txBody>
          <a:bodyPr wrap="square" rtlCol="0">
            <a:spAutoFit/>
          </a:bodyPr>
          <a:lstStyle/>
          <a:p>
            <a:r>
              <a:rPr lang="en-US" sz="3600" b="1" u="sng" dirty="0">
                <a:latin typeface="Arial" panose="020B0604020202020204" pitchFamily="34" charset="0"/>
              </a:rPr>
              <a:t>Climate and Health Nexus</a:t>
            </a:r>
          </a:p>
          <a:p>
            <a:pPr marL="914400" lvl="1" indent="-457200">
              <a:buFont typeface="Arial" panose="020B0604020202020204" pitchFamily="34" charset="0"/>
              <a:buChar char="•"/>
            </a:pPr>
            <a:r>
              <a:rPr lang="en-US" sz="2800" dirty="0">
                <a:latin typeface="Arial" panose="020B0604020202020204" pitchFamily="34" charset="0"/>
              </a:rPr>
              <a:t>Development of framework for four key climate priorities for implementation through the Community of Practice (COP) for Climate and Health:</a:t>
            </a:r>
          </a:p>
          <a:p>
            <a:pPr marL="1657350" lvl="3" indent="-285750">
              <a:buFont typeface="Courier New" panose="02070309020205020404" pitchFamily="49" charset="0"/>
              <a:buChar char="o"/>
            </a:pPr>
            <a:r>
              <a:rPr lang="en-US" sz="2000" dirty="0">
                <a:latin typeface="Arial" panose="020B0604020202020204" pitchFamily="34" charset="0"/>
              </a:rPr>
              <a:t>Preparedness to climate shocks </a:t>
            </a:r>
          </a:p>
          <a:p>
            <a:pPr marL="1657350" lvl="3" indent="-285750">
              <a:buFont typeface="Courier New" panose="02070309020205020404" pitchFamily="49" charset="0"/>
              <a:buChar char="o"/>
            </a:pPr>
            <a:r>
              <a:rPr lang="en-US" sz="2000" dirty="0">
                <a:latin typeface="Arial" panose="020B0604020202020204" pitchFamily="34" charset="0"/>
              </a:rPr>
              <a:t>Risk profiling </a:t>
            </a:r>
          </a:p>
          <a:p>
            <a:pPr marL="1657350" lvl="3" indent="-285750">
              <a:buFont typeface="Courier New" panose="02070309020205020404" pitchFamily="49" charset="0"/>
              <a:buChar char="o"/>
            </a:pPr>
            <a:r>
              <a:rPr lang="en-US" sz="2000" dirty="0">
                <a:latin typeface="Arial" panose="020B0604020202020204" pitchFamily="34" charset="0"/>
              </a:rPr>
              <a:t>Predictive modelling </a:t>
            </a:r>
          </a:p>
          <a:p>
            <a:pPr marL="1657350" lvl="3" indent="-285750">
              <a:buFont typeface="Courier New" panose="02070309020205020404" pitchFamily="49" charset="0"/>
              <a:buChar char="o"/>
            </a:pPr>
            <a:r>
              <a:rPr lang="en-US" sz="2000" dirty="0">
                <a:latin typeface="Arial" panose="020B0604020202020204" pitchFamily="34" charset="0"/>
              </a:rPr>
              <a:t>Vulnerability assessment </a:t>
            </a:r>
          </a:p>
          <a:p>
            <a:pPr marL="914400" lvl="1" indent="-457200">
              <a:buFont typeface="Arial" panose="020B0604020202020204" pitchFamily="34" charset="0"/>
              <a:buChar char="•"/>
            </a:pPr>
            <a:r>
              <a:rPr lang="en-US" sz="2800" dirty="0">
                <a:latin typeface="Arial" panose="020B0604020202020204" pitchFamily="34" charset="0"/>
              </a:rPr>
              <a:t>Climate and Health Expert recruitment has been concluded reporting on 1</a:t>
            </a:r>
            <a:r>
              <a:rPr lang="en-US" sz="2800" baseline="30000" dirty="0">
                <a:latin typeface="Arial" panose="020B0604020202020204" pitchFamily="34" charset="0"/>
              </a:rPr>
              <a:t>st</a:t>
            </a:r>
            <a:r>
              <a:rPr lang="en-US" sz="2800" dirty="0">
                <a:latin typeface="Arial" panose="020B0604020202020204" pitchFamily="34" charset="0"/>
              </a:rPr>
              <a:t> August and plan for orientation is developed</a:t>
            </a:r>
          </a:p>
          <a:p>
            <a:pPr marL="914400" lvl="1" indent="-457200">
              <a:buFont typeface="Arial" panose="020B0604020202020204" pitchFamily="34" charset="0"/>
              <a:buChar char="•"/>
            </a:pPr>
            <a:r>
              <a:rPr lang="en-US" sz="2800" dirty="0">
                <a:latin typeface="Arial" panose="020B0604020202020204" pitchFamily="34" charset="0"/>
              </a:rPr>
              <a:t>IGAD convened the GHACOF 72 Meeting </a:t>
            </a:r>
          </a:p>
          <a:p>
            <a:pPr marL="1371600" lvl="2" indent="-457200">
              <a:buFont typeface="Arial" panose="020B0604020202020204" pitchFamily="34" charset="0"/>
              <a:buChar char="•"/>
            </a:pPr>
            <a:r>
              <a:rPr lang="en-US" sz="2800" dirty="0">
                <a:latin typeface="Arial" panose="020B0604020202020204" pitchFamily="34" charset="0"/>
              </a:rPr>
              <a:t>MAM Forecasting done to enhance early warning systems     </a:t>
            </a:r>
          </a:p>
          <a:p>
            <a:pPr marL="914400" lvl="1" indent="-457200">
              <a:buFont typeface="Arial" panose="020B0604020202020204" pitchFamily="34" charset="0"/>
              <a:buChar char="•"/>
            </a:pPr>
            <a:r>
              <a:rPr lang="en-US" sz="2800" dirty="0">
                <a:latin typeface="Arial" panose="020B0604020202020204" pitchFamily="34" charset="0"/>
              </a:rPr>
              <a:t>COP 31 in Turkey: IGAD planning, Ministerial meeting for Climate and Health Ministers </a:t>
            </a:r>
          </a:p>
        </p:txBody>
      </p:sp>
    </p:spTree>
    <p:custDataLst>
      <p:tags r:id="rId1"/>
    </p:custDataLst>
    <p:extLst>
      <p:ext uri="{BB962C8B-B14F-4D97-AF65-F5344CB8AC3E}">
        <p14:creationId xmlns:p14="http://schemas.microsoft.com/office/powerpoint/2010/main" val="1097909888"/>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69589-5886-E32F-8EB5-DCF3F62965FA}"/>
              </a:ext>
            </a:extLst>
          </p:cNvPr>
          <p:cNvSpPr>
            <a:spLocks noGrp="1"/>
          </p:cNvSpPr>
          <p:nvPr>
            <p:ph type="title"/>
          </p:nvPr>
        </p:nvSpPr>
        <p:spPr>
          <a:xfrm>
            <a:off x="127643" y="141892"/>
            <a:ext cx="11977735" cy="793269"/>
          </a:xfrm>
          <a:ln>
            <a:solidFill>
              <a:schemeClr val="accent2"/>
            </a:solidFill>
          </a:ln>
        </p:spPr>
        <p:txBody>
          <a:bodyPr>
            <a:normAutofit fontScale="90000"/>
          </a:bodyPr>
          <a:lstStyle/>
          <a:p>
            <a:br>
              <a:rPr lang="en-US" b="1"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3100" b="1" dirty="0">
                <a:solidFill>
                  <a:srgbClr val="00B050"/>
                </a:solidFill>
                <a:latin typeface="Arial" panose="020B0604020202020204" pitchFamily="34" charset="0"/>
                <a:ea typeface="Yu Mincho" panose="02020400000000000000" pitchFamily="18" charset="-128"/>
                <a:cs typeface="Arial" panose="020B0604020202020204" pitchFamily="34" charset="0"/>
              </a:rPr>
              <a:t>Component 1.1: Strengthening multisectoral collaboration and partnerships </a:t>
            </a:r>
            <a:br>
              <a:rPr lang="en-US" b="1"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b="1" dirty="0"/>
          </a:p>
        </p:txBody>
      </p:sp>
      <p:sp>
        <p:nvSpPr>
          <p:cNvPr id="3" name="Content Placeholder 2">
            <a:extLst>
              <a:ext uri="{FF2B5EF4-FFF2-40B4-BE49-F238E27FC236}">
                <a16:creationId xmlns:a16="http://schemas.microsoft.com/office/drawing/2014/main" id="{A2733DA4-5CA5-DE08-857B-751750B45467}"/>
              </a:ext>
            </a:extLst>
          </p:cNvPr>
          <p:cNvSpPr>
            <a:spLocks noGrp="1"/>
          </p:cNvSpPr>
          <p:nvPr>
            <p:ph idx="1"/>
          </p:nvPr>
        </p:nvSpPr>
        <p:spPr>
          <a:xfrm>
            <a:off x="86620" y="1123950"/>
            <a:ext cx="12018759" cy="5592158"/>
          </a:xfrm>
          <a:ln>
            <a:solidFill>
              <a:schemeClr val="accent2"/>
            </a:solidFill>
          </a:ln>
        </p:spPr>
        <p:txBody>
          <a:bodyPr>
            <a:normAutofit/>
          </a:bodyPr>
          <a:lstStyle/>
          <a:p>
            <a:pPr marL="457200" lvl="1" indent="0">
              <a:buNone/>
            </a:pPr>
            <a:r>
              <a:rPr lang="en-US" b="1" dirty="0"/>
              <a:t>Climate and Health Community of Practice (CoP) Virtual Progress Meeting, April, 2026</a:t>
            </a:r>
            <a:endParaRPr lang="en-US" dirty="0"/>
          </a:p>
          <a:p>
            <a:r>
              <a:rPr lang="en-US" dirty="0"/>
              <a:t>Participants endorsed three priority thematic areas to guide the work of the Community of Practice:</a:t>
            </a:r>
          </a:p>
          <a:p>
            <a:pPr lvl="1">
              <a:buFont typeface="Courier New" panose="02070309020205020404" pitchFamily="49" charset="0"/>
              <a:buChar char="o"/>
            </a:pPr>
            <a:r>
              <a:rPr lang="en-US" dirty="0"/>
              <a:t>Predictive Modeling. DRC</a:t>
            </a:r>
          </a:p>
          <a:p>
            <a:pPr lvl="1">
              <a:buFont typeface="Courier New" panose="02070309020205020404" pitchFamily="49" charset="0"/>
              <a:buChar char="o"/>
            </a:pPr>
            <a:r>
              <a:rPr lang="en-US" dirty="0"/>
              <a:t>Preparedness for Climate Shocks. Kenya</a:t>
            </a:r>
          </a:p>
          <a:p>
            <a:pPr lvl="1">
              <a:buFont typeface="Courier New" panose="02070309020205020404" pitchFamily="49" charset="0"/>
              <a:buChar char="o"/>
            </a:pPr>
            <a:r>
              <a:rPr lang="en-US" dirty="0"/>
              <a:t>Vulnerability Assessment and Risk Profiling. Rwanda</a:t>
            </a:r>
          </a:p>
          <a:p>
            <a:pPr lvl="1">
              <a:buFont typeface="Courier New" panose="02070309020205020404" pitchFamily="49" charset="0"/>
              <a:buChar char="o"/>
            </a:pPr>
            <a:r>
              <a:rPr lang="en-US" dirty="0"/>
              <a:t>Agreed to explore the feasibility of the 4</a:t>
            </a:r>
            <a:r>
              <a:rPr lang="en-US" baseline="30000" dirty="0"/>
              <a:t>th</a:t>
            </a:r>
            <a:r>
              <a:rPr lang="en-US" dirty="0"/>
              <a:t> thematic area; covering Governance </a:t>
            </a:r>
          </a:p>
          <a:p>
            <a:r>
              <a:rPr lang="en-US" b="1" dirty="0"/>
              <a:t>Agreed Actions</a:t>
            </a:r>
            <a:r>
              <a:rPr lang="en-US" dirty="0"/>
              <a:t>: The thematic working groups were requested to:</a:t>
            </a:r>
          </a:p>
          <a:p>
            <a:pPr lvl="1">
              <a:buFont typeface="Wingdings" panose="05000000000000000000" pitchFamily="2" charset="2"/>
              <a:buChar char="ü"/>
            </a:pPr>
            <a:r>
              <a:rPr lang="en-US" dirty="0"/>
              <a:t>Define their scope of work and objectives. </a:t>
            </a:r>
          </a:p>
          <a:p>
            <a:pPr lvl="1">
              <a:buFont typeface="Wingdings" panose="05000000000000000000" pitchFamily="2" charset="2"/>
              <a:buChar char="ü"/>
            </a:pPr>
            <a:r>
              <a:rPr lang="en-US" dirty="0"/>
              <a:t>Develop implementation roadmaps. </a:t>
            </a:r>
          </a:p>
          <a:p>
            <a:pPr lvl="1">
              <a:buFont typeface="Wingdings" panose="05000000000000000000" pitchFamily="2" charset="2"/>
              <a:buChar char="ü"/>
            </a:pPr>
            <a:r>
              <a:rPr lang="en-US" dirty="0"/>
              <a:t>Identify priority technical assistance needs</a:t>
            </a:r>
          </a:p>
          <a:p>
            <a:pPr lvl="1">
              <a:buFont typeface="Wingdings" panose="05000000000000000000" pitchFamily="2" charset="2"/>
              <a:buChar char="ü"/>
            </a:pPr>
            <a:r>
              <a:rPr lang="en-US" dirty="0"/>
              <a:t>Prepare presentations on their outputs</a:t>
            </a:r>
          </a:p>
        </p:txBody>
      </p:sp>
    </p:spTree>
    <p:custDataLst>
      <p:tags r:id="rId1"/>
    </p:custDataLst>
    <p:extLst>
      <p:ext uri="{BB962C8B-B14F-4D97-AF65-F5344CB8AC3E}">
        <p14:creationId xmlns:p14="http://schemas.microsoft.com/office/powerpoint/2010/main" val="937308774"/>
      </p:ext>
    </p:extLst>
  </p:cSld>
  <p:clrMapOvr>
    <a:masterClrMapping/>
  </p:clrMapOvr>
  <p:extLst>
    <p:ext uri="{6950BFC3-D8DA-4A85-94F7-54DA5524770B}">
      <p188:commentRel xmlns:p188="http://schemas.microsoft.com/office/powerpoint/2018/8/main" r:id="rId4"/>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5CF1771-C629-98A0-DC74-8ADAEED6151F}"/>
              </a:ext>
            </a:extLst>
          </p:cNvPr>
          <p:cNvSpPr>
            <a:spLocks noGrp="1"/>
          </p:cNvSpPr>
          <p:nvPr>
            <p:ph type="title"/>
          </p:nvPr>
        </p:nvSpPr>
        <p:spPr>
          <a:ln>
            <a:solidFill>
              <a:schemeClr val="accent2"/>
            </a:solidFill>
          </a:ln>
        </p:spPr>
        <p:txBody>
          <a:bodyPr/>
          <a:lstStyle/>
          <a:p>
            <a:r>
              <a:rPr kumimoji="0" lang="en-US" sz="2800" b="1" i="0" u="none" strike="noStrike" kern="1200" cap="none" spc="0" normalizeH="0" baseline="0" noProof="0" dirty="0">
                <a:ln>
                  <a:noFill/>
                </a:ln>
                <a:solidFill>
                  <a:srgbClr val="008000"/>
                </a:solidFill>
                <a:effectLst/>
                <a:uLnTx/>
                <a:uFillTx/>
                <a:latin typeface="Arial" panose="020B0604020202020204" pitchFamily="34" charset="0"/>
                <a:ea typeface="+mj-ea"/>
                <a:cs typeface="Arial" panose="020B0604020202020204" pitchFamily="34" charset="0"/>
              </a:rPr>
              <a:t>Sub-component 1.2: Strengthening Health Workforce Development</a:t>
            </a:r>
            <a:endParaRPr lang="en-US" dirty="0"/>
          </a:p>
        </p:txBody>
      </p:sp>
      <p:pic>
        <p:nvPicPr>
          <p:cNvPr id="10" name="Content Placeholder 4">
            <a:extLst>
              <a:ext uri="{FF2B5EF4-FFF2-40B4-BE49-F238E27FC236}">
                <a16:creationId xmlns:a16="http://schemas.microsoft.com/office/drawing/2014/main" id="{399C306A-B7AC-5D01-D38C-C90992781DC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7450"/>
          <a:stretch>
            <a:fillRect/>
          </a:stretch>
        </p:blipFill>
        <p:spPr>
          <a:xfrm>
            <a:off x="4036741" y="1825625"/>
            <a:ext cx="7317059" cy="4021943"/>
          </a:xfrm>
          <a:prstGeom prst="rect">
            <a:avLst/>
          </a:prstGeom>
        </p:spPr>
      </p:pic>
      <p:sp>
        <p:nvSpPr>
          <p:cNvPr id="11" name="TextBox 10">
            <a:extLst>
              <a:ext uri="{FF2B5EF4-FFF2-40B4-BE49-F238E27FC236}">
                <a16:creationId xmlns:a16="http://schemas.microsoft.com/office/drawing/2014/main" id="{8C3FEE3D-D1A4-A6FA-E0A0-1D47FD1E68D4}"/>
              </a:ext>
            </a:extLst>
          </p:cNvPr>
          <p:cNvSpPr txBox="1"/>
          <p:nvPr/>
        </p:nvSpPr>
        <p:spPr>
          <a:xfrm>
            <a:off x="4085192" y="5847568"/>
            <a:ext cx="7220155" cy="954107"/>
          </a:xfrm>
          <a:prstGeom prst="rect">
            <a:avLst/>
          </a:prstGeom>
          <a:noFill/>
        </p:spPr>
        <p:txBody>
          <a:bodyPr wrap="square" rtlCol="0">
            <a:spAutoFit/>
          </a:bodyPr>
          <a:lstStyle/>
          <a:p>
            <a:r>
              <a:rPr lang="en-US" sz="2800" b="1" dirty="0">
                <a:latin typeface="Arial" panose="020B0604020202020204" pitchFamily="34" charset="0"/>
              </a:rPr>
              <a:t>FETP Stakeholder Meeting, 19</a:t>
            </a:r>
            <a:r>
              <a:rPr lang="en-US" sz="2800" b="1" baseline="30000" dirty="0">
                <a:latin typeface="Arial" panose="020B0604020202020204" pitchFamily="34" charset="0"/>
              </a:rPr>
              <a:t>th</a:t>
            </a:r>
            <a:r>
              <a:rPr lang="en-US" sz="2800" b="1" dirty="0">
                <a:latin typeface="Arial" panose="020B0604020202020204" pitchFamily="34" charset="0"/>
              </a:rPr>
              <a:t> – 21</a:t>
            </a:r>
            <a:r>
              <a:rPr lang="en-US" sz="2800" b="1" baseline="30000" dirty="0">
                <a:latin typeface="Arial" panose="020B0604020202020204" pitchFamily="34" charset="0"/>
              </a:rPr>
              <a:t>st</a:t>
            </a:r>
            <a:r>
              <a:rPr lang="en-US" sz="2800" b="1" dirty="0">
                <a:latin typeface="Arial" panose="020B0604020202020204" pitchFamily="34" charset="0"/>
              </a:rPr>
              <a:t> in Bujumbura, Burundi</a:t>
            </a:r>
          </a:p>
        </p:txBody>
      </p:sp>
      <p:sp>
        <p:nvSpPr>
          <p:cNvPr id="12" name="Content Placeholder 2">
            <a:extLst>
              <a:ext uri="{FF2B5EF4-FFF2-40B4-BE49-F238E27FC236}">
                <a16:creationId xmlns:a16="http://schemas.microsoft.com/office/drawing/2014/main" id="{46D70AC3-3D56-F7C7-B382-CA5C1194B34A}"/>
              </a:ext>
            </a:extLst>
          </p:cNvPr>
          <p:cNvSpPr txBox="1">
            <a:spLocks/>
          </p:cNvSpPr>
          <p:nvPr/>
        </p:nvSpPr>
        <p:spPr>
          <a:xfrm>
            <a:off x="838200" y="1825625"/>
            <a:ext cx="3198541" cy="38337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Progress and Achievements</a:t>
            </a:r>
          </a:p>
        </p:txBody>
      </p:sp>
    </p:spTree>
    <p:extLst>
      <p:ext uri="{BB962C8B-B14F-4D97-AF65-F5344CB8AC3E}">
        <p14:creationId xmlns:p14="http://schemas.microsoft.com/office/powerpoint/2010/main" val="3465080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22430EC-6B96-B2C2-CCB0-FBF3177014C9}"/>
              </a:ext>
            </a:extLst>
          </p:cNvPr>
          <p:cNvSpPr>
            <a:spLocks noGrp="1"/>
          </p:cNvSpPr>
          <p:nvPr>
            <p:ph sz="half" idx="2"/>
          </p:nvPr>
        </p:nvSpPr>
        <p:spPr>
          <a:xfrm>
            <a:off x="180729" y="1143000"/>
            <a:ext cx="11865221" cy="5539563"/>
          </a:xfrm>
        </p:spPr>
        <p:txBody>
          <a:bodyPr>
            <a:normAutofit fontScale="92500" lnSpcReduction="20000"/>
          </a:bodyPr>
          <a:lstStyle/>
          <a:p>
            <a:r>
              <a:rPr lang="en-US" sz="2600" dirty="0"/>
              <a:t>Support Burundi - MOH to establish I- FETP program:</a:t>
            </a:r>
          </a:p>
          <a:p>
            <a:r>
              <a:rPr lang="en-US" sz="2600" dirty="0"/>
              <a:t>Convened stakeholder meeting for FETP </a:t>
            </a:r>
          </a:p>
          <a:p>
            <a:pPr lvl="1"/>
            <a:r>
              <a:rPr lang="en-US" dirty="0"/>
              <a:t>Stakeholders: AFENET, FAO, WHO and AFCDC attended alongside the MOH and other line sectors; 19-21</a:t>
            </a:r>
            <a:r>
              <a:rPr lang="en-US" baseline="30000" dirty="0"/>
              <a:t>st</a:t>
            </a:r>
            <a:r>
              <a:rPr lang="en-US" dirty="0"/>
              <a:t> May, 2026. </a:t>
            </a:r>
          </a:p>
          <a:p>
            <a:pPr lvl="1"/>
            <a:r>
              <a:rPr lang="en-US" dirty="0"/>
              <a:t>Technical Working Group (TWG) formed to fast track the discussion </a:t>
            </a:r>
          </a:p>
          <a:p>
            <a:pPr lvl="1"/>
            <a:r>
              <a:rPr lang="en-US" dirty="0"/>
              <a:t>FETP Steering Committee to be established and a meeting to be convened in Bujumbura </a:t>
            </a:r>
          </a:p>
          <a:p>
            <a:pPr lvl="1"/>
            <a:r>
              <a:rPr lang="en-US" dirty="0"/>
              <a:t> Launch the first cohort of the Intermediate FETP (I-FETP) in October, 2026 </a:t>
            </a:r>
          </a:p>
          <a:p>
            <a:pPr lvl="1"/>
            <a:r>
              <a:rPr lang="en-US" dirty="0"/>
              <a:t>MOH STP requested for TA - focused on training the trainers and mentors </a:t>
            </a:r>
          </a:p>
          <a:p>
            <a:r>
              <a:rPr lang="en-US" dirty="0"/>
              <a:t>Learning Mission for STP, Burundi and Malawi planned to Ethiopia for experience sharing </a:t>
            </a:r>
          </a:p>
          <a:p>
            <a:r>
              <a:rPr lang="en-US" dirty="0"/>
              <a:t>Virtual review and validation of the I-FETP Curriculum conducted: Lessons from implementation of the revised curriculum and further reviews after the TOT training done in 2025, recommendations </a:t>
            </a:r>
          </a:p>
          <a:p>
            <a:pPr lvl="1"/>
            <a:r>
              <a:rPr lang="en-US" dirty="0"/>
              <a:t>Need to finalize contents; AMR and IPC </a:t>
            </a:r>
          </a:p>
          <a:p>
            <a:pPr lvl="1"/>
            <a:r>
              <a:rPr lang="en-US" dirty="0"/>
              <a:t>Integration of the 7.1.7 in the I-FETP </a:t>
            </a:r>
          </a:p>
          <a:p>
            <a:pPr lvl="1"/>
            <a:r>
              <a:rPr lang="en-US" dirty="0"/>
              <a:t>Need for Climate and Health contents / modules to be developed and integrated in the I-FETP module progressively </a:t>
            </a:r>
          </a:p>
          <a:p>
            <a:endParaRPr lang="en-US" dirty="0"/>
          </a:p>
          <a:p>
            <a:endParaRPr lang="en-US" dirty="0"/>
          </a:p>
        </p:txBody>
      </p:sp>
      <p:sp>
        <p:nvSpPr>
          <p:cNvPr id="8" name="Title 1">
            <a:extLst>
              <a:ext uri="{FF2B5EF4-FFF2-40B4-BE49-F238E27FC236}">
                <a16:creationId xmlns:a16="http://schemas.microsoft.com/office/drawing/2014/main" id="{12BD2BE3-D628-FB23-9863-A020861045A9}"/>
              </a:ext>
            </a:extLst>
          </p:cNvPr>
          <p:cNvSpPr>
            <a:spLocks noGrp="1"/>
          </p:cNvSpPr>
          <p:nvPr>
            <p:ph type="title"/>
          </p:nvPr>
        </p:nvSpPr>
        <p:spPr>
          <a:xfrm>
            <a:off x="212725" y="90488"/>
            <a:ext cx="11833225" cy="903287"/>
          </a:xfrm>
          <a:ln>
            <a:solidFill>
              <a:schemeClr val="accent2"/>
            </a:solidFill>
          </a:ln>
        </p:spPr>
        <p:txBody>
          <a:bodyPr>
            <a:noAutofit/>
          </a:bodyPr>
          <a:lstStyle/>
          <a:p>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sym typeface="Calibri"/>
              </a:rPr>
              <a:t>Sub-component 1.2: Strengthening Health Workforce Development </a:t>
            </a:r>
            <a:br>
              <a:rPr lang="en-US" sz="2800" b="1"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b="1"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sz="2800" b="1"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122274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4F2CB-2896-3CED-152A-C0C74E0E9CC0}"/>
              </a:ext>
            </a:extLst>
          </p:cNvPr>
          <p:cNvSpPr>
            <a:spLocks noGrp="1"/>
          </p:cNvSpPr>
          <p:nvPr>
            <p:ph type="title"/>
          </p:nvPr>
        </p:nvSpPr>
        <p:spPr>
          <a:xfrm>
            <a:off x="164805" y="111643"/>
            <a:ext cx="12027195" cy="717697"/>
          </a:xfrm>
        </p:spPr>
        <p:txBody>
          <a:bodyPr>
            <a:noAutofit/>
          </a:bodyPr>
          <a:lstStyle/>
          <a:p>
            <a:r>
              <a:rPr lang="en-US" sz="2800" b="1" dirty="0">
                <a:solidFill>
                  <a:srgbClr val="008000"/>
                </a:solidFill>
                <a:latin typeface="Arial" panose="020B0604020202020204" pitchFamily="34" charset="0"/>
                <a:cs typeface="Arial" panose="020B0604020202020204" pitchFamily="34" charset="0"/>
                <a:sym typeface="Calibri"/>
              </a:rPr>
              <a:t>Sub-component 1.2: Strengthening Health Workforce Development</a:t>
            </a:r>
            <a:endParaRPr lang="en-US" sz="2800" b="1" dirty="0"/>
          </a:p>
        </p:txBody>
      </p:sp>
      <p:sp>
        <p:nvSpPr>
          <p:cNvPr id="3" name="Content Placeholder 2">
            <a:extLst>
              <a:ext uri="{FF2B5EF4-FFF2-40B4-BE49-F238E27FC236}">
                <a16:creationId xmlns:a16="http://schemas.microsoft.com/office/drawing/2014/main" id="{D96BB2DC-9606-9D6B-A1AC-A3F8227D506F}"/>
              </a:ext>
            </a:extLst>
          </p:cNvPr>
          <p:cNvSpPr>
            <a:spLocks noGrp="1"/>
          </p:cNvSpPr>
          <p:nvPr>
            <p:ph idx="1"/>
          </p:nvPr>
        </p:nvSpPr>
        <p:spPr>
          <a:xfrm>
            <a:off x="111641" y="903767"/>
            <a:ext cx="12027195" cy="5752214"/>
          </a:xfrm>
        </p:spPr>
        <p:txBody>
          <a:bodyPr>
            <a:normAutofit fontScale="92500" lnSpcReduction="20000"/>
          </a:bodyPr>
          <a:lstStyle/>
          <a:p>
            <a:r>
              <a:rPr lang="en-US" sz="2600" dirty="0"/>
              <a:t>TA – Requests focused on supporting operationalization of the I-FETP revised curriculum </a:t>
            </a:r>
          </a:p>
          <a:p>
            <a:pPr lvl="1"/>
            <a:r>
              <a:rPr lang="en-US" dirty="0"/>
              <a:t>Ethiopia confirmed that they have initiated operationalization of the IFETP program through cluster training and require training on a Quality Assurance and climate – Health technical area </a:t>
            </a:r>
          </a:p>
          <a:p>
            <a:pPr lvl="1"/>
            <a:r>
              <a:rPr lang="en-US" dirty="0"/>
              <a:t>STP scheduled to start the inaugural I-FETP in January 2027, requested for training of mentors and trainers and also convening of the steering committee meeting </a:t>
            </a:r>
          </a:p>
          <a:p>
            <a:pPr lvl="1"/>
            <a:r>
              <a:rPr lang="en-US" dirty="0"/>
              <a:t>Malawi requesting for TA focused on training of the Trainners and Mentors on the QA and additional contents </a:t>
            </a:r>
          </a:p>
          <a:p>
            <a:pPr marL="457200" lvl="1" indent="0">
              <a:buNone/>
            </a:pPr>
            <a:endParaRPr lang="en-US" dirty="0"/>
          </a:p>
          <a:p>
            <a:r>
              <a:rPr lang="en-US" sz="2600" dirty="0"/>
              <a:t>Follow up meeting with STP to discuss Actions from the Stakeholder Meeting in 2025 and towards establishment of the FETP program in the country </a:t>
            </a:r>
          </a:p>
          <a:p>
            <a:pPr lvl="1"/>
            <a:r>
              <a:rPr lang="en-US" sz="2600" dirty="0"/>
              <a:t>Virtual engagement conducted and a TWG formed to fast track the discussion </a:t>
            </a:r>
          </a:p>
          <a:p>
            <a:pPr marL="457200" lvl="1" indent="0">
              <a:buNone/>
            </a:pPr>
            <a:endParaRPr lang="en-US" sz="2600" dirty="0"/>
          </a:p>
          <a:p>
            <a:r>
              <a:rPr lang="en-US" sz="2600" dirty="0"/>
              <a:t>Virtual Meeting with the STP conducted: </a:t>
            </a:r>
          </a:p>
          <a:p>
            <a:pPr lvl="1"/>
            <a:r>
              <a:rPr lang="en-US" sz="2600" dirty="0"/>
              <a:t>Review FETP Implementation timelines and support through TA </a:t>
            </a:r>
          </a:p>
          <a:p>
            <a:pPr lvl="1"/>
            <a:r>
              <a:rPr lang="en-US" sz="2600" dirty="0"/>
              <a:t>Plan for Supporting establishment of Steering committee in Q 4</a:t>
            </a:r>
          </a:p>
          <a:p>
            <a:pPr lvl="1"/>
            <a:r>
              <a:rPr lang="en-US" sz="2600" dirty="0"/>
              <a:t>Organize National Workshop for Trainers and Mentors before commencement of the I-FETP </a:t>
            </a:r>
          </a:p>
          <a:p>
            <a:endParaRPr lang="en-US" dirty="0"/>
          </a:p>
          <a:p>
            <a:pPr lvl="1"/>
            <a:endParaRPr lang="en-US" dirty="0"/>
          </a:p>
          <a:p>
            <a:pPr lvl="1"/>
            <a:endParaRPr lang="en-US" dirty="0"/>
          </a:p>
          <a:p>
            <a:pPr marL="0" indent="0">
              <a:buNone/>
            </a:pPr>
            <a:endParaRPr lang="en-US" dirty="0"/>
          </a:p>
        </p:txBody>
      </p:sp>
    </p:spTree>
    <p:custDataLst>
      <p:tags r:id="rId1"/>
    </p:custDataLst>
    <p:extLst>
      <p:ext uri="{BB962C8B-B14F-4D97-AF65-F5344CB8AC3E}">
        <p14:creationId xmlns:p14="http://schemas.microsoft.com/office/powerpoint/2010/main" val="2041999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useBgFill="1">
        <p:nvSpPr>
          <p:cNvPr id="28" name="Freeform: Shape 27">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useBgFill="1">
        <p:nvSpPr>
          <p:cNvPr id="30" name="Freeform: Shape 29">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2" name="Title 1">
            <a:extLst>
              <a:ext uri="{FF2B5EF4-FFF2-40B4-BE49-F238E27FC236}">
                <a16:creationId xmlns:a16="http://schemas.microsoft.com/office/drawing/2014/main" id="{9BE3B8F9-E57B-D34B-C23C-666456CB780D}"/>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2600" b="1" kern="1200" dirty="0">
                <a:solidFill>
                  <a:schemeClr val="tx1"/>
                </a:solidFill>
                <a:latin typeface="Arial" panose="020B0604020202020204" pitchFamily="34" charset="0"/>
                <a:cs typeface="Arial" panose="020B0604020202020204" pitchFamily="34" charset="0"/>
              </a:rPr>
              <a:t>Integration of NCD into the Frontline FETP Program Training: </a:t>
            </a:r>
            <a:br>
              <a:rPr lang="en-US" sz="2600" b="1" kern="1200" dirty="0">
                <a:solidFill>
                  <a:schemeClr val="tx1"/>
                </a:solidFill>
                <a:latin typeface="+mj-lt"/>
                <a:ea typeface="+mj-ea"/>
                <a:cs typeface="+mj-cs"/>
              </a:rPr>
            </a:br>
            <a:r>
              <a:rPr lang="en-US" sz="2600" b="1" kern="1200" dirty="0">
                <a:solidFill>
                  <a:schemeClr val="tx1"/>
                </a:solidFill>
                <a:latin typeface="+mj-lt"/>
                <a:ea typeface="+mj-ea"/>
                <a:cs typeface="+mj-cs"/>
              </a:rPr>
              <a:t>- </a:t>
            </a:r>
            <a:r>
              <a:rPr lang="en-US" sz="2600" kern="1200" dirty="0">
                <a:solidFill>
                  <a:schemeClr val="tx1"/>
                </a:solidFill>
                <a:latin typeface="+mj-lt"/>
                <a:ea typeface="+mj-ea"/>
                <a:cs typeface="+mj-cs"/>
              </a:rPr>
              <a:t>IGAD supported workshop aimed at customization of the Frontline FETP training curriculum to strengthen NCD surveillance </a:t>
            </a:r>
          </a:p>
        </p:txBody>
      </p:sp>
      <p:sp>
        <p:nvSpPr>
          <p:cNvPr id="32" name="Rectangle 3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rial" panose="020B0604020202020204" pitchFamily="34" charset="0"/>
            </a:endParaRPr>
          </a:p>
        </p:txBody>
      </p:sp>
      <p:sp>
        <p:nvSpPr>
          <p:cNvPr id="34" name="Rectangle 3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pic>
        <p:nvPicPr>
          <p:cNvPr id="7" name="Content Placeholder 6">
            <a:extLst>
              <a:ext uri="{FF2B5EF4-FFF2-40B4-BE49-F238E27FC236}">
                <a16:creationId xmlns:a16="http://schemas.microsoft.com/office/drawing/2014/main" id="{3921CA66-D349-2BAA-0D88-42300AF36037}"/>
              </a:ext>
            </a:extLst>
          </p:cNvPr>
          <p:cNvPicPr>
            <a:picLocks noGrp="1" noChangeAspect="1"/>
          </p:cNvPicPr>
          <p:nvPr>
            <p:ph sz="half" idx="1"/>
          </p:nvPr>
        </p:nvPicPr>
        <p:blipFill>
          <a:blip r:embed="rId3"/>
          <a:srcRect l="10325" r="16484" b="-1"/>
          <a:stretch>
            <a:fillRect/>
          </a:stretch>
        </p:blipFill>
        <p:spPr>
          <a:xfrm>
            <a:off x="5605333" y="625684"/>
            <a:ext cx="6026881" cy="5455380"/>
          </a:xfrm>
          <a:prstGeom prst="rect">
            <a:avLst/>
          </a:prstGeom>
        </p:spPr>
      </p:pic>
    </p:spTree>
    <p:extLst>
      <p:ext uri="{BB962C8B-B14F-4D97-AF65-F5344CB8AC3E}">
        <p14:creationId xmlns:p14="http://schemas.microsoft.com/office/powerpoint/2010/main" val="2006271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01907-DF68-5246-0137-4104A596BF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E908FC4-C410-099B-DB50-F0720E575790}"/>
              </a:ext>
            </a:extLst>
          </p:cNvPr>
          <p:cNvSpPr txBox="1"/>
          <p:nvPr/>
        </p:nvSpPr>
        <p:spPr>
          <a:xfrm>
            <a:off x="0" y="3675760"/>
            <a:ext cx="5143763" cy="1569660"/>
          </a:xfrm>
          <a:prstGeom prst="rect">
            <a:avLst/>
          </a:prstGeom>
          <a:noFill/>
          <a:ln>
            <a:solidFill>
              <a:schemeClr val="accent2"/>
            </a:solidFill>
          </a:ln>
        </p:spPr>
        <p:txBody>
          <a:bodyPr wrap="square" rtlCol="0">
            <a:spAutoFit/>
          </a:bodyPr>
          <a:lstStyle/>
          <a:p>
            <a:pPr fontAlgn="base"/>
            <a:r>
              <a:rPr lang="en-US" sz="2400" dirty="0">
                <a:solidFill>
                  <a:srgbClr val="008000"/>
                </a:solidFill>
                <a:latin typeface="Arial" panose="020B0604020202020204" pitchFamily="34" charset="0"/>
                <a:cs typeface="Arial" panose="020B0604020202020204" pitchFamily="34" charset="0"/>
              </a:rPr>
              <a:t>Supporting Access to Quality Health Commodities, Including Building Capacity for Local Vaccine and Pharmaceutical Manufacturing</a:t>
            </a:r>
          </a:p>
        </p:txBody>
      </p:sp>
      <p:pic>
        <p:nvPicPr>
          <p:cNvPr id="5" name="Picture 14" descr="C:\Users\Ketema\Documents\IGAD-Dec 2019\IGAD-New-LOGO\Logo w_ island_P.jpg">
            <a:extLst>
              <a:ext uri="{FF2B5EF4-FFF2-40B4-BE49-F238E27FC236}">
                <a16:creationId xmlns:a16="http://schemas.microsoft.com/office/drawing/2014/main" id="{B59986B7-CC5C-01FA-EDC2-0B8ACA0ED9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20885"/>
          <a:stretch>
            <a:fillRect/>
          </a:stretch>
        </p:blipFill>
        <p:spPr bwMode="auto">
          <a:xfrm>
            <a:off x="4747383" y="30327"/>
            <a:ext cx="2022043" cy="1265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C81BA5BA-B7AB-237B-8465-FEE32D0ED0F7}"/>
              </a:ext>
            </a:extLst>
          </p:cNvPr>
          <p:cNvSpPr txBox="1">
            <a:spLocks noGrp="1"/>
          </p:cNvSpPr>
          <p:nvPr>
            <p:ph type="ctrTitle"/>
          </p:nvPr>
        </p:nvSpPr>
        <p:spPr>
          <a:xfrm>
            <a:off x="91440" y="1499860"/>
            <a:ext cx="5143763" cy="1734208"/>
          </a:xfrm>
          <a:prstGeom prst="rect">
            <a:avLst/>
          </a:prstGeom>
          <a:ln>
            <a:solidFill>
              <a:schemeClr val="accent2"/>
            </a:solidFill>
          </a:ln>
        </p:spPr>
        <p:txBody>
          <a:bodyPr>
            <a:noAutofit/>
          </a:bodyPr>
          <a:lstStyle/>
          <a:p>
            <a:pPr algn="l">
              <a:defRPr sz="2500">
                <a:solidFill>
                  <a:srgbClr val="008000"/>
                </a:solidFill>
                <a:latin typeface="Arial"/>
                <a:ea typeface="Arial"/>
                <a:cs typeface="Arial"/>
                <a:sym typeface="Arial"/>
              </a:defRPr>
            </a:pP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 </a:t>
            </a:r>
            <a:br>
              <a:rPr lang="en-US" sz="2800" b="1" dirty="0">
                <a:solidFill>
                  <a:srgbClr val="008000"/>
                </a:solidFill>
                <a:latin typeface="Arial" panose="020B0604020202020204" pitchFamily="34" charset="0"/>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Achievements </a:t>
            </a:r>
            <a:br>
              <a:rPr lang="en-US" sz="2800" b="1" dirty="0">
                <a:solidFill>
                  <a:srgbClr val="008000"/>
                </a:solidFill>
                <a:latin typeface="Arial" panose="020B0604020202020204" pitchFamily="34" charset="0"/>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Component</a:t>
            </a:r>
            <a:r>
              <a:rPr lang="en-US" sz="2800" b="1" dirty="0">
                <a:latin typeface="Arial" panose="020B0604020202020204" pitchFamily="34" charset="0"/>
                <a:cs typeface="Arial" panose="020B0604020202020204" pitchFamily="34" charset="0"/>
              </a:rPr>
              <a:t> 1:3</a:t>
            </a:r>
            <a:br>
              <a:rPr lang="en-US" sz="2800" dirty="0">
                <a:latin typeface="Arial" panose="020B0604020202020204" pitchFamily="34" charset="0"/>
                <a:cs typeface="Arial" panose="020B0604020202020204" pitchFamily="34" charset="0"/>
              </a:rPr>
            </a:br>
            <a:br>
              <a:rPr lang="en-US" sz="2800" b="1" dirty="0">
                <a:solidFill>
                  <a:srgbClr val="008000"/>
                </a:solidFill>
                <a:latin typeface="Arial" panose="020B0604020202020204" pitchFamily="34" charset="0"/>
                <a:cs typeface="Arial" panose="020B0604020202020204" pitchFamily="34" charset="0"/>
              </a:rPr>
            </a:br>
            <a:endParaRPr lang="en-GB" sz="2800" b="1" dirty="0">
              <a:solidFill>
                <a:srgbClr val="000000"/>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35203" y="1499860"/>
            <a:ext cx="6706312" cy="4187253"/>
          </a:xfrm>
          <a:prstGeom prst="rect">
            <a:avLst/>
          </a:prstGeom>
        </p:spPr>
      </p:pic>
    </p:spTree>
    <p:custDataLst>
      <p:tags r:id="rId1"/>
    </p:custDataLst>
    <p:extLst>
      <p:ext uri="{BB962C8B-B14F-4D97-AF65-F5344CB8AC3E}">
        <p14:creationId xmlns:p14="http://schemas.microsoft.com/office/powerpoint/2010/main" val="3301842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2269B-EE7A-667A-FF31-21ADB418D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4ACC0-29A6-C857-B6D2-F37EA44AF318}"/>
              </a:ext>
            </a:extLst>
          </p:cNvPr>
          <p:cNvSpPr>
            <a:spLocks noGrp="1"/>
          </p:cNvSpPr>
          <p:nvPr>
            <p:ph type="title"/>
          </p:nvPr>
        </p:nvSpPr>
        <p:spPr>
          <a:xfrm>
            <a:off x="301082" y="228874"/>
            <a:ext cx="11530362" cy="1031214"/>
          </a:xfrm>
          <a:ln>
            <a:solidFill>
              <a:schemeClr val="accent2"/>
            </a:solidFill>
          </a:ln>
        </p:spPr>
        <p:txBody>
          <a:bodyPr>
            <a:noAutofit/>
          </a:bodyPr>
          <a:lstStyle/>
          <a:p>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Local Vaccine and Pharmaceutical Manufacturing </a:t>
            </a: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600E7CA-7468-771B-50EB-6E49DBDE1105}"/>
              </a:ext>
            </a:extLst>
          </p:cNvPr>
          <p:cNvSpPr>
            <a:spLocks noGrp="1"/>
          </p:cNvSpPr>
          <p:nvPr>
            <p:ph idx="1"/>
          </p:nvPr>
        </p:nvSpPr>
        <p:spPr>
          <a:xfrm>
            <a:off x="301083" y="1360448"/>
            <a:ext cx="11530362" cy="5268677"/>
          </a:xfrm>
          <a:ln>
            <a:solidFill>
              <a:schemeClr val="accent2"/>
            </a:solidFill>
          </a:ln>
        </p:spPr>
        <p:txBody>
          <a:bodyPr>
            <a:normAutofit/>
          </a:bodyPr>
          <a:lstStyle/>
          <a:p>
            <a:r>
              <a:rPr lang="en-US" dirty="0"/>
              <a:t>Operationalized the Community of Practice (CoP) on local health manufacturing through quarterly meetings of the CoP and the sub-working groups (SWGs)</a:t>
            </a:r>
          </a:p>
          <a:p>
            <a:pPr lvl="1"/>
            <a:r>
              <a:rPr lang="en-US" sz="2800" dirty="0"/>
              <a:t>On-going work on draft knowledge products and technical documents through virtual interaction</a:t>
            </a:r>
            <a:endParaRPr lang="en-US" sz="2000" dirty="0"/>
          </a:p>
          <a:p>
            <a:r>
              <a:rPr lang="en-US" dirty="0"/>
              <a:t>Supported the Ethiopia- Kenya Exchange visit on vaccine manufacturing which facilitated Knowledge exchange, and generated institutional commitments on vaccine technology transfer, GMP and building manufacturing capacity</a:t>
            </a:r>
          </a:p>
          <a:p>
            <a:r>
              <a:rPr lang="en-US" dirty="0"/>
              <a:t>Strengthened Intellectual Property (IP) licensing and technology transfer for medical manufacturing through training of 80 regional experts (manufacturers, NRAs, MOH and National IP officers)</a:t>
            </a:r>
          </a:p>
          <a:p>
            <a:pPr lvl="1"/>
            <a:endParaRPr lang="en-US" sz="3200" dirty="0"/>
          </a:p>
          <a:p>
            <a:pPr lvl="1"/>
            <a:endParaRPr lang="en-US" sz="3200" dirty="0"/>
          </a:p>
        </p:txBody>
      </p:sp>
    </p:spTree>
    <p:custDataLst>
      <p:tags r:id="rId1"/>
    </p:custDataLst>
    <p:extLst>
      <p:ext uri="{BB962C8B-B14F-4D97-AF65-F5344CB8AC3E}">
        <p14:creationId xmlns:p14="http://schemas.microsoft.com/office/powerpoint/2010/main" val="1280038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2269B-EE7A-667A-FF31-21ADB418D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4ACC0-29A6-C857-B6D2-F37EA44AF318}"/>
              </a:ext>
            </a:extLst>
          </p:cNvPr>
          <p:cNvSpPr>
            <a:spLocks noGrp="1"/>
          </p:cNvSpPr>
          <p:nvPr>
            <p:ph type="title"/>
          </p:nvPr>
        </p:nvSpPr>
        <p:spPr>
          <a:xfrm>
            <a:off x="423746" y="228874"/>
            <a:ext cx="11418849" cy="933176"/>
          </a:xfrm>
          <a:ln>
            <a:solidFill>
              <a:schemeClr val="accent2"/>
            </a:solidFill>
          </a:ln>
        </p:spPr>
        <p:txBody>
          <a:bodyPr>
            <a:noAutofit/>
          </a:bodyPr>
          <a:lstStyle/>
          <a:p>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Local Vaccine and Pharmaceutical Manufacturing </a:t>
            </a: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600E7CA-7468-771B-50EB-6E49DBDE1105}"/>
              </a:ext>
            </a:extLst>
          </p:cNvPr>
          <p:cNvSpPr>
            <a:spLocks noGrp="1"/>
          </p:cNvSpPr>
          <p:nvPr>
            <p:ph idx="1"/>
          </p:nvPr>
        </p:nvSpPr>
        <p:spPr>
          <a:xfrm>
            <a:off x="423746" y="1405054"/>
            <a:ext cx="11418849" cy="4683512"/>
          </a:xfrm>
          <a:ln>
            <a:solidFill>
              <a:schemeClr val="accent2"/>
            </a:solidFill>
          </a:ln>
        </p:spPr>
        <p:txBody>
          <a:bodyPr>
            <a:normAutofit/>
          </a:bodyPr>
          <a:lstStyle/>
          <a:p>
            <a:r>
              <a:rPr lang="en-US" dirty="0"/>
              <a:t>Commenced recruitment of Pharma Manufacturing SMEs for the Intellectual Property Management Clinic (IPMC) program in collaboration with WIPO</a:t>
            </a:r>
          </a:p>
          <a:p>
            <a:r>
              <a:rPr lang="en-US" dirty="0"/>
              <a:t>Supported operationalization of the EFDA Quality Control Laboratory as regional reference Laboratory for quality control testing through regional consultations on the Terms of references (TORs)</a:t>
            </a:r>
            <a:endParaRPr lang="en-US" sz="3200" dirty="0"/>
          </a:p>
        </p:txBody>
      </p:sp>
    </p:spTree>
    <p:custDataLst>
      <p:tags r:id="rId1"/>
    </p:custDataLst>
    <p:extLst>
      <p:ext uri="{BB962C8B-B14F-4D97-AF65-F5344CB8AC3E}">
        <p14:creationId xmlns:p14="http://schemas.microsoft.com/office/powerpoint/2010/main" val="3356450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D003B-D32D-64ED-BD57-8B442AACBC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069AE-8076-43F4-715F-5392E6D62ECF}"/>
              </a:ext>
            </a:extLst>
          </p:cNvPr>
          <p:cNvSpPr>
            <a:spLocks noGrp="1"/>
          </p:cNvSpPr>
          <p:nvPr>
            <p:ph type="title"/>
          </p:nvPr>
        </p:nvSpPr>
        <p:spPr>
          <a:xfrm>
            <a:off x="123825" y="133350"/>
            <a:ext cx="11944349" cy="1001948"/>
          </a:xfrm>
          <a:ln>
            <a:solidFill>
              <a:schemeClr val="accent2"/>
            </a:solidFill>
          </a:ln>
        </p:spPr>
        <p:txBody>
          <a:bodyPr>
            <a:normAutofit fontScale="90000"/>
          </a:bodyPr>
          <a:lstStyle/>
          <a:p>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3100" b="1" dirty="0">
                <a:solidFill>
                  <a:srgbClr val="008000"/>
                </a:solidFill>
                <a:latin typeface="Arial" panose="020B0604020202020204" pitchFamily="34" charset="0"/>
                <a:cs typeface="Arial" panose="020B0604020202020204" pitchFamily="34" charset="0"/>
              </a:rPr>
              <a:t>Sub-component 1.4: Cross-Border Health collaboration and continuity of essential health services </a:t>
            </a:r>
            <a:br>
              <a:rPr lang="en-US" sz="32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31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D92102A8-A068-90EE-7365-283ED99920D6}"/>
              </a:ext>
            </a:extLst>
          </p:cNvPr>
          <p:cNvSpPr>
            <a:spLocks noGrp="1"/>
          </p:cNvSpPr>
          <p:nvPr>
            <p:ph idx="1"/>
          </p:nvPr>
        </p:nvSpPr>
        <p:spPr>
          <a:xfrm>
            <a:off x="190499" y="1295401"/>
            <a:ext cx="11810999" cy="5429249"/>
          </a:xfrm>
          <a:ln>
            <a:solidFill>
              <a:schemeClr val="accent2"/>
            </a:solidFill>
          </a:ln>
        </p:spPr>
        <p:txBody>
          <a:bodyPr>
            <a:noAutofit/>
          </a:bodyPr>
          <a:lstStyle/>
          <a:p>
            <a:r>
              <a:rPr lang="en-US" sz="2400" dirty="0"/>
              <a:t>Prepared draft roadmap for Gender and Equity integration in the cross-border activities</a:t>
            </a:r>
          </a:p>
          <a:p>
            <a:r>
              <a:rPr lang="en-US" sz="2400" dirty="0"/>
              <a:t>Participated in the high-level meeting on multi-country cross border cooperation, collaboration and coordination through Regional MOU in Brazzaville 4</a:t>
            </a:r>
            <a:r>
              <a:rPr lang="en-US" sz="2400" baseline="30000" dirty="0"/>
              <a:t>th</a:t>
            </a:r>
            <a:r>
              <a:rPr lang="en-US" sz="2400" dirty="0"/>
              <a:t> - 5</a:t>
            </a:r>
            <a:r>
              <a:rPr lang="en-US" sz="2400" baseline="30000" dirty="0"/>
              <a:t>th</a:t>
            </a:r>
            <a:r>
              <a:rPr lang="en-US" sz="2400" dirty="0"/>
              <a:t> May</a:t>
            </a:r>
          </a:p>
          <a:p>
            <a:pPr lvl="1"/>
            <a:r>
              <a:rPr lang="en-US" sz="2000" dirty="0"/>
              <a:t>Two virtual meetings with Ethiopia and Kenya as well as South Sudan to improve cross border collaboration/MOU </a:t>
            </a:r>
          </a:p>
          <a:p>
            <a:r>
              <a:rPr lang="en-US" sz="2400" dirty="0"/>
              <a:t>Advanced preparations for 3 national advocacy workshops consultations for Kenya, Ethiopia &amp; Burundi (July &amp; August) for the Regional cross border MOU and advocacy for revision of service package</a:t>
            </a:r>
          </a:p>
          <a:p>
            <a:r>
              <a:rPr lang="en-US" sz="2400" dirty="0"/>
              <a:t>Analyzed data of CB health facility assessment for availability of EHS at 2 </a:t>
            </a:r>
            <a:r>
              <a:rPr lang="en-US" sz="2400" dirty="0" err="1"/>
              <a:t>PoEs</a:t>
            </a:r>
            <a:r>
              <a:rPr lang="en-US" sz="2400" dirty="0"/>
              <a:t> </a:t>
            </a:r>
            <a:r>
              <a:rPr lang="en-US" sz="2400" dirty="0" err="1"/>
              <a:t>Moyale</a:t>
            </a:r>
            <a:r>
              <a:rPr lang="en-US" sz="2400" dirty="0"/>
              <a:t> &amp; Busia. Analysis results presented in Surveillance COP  and will be dissemination to country stakeholders during the advocacy meetings.</a:t>
            </a:r>
          </a:p>
          <a:p>
            <a:r>
              <a:rPr lang="en-US" sz="2400" dirty="0"/>
              <a:t> Prioritized activities to prepare and respond to EVD outbreak at cross border settings </a:t>
            </a:r>
          </a:p>
          <a:p>
            <a:endParaRPr lang="en-US" sz="2600" dirty="0"/>
          </a:p>
          <a:p>
            <a:pPr marL="0" indent="0">
              <a:buNone/>
            </a:pPr>
            <a:endParaRPr lang="en-US" sz="2600" dirty="0"/>
          </a:p>
        </p:txBody>
      </p:sp>
    </p:spTree>
    <p:custDataLst>
      <p:tags r:id="rId1"/>
    </p:custDataLst>
    <p:extLst>
      <p:ext uri="{BB962C8B-B14F-4D97-AF65-F5344CB8AC3E}">
        <p14:creationId xmlns:p14="http://schemas.microsoft.com/office/powerpoint/2010/main" val="3054370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4CFBA-27AE-C2CA-116A-C11A9CE69A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BC6089-53FA-E1B0-371A-E13C00E4776E}"/>
              </a:ext>
            </a:extLst>
          </p:cNvPr>
          <p:cNvSpPr txBox="1"/>
          <p:nvPr/>
        </p:nvSpPr>
        <p:spPr>
          <a:xfrm>
            <a:off x="1879600" y="3438830"/>
            <a:ext cx="8115299" cy="1785104"/>
          </a:xfrm>
          <a:prstGeom prst="rect">
            <a:avLst/>
          </a:prstGeom>
          <a:noFill/>
          <a:ln>
            <a:solidFill>
              <a:schemeClr val="accent2"/>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Arial" panose="020B0604020202020204" pitchFamily="34" charset="0"/>
                <a:ea typeface="Yu Mincho" panose="02020400000000000000" pitchFamily="18" charset="-128"/>
                <a:cs typeface="Arial" panose="020B0604020202020204" pitchFamily="34" charset="0"/>
              </a:rPr>
              <a:t>Improving Early Detection </a:t>
            </a:r>
            <a:r>
              <a:rPr kumimoji="0" lang="en-US" sz="2800" b="1"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Yu Mincho" panose="02020400000000000000" pitchFamily="18" charset="-128"/>
                <a:cs typeface="Arial" panose="020B0604020202020204" pitchFamily="34" charset="0"/>
              </a:rPr>
              <a:t>of </a:t>
            </a:r>
            <a:r>
              <a:rPr lang="en-US" sz="2800" b="1" dirty="0">
                <a:solidFill>
                  <a:srgbClr val="000000"/>
                </a:solidFill>
                <a:highlight>
                  <a:srgbClr val="FFFF00"/>
                </a:highlight>
                <a:latin typeface="Arial" panose="020B0604020202020204" pitchFamily="34" charset="0"/>
                <a:ea typeface="Yu Mincho" panose="02020400000000000000" pitchFamily="18" charset="-128"/>
                <a:cs typeface="Arial" panose="020B0604020202020204" pitchFamily="34" charset="0"/>
              </a:rPr>
              <a:t>a</a:t>
            </a:r>
            <a:r>
              <a:rPr kumimoji="0" lang="en-US" sz="2800" b="1"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Yu Mincho" panose="02020400000000000000" pitchFamily="18" charset="-128"/>
                <a:cs typeface="Arial" panose="020B0604020202020204" pitchFamily="34" charset="0"/>
              </a:rPr>
              <a:t>nd</a:t>
            </a:r>
            <a:r>
              <a:rPr kumimoji="0" lang="en-US" sz="2800" b="1"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Yu Mincho" panose="02020400000000000000" pitchFamily="18" charset="-128"/>
                <a:cs typeface="Arial" panose="020B0604020202020204" pitchFamily="34" charset="0"/>
              </a:rPr>
              <a:t> </a:t>
            </a:r>
            <a:r>
              <a:rPr kumimoji="0" lang="en-US" sz="2800" b="1" i="0" u="none" strike="noStrike" kern="1200" cap="none" spc="0" normalizeH="0" baseline="0" noProof="0" dirty="0">
                <a:ln>
                  <a:noFill/>
                </a:ln>
                <a:solidFill>
                  <a:srgbClr val="000000"/>
                </a:solidFill>
                <a:effectLst/>
                <a:uLnTx/>
                <a:uFillTx/>
                <a:latin typeface="Arial" panose="020B0604020202020204" pitchFamily="34" charset="0"/>
                <a:ea typeface="Yu Mincho" panose="02020400000000000000" pitchFamily="18" charset="-128"/>
                <a:cs typeface="Arial" panose="020B0604020202020204" pitchFamily="34" charset="0"/>
              </a:rPr>
              <a:t>Response To HEs Through a Multisectoral Approach</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00" b="1" i="0" u="none" strike="noStrike" kern="1200" cap="none" spc="0" normalizeH="0" baseline="0" noProof="0" dirty="0">
              <a:ln>
                <a:noFill/>
              </a:ln>
              <a:solidFill>
                <a:srgbClr val="000000"/>
              </a:solidFill>
              <a:effectLst/>
              <a:uLnTx/>
              <a:uFillTx/>
              <a:latin typeface="Arial" panose="020B0604020202020204" pitchFamily="34" charset="0"/>
              <a:ea typeface="Yu Mincho" panose="02020400000000000000" pitchFamily="18" charset="-128"/>
              <a:cs typeface="Arial" panose="020B0604020202020204" pitchFamily="34" charset="0"/>
            </a:endParaRPr>
          </a:p>
        </p:txBody>
      </p:sp>
      <p:pic>
        <p:nvPicPr>
          <p:cNvPr id="5" name="Picture 14" descr="C:\Users\Ketema\Documents\IGAD-Dec 2019\IGAD-New-LOGO\Logo w_ island_P.jpg">
            <a:extLst>
              <a:ext uri="{FF2B5EF4-FFF2-40B4-BE49-F238E27FC236}">
                <a16:creationId xmlns:a16="http://schemas.microsoft.com/office/drawing/2014/main" id="{3BAF3273-3000-2773-4A47-493AD9E8C5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20885"/>
          <a:stretch>
            <a:fillRect/>
          </a:stretch>
        </p:blipFill>
        <p:spPr bwMode="auto">
          <a:xfrm>
            <a:off x="4816394" y="0"/>
            <a:ext cx="2022043" cy="1265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EDF84937-9DD6-B17E-770C-5B3185E6A6C2}"/>
              </a:ext>
            </a:extLst>
          </p:cNvPr>
          <p:cNvSpPr txBox="1">
            <a:spLocks noGrp="1"/>
          </p:cNvSpPr>
          <p:nvPr>
            <p:ph type="ctrTitle"/>
          </p:nvPr>
        </p:nvSpPr>
        <p:spPr>
          <a:xfrm>
            <a:off x="1879601" y="1538569"/>
            <a:ext cx="8115298" cy="1626763"/>
          </a:xfrm>
          <a:prstGeom prst="rect">
            <a:avLst/>
          </a:prstGeom>
          <a:ln>
            <a:solidFill>
              <a:schemeClr val="accent2"/>
            </a:solidFill>
          </a:ln>
        </p:spPr>
        <p:txBody>
          <a:bodyPr>
            <a:normAutofit fontScale="90000"/>
          </a:bodyPr>
          <a:lstStyle/>
          <a:p>
            <a:pPr>
              <a:defRPr sz="2500">
                <a:solidFill>
                  <a:srgbClr val="008000"/>
                </a:solidFill>
                <a:latin typeface="Arial"/>
                <a:ea typeface="Arial"/>
                <a:cs typeface="Arial"/>
                <a:sym typeface="Arial"/>
              </a:defRPr>
            </a:pP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r>
              <a:rPr lang="en-US" sz="3200" b="1" dirty="0">
                <a:solidFill>
                  <a:srgbClr val="008000"/>
                </a:solidFill>
                <a:latin typeface="Arial" panose="020B0604020202020204" pitchFamily="34" charset="0"/>
                <a:cs typeface="Arial" panose="020B0604020202020204" pitchFamily="34" charset="0"/>
              </a:rPr>
              <a:t> </a:t>
            </a: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r>
              <a:rPr lang="en-US" sz="3100" b="1" dirty="0">
                <a:solidFill>
                  <a:srgbClr val="008000"/>
                </a:solidFill>
                <a:latin typeface="Arial" panose="020B0604020202020204" pitchFamily="34" charset="0"/>
                <a:cs typeface="Arial" panose="020B0604020202020204" pitchFamily="34" charset="0"/>
              </a:rPr>
              <a:t>Achievements  Component 2</a:t>
            </a:r>
            <a:br>
              <a:rPr lang="en-US" sz="4400" dirty="0">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endParaRPr lang="en-GB" sz="2000" b="1" dirty="0">
              <a:solidFill>
                <a:srgbClr val="00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756201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 name="Title 1">
            <a:extLst>
              <a:ext uri="{FF2B5EF4-FFF2-40B4-BE49-F238E27FC236}">
                <a16:creationId xmlns:a16="http://schemas.microsoft.com/office/drawing/2014/main" id="{6BA78462-987A-90EC-92B5-7FEDE2EDCAE2}"/>
              </a:ext>
            </a:extLst>
          </p:cNvPr>
          <p:cNvSpPr>
            <a:spLocks noGrp="1"/>
          </p:cNvSpPr>
          <p:nvPr>
            <p:ph type="title"/>
          </p:nvPr>
        </p:nvSpPr>
        <p:spPr>
          <a:xfrm>
            <a:off x="185195" y="146095"/>
            <a:ext cx="12003755" cy="1194871"/>
          </a:xfrm>
        </p:spPr>
        <p:txBody>
          <a:bodyPr>
            <a:noAutofit/>
          </a:bodyPr>
          <a:lstStyle/>
          <a:p>
            <a:r>
              <a:rPr lang="en-US" sz="2800" b="1" dirty="0">
                <a:solidFill>
                  <a:schemeClr val="accent6">
                    <a:lumMod val="75000"/>
                  </a:schemeClr>
                </a:solidFill>
                <a:latin typeface="Arial" panose="020B0604020202020204" pitchFamily="34" charset="0"/>
                <a:ea typeface="Yu Mincho" panose="02020400000000000000" pitchFamily="18" charset="-128"/>
              </a:rPr>
              <a:t>Sub-component 2.1: Strengthening collaborative regional and national Multisectoral disease surveillance and laboratory systems capacity </a:t>
            </a:r>
            <a:endParaRPr lang="en-US" sz="2800" b="1" dirty="0">
              <a:solidFill>
                <a:schemeClr val="accent6">
                  <a:lumMod val="75000"/>
                </a:schemeClr>
              </a:solidFill>
            </a:endParaRPr>
          </a:p>
        </p:txBody>
      </p:sp>
      <p:graphicFrame>
        <p:nvGraphicFramePr>
          <p:cNvPr id="5" name="Content Placeholder 2">
            <a:extLst>
              <a:ext uri="{FF2B5EF4-FFF2-40B4-BE49-F238E27FC236}">
                <a16:creationId xmlns:a16="http://schemas.microsoft.com/office/drawing/2014/main" id="{94FDE402-C165-9392-D7F5-7B4FE362D35F}"/>
              </a:ext>
            </a:extLst>
          </p:cNvPr>
          <p:cNvGraphicFramePr>
            <a:graphicFrameLocks noGrp="1"/>
          </p:cNvGraphicFramePr>
          <p:nvPr>
            <p:ph idx="1"/>
            <p:extLst>
              <p:ext uri="{D42A27DB-BD31-4B8C-83A1-F6EECF244321}">
                <p14:modId xmlns:p14="http://schemas.microsoft.com/office/powerpoint/2010/main" val="2180695362"/>
              </p:ext>
            </p:extLst>
          </p:nvPr>
        </p:nvGraphicFramePr>
        <p:xfrm>
          <a:off x="185195" y="1416204"/>
          <a:ext cx="11950861" cy="53665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2454560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EC595-5C2B-3DA8-920A-E8F8F7785A9C}"/>
              </a:ext>
            </a:extLst>
          </p:cNvPr>
          <p:cNvSpPr>
            <a:spLocks noGrp="1"/>
          </p:cNvSpPr>
          <p:nvPr>
            <p:ph type="title"/>
          </p:nvPr>
        </p:nvSpPr>
        <p:spPr>
          <a:ln>
            <a:solidFill>
              <a:schemeClr val="accent2"/>
            </a:solidFill>
          </a:ln>
        </p:spPr>
        <p:txBody>
          <a:bodyPr>
            <a:normAutofit fontScale="90000"/>
          </a:bodyPr>
          <a:lstStyle/>
          <a:p>
            <a:br>
              <a:rPr lang="en-US" dirty="0"/>
            </a:br>
            <a:r>
              <a:rPr lang="en-US" sz="3100" b="1" dirty="0">
                <a:solidFill>
                  <a:schemeClr val="accent6">
                    <a:lumMod val="75000"/>
                  </a:schemeClr>
                </a:solidFill>
                <a:latin typeface="Arial" panose="020B0604020202020204" pitchFamily="34" charset="0"/>
                <a:cs typeface="Arial" panose="020B0604020202020204" pitchFamily="34" charset="0"/>
              </a:rPr>
              <a:t>Sub-component 2.2: Supporting Emergency Management and Coordination  </a:t>
            </a:r>
            <a:br>
              <a:rPr lang="en-US" dirty="0"/>
            </a:br>
            <a:endParaRPr lang="en-US" dirty="0"/>
          </a:p>
        </p:txBody>
      </p:sp>
      <p:sp>
        <p:nvSpPr>
          <p:cNvPr id="3" name="Content Placeholder 2">
            <a:extLst>
              <a:ext uri="{FF2B5EF4-FFF2-40B4-BE49-F238E27FC236}">
                <a16:creationId xmlns:a16="http://schemas.microsoft.com/office/drawing/2014/main" id="{7FE0049B-8497-70AC-BA76-12A89415D4C2}"/>
              </a:ext>
            </a:extLst>
          </p:cNvPr>
          <p:cNvSpPr>
            <a:spLocks noGrp="1"/>
          </p:cNvSpPr>
          <p:nvPr>
            <p:ph idx="1"/>
          </p:nvPr>
        </p:nvSpPr>
        <p:spPr>
          <a:ln>
            <a:solidFill>
              <a:schemeClr val="accent2">
                <a:lumMod val="75000"/>
              </a:schemeClr>
            </a:solidFill>
          </a:ln>
        </p:spPr>
        <p:txBody>
          <a:bodyPr>
            <a:normAutofit fontScale="92500"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sng" strike="noStrike" kern="1200" cap="none" spc="0" normalizeH="0" baseline="0" noProof="0" dirty="0">
                <a:ln>
                  <a:noFill/>
                </a:ln>
                <a:solidFill>
                  <a:prstClr val="black"/>
                </a:solidFill>
                <a:effectLst/>
                <a:uLnTx/>
                <a:uFillTx/>
                <a:latin typeface="Arial" panose="020B0604020202020204" pitchFamily="34" charset="0"/>
                <a:ea typeface="+mn-ea"/>
                <a:cs typeface="+mn-cs"/>
              </a:rPr>
              <a:t>Convening of the NBW Workshop for Rwanda: </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This activity was planned to be implemented in collaboration with various partner organizations: FAO, WHO, WOAH and ECSA HC </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Concept note developed with approval obtained from the World bank </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Meeting Host: Rwanda RBC and taking lead in the implementation of the activity with technical and financial support from IGAD and partners </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The workshop postponed as a result of the EVD outbreak in the region, and that most of the team leads for various key sectors / units in the MOH/RBW  and livestock are engaged in the preparedness efforts   </a:t>
            </a:r>
          </a:p>
          <a:p>
            <a:endParaRPr lang="en-US" dirty="0"/>
          </a:p>
        </p:txBody>
      </p:sp>
    </p:spTree>
    <p:extLst>
      <p:ext uri="{BB962C8B-B14F-4D97-AF65-F5344CB8AC3E}">
        <p14:creationId xmlns:p14="http://schemas.microsoft.com/office/powerpoint/2010/main" val="462630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6C1F2-8E52-98DF-0408-C22E927795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E9D5E3-458F-0CA0-DD82-9C2B2EAA8529}"/>
              </a:ext>
            </a:extLst>
          </p:cNvPr>
          <p:cNvSpPr txBox="1"/>
          <p:nvPr/>
        </p:nvSpPr>
        <p:spPr>
          <a:xfrm>
            <a:off x="255702" y="3429000"/>
            <a:ext cx="4345880" cy="3477875"/>
          </a:xfrm>
          <a:prstGeom prst="rect">
            <a:avLst/>
          </a:prstGeom>
          <a:noFill/>
          <a:ln>
            <a:solidFill>
              <a:schemeClr val="accent2"/>
            </a:solidFill>
          </a:ln>
        </p:spPr>
        <p:txBody>
          <a:bodyPr wrap="square" rtlCol="0">
            <a:spAutoFit/>
          </a:bodyPr>
          <a:lstStyle/>
          <a:p>
            <a:r>
              <a:rPr lang="en-US" sz="2400" b="1" dirty="0">
                <a:latin typeface="Arial" panose="020B0604020202020204" pitchFamily="34" charset="0"/>
              </a:rPr>
              <a:t>Supporting Integration of Mental Health and Psychosocial Support (MHPSS) in the Health Emergency Preparedness and Response and in Cross-border Programming</a:t>
            </a:r>
            <a:endParaRPr lang="en-US" sz="24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00" b="1" i="0" u="none" strike="noStrike" kern="1200" cap="none" spc="0" normalizeH="0" baseline="0" noProof="0" dirty="0">
              <a:ln>
                <a:noFill/>
              </a:ln>
              <a:solidFill>
                <a:srgbClr val="000000"/>
              </a:solidFill>
              <a:effectLst/>
              <a:uLnTx/>
              <a:uFillTx/>
              <a:latin typeface="Arial" panose="020B0604020202020204" pitchFamily="34" charset="0"/>
              <a:ea typeface="Yu Mincho" panose="02020400000000000000" pitchFamily="18" charset="-128"/>
              <a:cs typeface="Arial" panose="020B0604020202020204" pitchFamily="34" charset="0"/>
            </a:endParaRPr>
          </a:p>
        </p:txBody>
      </p:sp>
      <p:pic>
        <p:nvPicPr>
          <p:cNvPr id="5" name="Picture 14" descr="C:\Users\Ketema\Documents\IGAD-Dec 2019\IGAD-New-LOGO\Logo w_ island_P.jpg">
            <a:extLst>
              <a:ext uri="{FF2B5EF4-FFF2-40B4-BE49-F238E27FC236}">
                <a16:creationId xmlns:a16="http://schemas.microsoft.com/office/drawing/2014/main" id="{AD6AF337-24A8-1C49-A589-9C3E5A9679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0885"/>
          <a:stretch>
            <a:fillRect/>
          </a:stretch>
        </p:blipFill>
        <p:spPr bwMode="auto">
          <a:xfrm>
            <a:off x="4816394" y="0"/>
            <a:ext cx="2022043" cy="1265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D9496ABC-0318-5A49-0E67-E9609F80FEE8}"/>
              </a:ext>
            </a:extLst>
          </p:cNvPr>
          <p:cNvSpPr txBox="1">
            <a:spLocks noGrp="1"/>
          </p:cNvSpPr>
          <p:nvPr>
            <p:ph type="ctrTitle"/>
          </p:nvPr>
        </p:nvSpPr>
        <p:spPr>
          <a:xfrm>
            <a:off x="233679" y="1265070"/>
            <a:ext cx="4345881" cy="1626763"/>
          </a:xfrm>
          <a:prstGeom prst="rect">
            <a:avLst/>
          </a:prstGeom>
          <a:ln>
            <a:solidFill>
              <a:schemeClr val="accent2"/>
            </a:solidFill>
          </a:ln>
        </p:spPr>
        <p:txBody>
          <a:bodyPr>
            <a:normAutofit fontScale="90000"/>
          </a:bodyPr>
          <a:lstStyle/>
          <a:p>
            <a:pPr algn="l">
              <a:defRPr sz="2500">
                <a:solidFill>
                  <a:srgbClr val="008000"/>
                </a:solidFill>
                <a:latin typeface="Arial"/>
                <a:ea typeface="Arial"/>
                <a:cs typeface="Arial"/>
                <a:sym typeface="Arial"/>
              </a:defRPr>
            </a:pP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r>
              <a:rPr lang="en-US" sz="3200" b="1" dirty="0">
                <a:solidFill>
                  <a:srgbClr val="008000"/>
                </a:solidFill>
                <a:latin typeface="Arial" panose="020B0604020202020204" pitchFamily="34" charset="0"/>
                <a:cs typeface="Arial" panose="020B0604020202020204" pitchFamily="34" charset="0"/>
              </a:rPr>
              <a:t>Sub-C</a:t>
            </a:r>
            <a:r>
              <a:rPr lang="en-US" sz="3100" b="1" dirty="0">
                <a:solidFill>
                  <a:srgbClr val="008000"/>
                </a:solidFill>
                <a:latin typeface="Arial" panose="020B0604020202020204" pitchFamily="34" charset="0"/>
                <a:cs typeface="Arial" panose="020B0604020202020204" pitchFamily="34" charset="0"/>
              </a:rPr>
              <a:t>omponent 2.3</a:t>
            </a:r>
            <a:br>
              <a:rPr lang="en-US" sz="4400" dirty="0">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endParaRPr lang="en-GB" sz="2000" b="1" dirty="0">
              <a:solidFill>
                <a:srgbClr val="000000"/>
              </a:solidFill>
              <a:latin typeface="Arial" panose="020B0604020202020204" pitchFamily="34" charset="0"/>
              <a:cs typeface="Arial" panose="020B0604020202020204" pitchFamily="34" charset="0"/>
            </a:endParaRPr>
          </a:p>
        </p:txBody>
      </p:sp>
      <p:pic>
        <p:nvPicPr>
          <p:cNvPr id="7" name="Picture 6" descr="C:\Users\Med\Downloads\WhatsApp Image 2026-05-29 at 9.46.19 PM.jpeg"/>
          <p:cNvPicPr/>
          <p:nvPr/>
        </p:nvPicPr>
        <p:blipFill>
          <a:blip r:embed="rId4">
            <a:extLst>
              <a:ext uri="{28A0092B-C50C-407E-A947-70E740481C1C}">
                <a14:useLocalDpi xmlns:a14="http://schemas.microsoft.com/office/drawing/2010/main" val="0"/>
              </a:ext>
            </a:extLst>
          </a:blip>
          <a:srcRect/>
          <a:stretch>
            <a:fillRect/>
          </a:stretch>
        </p:blipFill>
        <p:spPr bwMode="auto">
          <a:xfrm>
            <a:off x="4579560" y="1265070"/>
            <a:ext cx="7477760" cy="5471010"/>
          </a:xfrm>
          <a:prstGeom prst="rect">
            <a:avLst/>
          </a:prstGeom>
          <a:noFill/>
          <a:ln>
            <a:noFill/>
          </a:ln>
        </p:spPr>
      </p:pic>
    </p:spTree>
    <p:custDataLst>
      <p:tags r:id="rId1"/>
    </p:custDataLst>
    <p:extLst>
      <p:ext uri="{BB962C8B-B14F-4D97-AF65-F5344CB8AC3E}">
        <p14:creationId xmlns:p14="http://schemas.microsoft.com/office/powerpoint/2010/main" val="4045128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CC199-CCBB-EE35-A39A-05AE6E6212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621739-C52A-D1A3-E3F3-F623867945F7}"/>
              </a:ext>
            </a:extLst>
          </p:cNvPr>
          <p:cNvSpPr>
            <a:spLocks noGrp="1"/>
          </p:cNvSpPr>
          <p:nvPr>
            <p:ph type="title"/>
          </p:nvPr>
        </p:nvSpPr>
        <p:spPr>
          <a:xfrm>
            <a:off x="209551" y="214023"/>
            <a:ext cx="11810999" cy="1011647"/>
          </a:xfrm>
          <a:ln>
            <a:solidFill>
              <a:schemeClr val="accent2"/>
            </a:solidFill>
          </a:ln>
        </p:spPr>
        <p:txBody>
          <a:bodyPr>
            <a:noAutofit/>
          </a:bodyPr>
          <a:lstStyle/>
          <a:p>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Sub-component 2.3: Supporting integration of NCDs and Mental Health </a:t>
            </a: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85B4633-9F7B-E165-74BC-575BDA1B0D5D}"/>
              </a:ext>
            </a:extLst>
          </p:cNvPr>
          <p:cNvSpPr>
            <a:spLocks noGrp="1"/>
          </p:cNvSpPr>
          <p:nvPr>
            <p:ph idx="1"/>
          </p:nvPr>
        </p:nvSpPr>
        <p:spPr>
          <a:xfrm>
            <a:off x="190500" y="1371600"/>
            <a:ext cx="11810999" cy="5272377"/>
          </a:xfrm>
          <a:ln>
            <a:solidFill>
              <a:schemeClr val="accent2"/>
            </a:solidFill>
          </a:ln>
        </p:spPr>
        <p:txBody>
          <a:bodyPr>
            <a:normAutofit fontScale="77500" lnSpcReduction="20000"/>
          </a:bodyPr>
          <a:lstStyle/>
          <a:p>
            <a:pPr>
              <a:buFont typeface="Wingdings" panose="05000000000000000000" pitchFamily="2" charset="2"/>
              <a:buChar char="Ø"/>
            </a:pPr>
            <a:r>
              <a:rPr lang="en-US" sz="3200" dirty="0"/>
              <a:t> Situational assessment on MHPSS system in eight MPA participating countries</a:t>
            </a:r>
          </a:p>
          <a:p>
            <a:pPr lvl="1"/>
            <a:r>
              <a:rPr lang="en-US" dirty="0"/>
              <a:t>Developed </a:t>
            </a:r>
            <a:r>
              <a:rPr lang="en-US" dirty="0" err="1"/>
              <a:t>ToR</a:t>
            </a:r>
            <a:r>
              <a:rPr lang="en-US" dirty="0"/>
              <a:t> and established Local research team (</a:t>
            </a:r>
            <a:r>
              <a:rPr lang="en-US" b="1" dirty="0"/>
              <a:t>24</a:t>
            </a:r>
            <a:r>
              <a:rPr lang="en-US" dirty="0"/>
              <a:t>) with three members in each country (</a:t>
            </a:r>
            <a:r>
              <a:rPr lang="en-US" b="1" dirty="0"/>
              <a:t>24</a:t>
            </a:r>
            <a:r>
              <a:rPr lang="en-US" dirty="0"/>
              <a:t>) </a:t>
            </a:r>
          </a:p>
          <a:p>
            <a:pPr lvl="1"/>
            <a:r>
              <a:rPr lang="en-US" dirty="0"/>
              <a:t>Customized the regional protocol to country context and IRB submission forms of protocol for all the eight countries.</a:t>
            </a:r>
          </a:p>
          <a:p>
            <a:pPr>
              <a:buFont typeface="Wingdings" panose="05000000000000000000" pitchFamily="2" charset="2"/>
              <a:buChar char="Ø"/>
            </a:pPr>
            <a:r>
              <a:rPr lang="en-US" dirty="0"/>
              <a:t> Ethical Approval obtained: 6/8 (75%).</a:t>
            </a:r>
          </a:p>
          <a:p>
            <a:pPr lvl="1">
              <a:buFont typeface="Wingdings" panose="05000000000000000000" pitchFamily="2" charset="2"/>
              <a:buChar char="ü"/>
            </a:pPr>
            <a:r>
              <a:rPr lang="en-US" sz="2600" dirty="0"/>
              <a:t>Full Ethical approval obtained for </a:t>
            </a:r>
            <a:r>
              <a:rPr lang="en-US" sz="2600" b="1" dirty="0"/>
              <a:t>five</a:t>
            </a:r>
            <a:r>
              <a:rPr lang="en-US" sz="2600" dirty="0"/>
              <a:t> study participating countries: STP, DRC, Burundi, Zambia and Kenya.</a:t>
            </a:r>
          </a:p>
          <a:p>
            <a:pPr lvl="1">
              <a:buFont typeface="Wingdings" panose="05000000000000000000" pitchFamily="2" charset="2"/>
              <a:buChar char="ü"/>
            </a:pPr>
            <a:r>
              <a:rPr lang="en-US" sz="2600" dirty="0"/>
              <a:t> Conditional approval for Rwanda.</a:t>
            </a:r>
          </a:p>
          <a:p>
            <a:pPr lvl="1">
              <a:buFont typeface="Wingdings" panose="05000000000000000000" pitchFamily="2" charset="2"/>
              <a:buChar char="ü"/>
            </a:pPr>
            <a:r>
              <a:rPr lang="en-US" sz="2600" dirty="0"/>
              <a:t>Under review: two (Ethiopia and Malawi)</a:t>
            </a:r>
          </a:p>
          <a:p>
            <a:pPr>
              <a:buFont typeface="Wingdings" panose="05000000000000000000" pitchFamily="2" charset="2"/>
              <a:buChar char="Ø"/>
            </a:pPr>
            <a:r>
              <a:rPr lang="en-US" sz="3200" dirty="0"/>
              <a:t>Deployed </a:t>
            </a:r>
            <a:r>
              <a:rPr lang="en-US" sz="3200" b="1" dirty="0"/>
              <a:t>32</a:t>
            </a:r>
            <a:r>
              <a:rPr lang="en-US" sz="3200" dirty="0"/>
              <a:t> data collectors in the eight participating countries (18 M &amp; 14 F)</a:t>
            </a:r>
          </a:p>
          <a:p>
            <a:pPr>
              <a:buFont typeface="Wingdings" panose="05000000000000000000" pitchFamily="2" charset="2"/>
              <a:buChar char="Ø"/>
            </a:pPr>
            <a:r>
              <a:rPr lang="en-US" sz="3200" dirty="0"/>
              <a:t>Provided two </a:t>
            </a:r>
            <a:r>
              <a:rPr lang="en-US" sz="3200" b="1" dirty="0"/>
              <a:t>days orientation </a:t>
            </a:r>
            <a:r>
              <a:rPr lang="en-US" sz="3200" dirty="0"/>
              <a:t>on the  protocol, Data collection tools, techniques and facilitation of GFD and Ethics compliance to </a:t>
            </a:r>
            <a:r>
              <a:rPr lang="en-US" sz="3200" b="1" dirty="0"/>
              <a:t>54</a:t>
            </a:r>
            <a:r>
              <a:rPr lang="en-US" sz="3200" dirty="0"/>
              <a:t> data collectors and local research team ( 33 M and 21 F)</a:t>
            </a:r>
          </a:p>
          <a:p>
            <a:pPr>
              <a:buFont typeface="Wingdings" panose="05000000000000000000" pitchFamily="2" charset="2"/>
              <a:buChar char="Ø"/>
            </a:pPr>
            <a:r>
              <a:rPr lang="en-US" sz="3200" dirty="0"/>
              <a:t>Data collection: Out of the five with full Ethical approval, three countries started data collection</a:t>
            </a:r>
          </a:p>
          <a:p>
            <a:pPr marL="0" indent="0">
              <a:buNone/>
            </a:pPr>
            <a:r>
              <a:rPr lang="en-US" sz="3000" dirty="0"/>
              <a:t> </a:t>
            </a:r>
          </a:p>
          <a:p>
            <a:pPr marL="0" indent="0">
              <a:buNone/>
            </a:pPr>
            <a:endParaRPr lang="en-US" sz="2600" dirty="0"/>
          </a:p>
        </p:txBody>
      </p:sp>
    </p:spTree>
    <p:custDataLst>
      <p:tags r:id="rId1"/>
    </p:custDataLst>
    <p:extLst>
      <p:ext uri="{BB962C8B-B14F-4D97-AF65-F5344CB8AC3E}">
        <p14:creationId xmlns:p14="http://schemas.microsoft.com/office/powerpoint/2010/main" val="137104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CC199-CCBB-EE35-A39A-05AE6E6212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621739-C52A-D1A3-E3F3-F623867945F7}"/>
              </a:ext>
            </a:extLst>
          </p:cNvPr>
          <p:cNvSpPr>
            <a:spLocks noGrp="1"/>
          </p:cNvSpPr>
          <p:nvPr>
            <p:ph type="title"/>
          </p:nvPr>
        </p:nvSpPr>
        <p:spPr>
          <a:xfrm>
            <a:off x="209551" y="214023"/>
            <a:ext cx="11810999" cy="1011647"/>
          </a:xfrm>
          <a:ln>
            <a:solidFill>
              <a:schemeClr val="accent2"/>
            </a:solidFill>
          </a:ln>
        </p:spPr>
        <p:txBody>
          <a:bodyPr>
            <a:noAutofit/>
          </a:bodyPr>
          <a:lstStyle/>
          <a:p>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Sub-component 2.3: Supporting integration of NCDs and Mental Health </a:t>
            </a: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2800"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85B4633-9F7B-E165-74BC-575BDA1B0D5D}"/>
              </a:ext>
            </a:extLst>
          </p:cNvPr>
          <p:cNvSpPr>
            <a:spLocks noGrp="1"/>
          </p:cNvSpPr>
          <p:nvPr>
            <p:ph idx="1"/>
          </p:nvPr>
        </p:nvSpPr>
        <p:spPr>
          <a:xfrm>
            <a:off x="190500" y="1371600"/>
            <a:ext cx="11810999" cy="5272377"/>
          </a:xfrm>
          <a:ln>
            <a:solidFill>
              <a:schemeClr val="accent2"/>
            </a:solidFill>
          </a:ln>
        </p:spPr>
        <p:txBody>
          <a:bodyPr>
            <a:normAutofit fontScale="92500" lnSpcReduction="10000"/>
          </a:bodyPr>
          <a:lstStyle/>
          <a:p>
            <a:pPr>
              <a:buFont typeface="Wingdings" panose="05000000000000000000" pitchFamily="2" charset="2"/>
              <a:buChar char="Ø"/>
            </a:pPr>
            <a:r>
              <a:rPr lang="en-US" sz="3200" dirty="0"/>
              <a:t> </a:t>
            </a:r>
            <a:r>
              <a:rPr lang="en-US" sz="2700" dirty="0"/>
              <a:t>COP on NCDs and Mental Health </a:t>
            </a:r>
          </a:p>
          <a:p>
            <a:pPr lvl="1"/>
            <a:r>
              <a:rPr lang="en-US" dirty="0"/>
              <a:t>Convened virtual COP meeting on NCD&amp;MH  on 24 June with the aim to exchange knowledge and lessons on: </a:t>
            </a:r>
          </a:p>
          <a:p>
            <a:pPr lvl="1"/>
            <a:r>
              <a:rPr lang="en-GB" dirty="0"/>
              <a:t>2025 STEP Survey Results: Presentation of findings from Burundi and Ethiopia.</a:t>
            </a:r>
            <a:endParaRPr lang="en-US" dirty="0"/>
          </a:p>
          <a:p>
            <a:pPr lvl="1"/>
            <a:r>
              <a:rPr lang="en-GB" dirty="0"/>
              <a:t>Specialized Data Review: Analysis of the Mental Health component of the 2025 STEP survey in DRC.</a:t>
            </a:r>
            <a:endParaRPr lang="en-US" dirty="0"/>
          </a:p>
          <a:p>
            <a:pPr lvl="1"/>
            <a:r>
              <a:rPr lang="en-GB" dirty="0"/>
              <a:t>Thematic Knowledge Sharing: A review of experiences and challenges regarding Child &amp; Adolescent Mental Health, led by Rwanda.</a:t>
            </a:r>
          </a:p>
          <a:p>
            <a:pPr>
              <a:buFont typeface="Wingdings" panose="05000000000000000000" pitchFamily="2" charset="2"/>
              <a:buChar char="Ø"/>
            </a:pPr>
            <a:r>
              <a:rPr lang="en-US" dirty="0"/>
              <a:t> Peer learning mission on NCD and Mental Health to Rwanda: </a:t>
            </a:r>
          </a:p>
          <a:p>
            <a:pPr marL="0" indent="0">
              <a:buNone/>
            </a:pPr>
            <a:r>
              <a:rPr lang="en-US" sz="2400" dirty="0"/>
              <a:t>Preparation for visit to acquire experiences on NCD, MH and digital health in Rwanda has been started. </a:t>
            </a:r>
          </a:p>
          <a:p>
            <a:pPr lvl="1"/>
            <a:r>
              <a:rPr lang="en-US" dirty="0"/>
              <a:t>Concept note for the mission developed and shared with  the Rwanda team.</a:t>
            </a:r>
          </a:p>
          <a:p>
            <a:pPr lvl="1"/>
            <a:r>
              <a:rPr lang="en-US" dirty="0"/>
              <a:t>Checklist for the experience sharing visit   prepared  and shared with .</a:t>
            </a:r>
          </a:p>
          <a:p>
            <a:pPr lvl="1"/>
            <a:r>
              <a:rPr lang="en-US" dirty="0"/>
              <a:t> Received Confirmation from RBC. </a:t>
            </a:r>
          </a:p>
          <a:p>
            <a:pPr lvl="1"/>
            <a:r>
              <a:rPr lang="en-US" dirty="0"/>
              <a:t> The  experience sharing visit to Rwanda will be held from 20-24 July 2026</a:t>
            </a:r>
          </a:p>
        </p:txBody>
      </p:sp>
    </p:spTree>
    <p:custDataLst>
      <p:tags r:id="rId1"/>
    </p:custDataLst>
    <p:extLst>
      <p:ext uri="{BB962C8B-B14F-4D97-AF65-F5344CB8AC3E}">
        <p14:creationId xmlns:p14="http://schemas.microsoft.com/office/powerpoint/2010/main" val="12015025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3BDBE-5952-FFD9-DADB-A55F9DE5710C}"/>
            </a:ext>
          </a:extLst>
        </p:cNvPr>
        <p:cNvGrpSpPr/>
        <p:nvPr/>
      </p:nvGrpSpPr>
      <p:grpSpPr>
        <a:xfrm>
          <a:off x="0" y="0"/>
          <a:ext cx="0" cy="0"/>
          <a:chOff x="0" y="0"/>
          <a:chExt cx="0" cy="0"/>
        </a:xfrm>
      </p:grpSpPr>
      <p:pic>
        <p:nvPicPr>
          <p:cNvPr id="5" name="Picture 14" descr="C:\Users\Ketema\Documents\IGAD-Dec 2019\IGAD-New-LOGO\Logo w_ island_P.jpg">
            <a:extLst>
              <a:ext uri="{FF2B5EF4-FFF2-40B4-BE49-F238E27FC236}">
                <a16:creationId xmlns:a16="http://schemas.microsoft.com/office/drawing/2014/main" id="{A12E2D63-2187-9D07-F0E6-FED992E6D9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20885"/>
          <a:stretch>
            <a:fillRect/>
          </a:stretch>
        </p:blipFill>
        <p:spPr bwMode="auto">
          <a:xfrm>
            <a:off x="4868153" y="525091"/>
            <a:ext cx="2022043" cy="1265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976B1AA6-AE99-923A-EF75-FEC7D8C420B0}"/>
              </a:ext>
            </a:extLst>
          </p:cNvPr>
          <p:cNvSpPr txBox="1">
            <a:spLocks noGrp="1"/>
          </p:cNvSpPr>
          <p:nvPr>
            <p:ph type="ctrTitle"/>
          </p:nvPr>
        </p:nvSpPr>
        <p:spPr>
          <a:xfrm>
            <a:off x="616456" y="2118798"/>
            <a:ext cx="10725134" cy="2174421"/>
          </a:xfrm>
          <a:prstGeom prst="rect">
            <a:avLst/>
          </a:prstGeom>
          <a:ln>
            <a:solidFill>
              <a:schemeClr val="accent2"/>
            </a:solidFill>
          </a:ln>
        </p:spPr>
        <p:txBody>
          <a:bodyPr>
            <a:normAutofit fontScale="90000"/>
          </a:bodyPr>
          <a:lstStyle/>
          <a:p>
            <a:pPr>
              <a:defRPr sz="2500">
                <a:solidFill>
                  <a:srgbClr val="008000"/>
                </a:solidFill>
                <a:latin typeface="Arial"/>
                <a:ea typeface="Arial"/>
                <a:cs typeface="Arial"/>
                <a:sym typeface="Arial"/>
              </a:defRPr>
            </a:pP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br>
              <a:rPr lang="en-US" sz="3200" b="1" dirty="0">
                <a:solidFill>
                  <a:srgbClr val="008000"/>
                </a:solidFill>
                <a:latin typeface="Arial" panose="020B0604020202020204" pitchFamily="34" charset="0"/>
                <a:cs typeface="Arial" panose="020B0604020202020204" pitchFamily="34" charset="0"/>
              </a:rPr>
            </a:br>
            <a:r>
              <a:rPr lang="en-US" sz="3100" b="1" dirty="0">
                <a:solidFill>
                  <a:srgbClr val="00B050"/>
                </a:solidFill>
                <a:latin typeface="Arial" panose="020B0604020202020204" pitchFamily="34" charset="0"/>
                <a:cs typeface="Arial" panose="020B0604020202020204" pitchFamily="34" charset="0"/>
              </a:rPr>
              <a:t>Component 3: </a:t>
            </a:r>
            <a:r>
              <a:rPr lang="en-US" sz="3100" b="1" dirty="0">
                <a:solidFill>
                  <a:srgbClr val="00B050"/>
                </a:solidFill>
                <a:latin typeface="Arial" panose="020B0604020202020204" pitchFamily="34" charset="0"/>
                <a:ea typeface="Yu Mincho" panose="02020400000000000000" pitchFamily="18" charset="-128"/>
                <a:cs typeface="Arial" panose="020B0604020202020204" pitchFamily="34" charset="0"/>
              </a:rPr>
              <a:t>Project Management</a:t>
            </a:r>
            <a:br>
              <a:rPr lang="en-US" sz="3100" b="1"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3100" b="1"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3100" b="1" dirty="0">
                <a:solidFill>
                  <a:srgbClr val="000000"/>
                </a:solidFill>
                <a:latin typeface="Arial" panose="020B0604020202020204" pitchFamily="34" charset="0"/>
                <a:ea typeface="Yu Mincho" panose="02020400000000000000" pitchFamily="18" charset="-128"/>
                <a:cs typeface="Arial" panose="020B0604020202020204" pitchFamily="34" charset="0"/>
              </a:rPr>
              <a:t> </a:t>
            </a:r>
            <a:endParaRPr lang="en-GB" sz="3100" b="1" dirty="0">
              <a:solidFill>
                <a:srgbClr val="000000"/>
              </a:solidFill>
              <a:latin typeface="Arial" panose="020B0604020202020204" pitchFamily="34" charset="0"/>
              <a:ea typeface="Yu Mincho" panose="02020400000000000000" pitchFamily="18" charset="-128"/>
              <a:cs typeface="Arial" panose="020B0604020202020204" pitchFamily="34" charset="0"/>
            </a:endParaRPr>
          </a:p>
        </p:txBody>
      </p:sp>
    </p:spTree>
    <p:custDataLst>
      <p:tags r:id="rId1"/>
    </p:custDataLst>
    <p:extLst>
      <p:ext uri="{BB962C8B-B14F-4D97-AF65-F5344CB8AC3E}">
        <p14:creationId xmlns:p14="http://schemas.microsoft.com/office/powerpoint/2010/main" val="3053742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2A236-C28C-2298-ABFF-2707E23F0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28C85E-AEF8-CF22-A240-53E9405FDBF9}"/>
              </a:ext>
            </a:extLst>
          </p:cNvPr>
          <p:cNvSpPr>
            <a:spLocks noGrp="1"/>
          </p:cNvSpPr>
          <p:nvPr>
            <p:ph type="title"/>
          </p:nvPr>
        </p:nvSpPr>
        <p:spPr>
          <a:xfrm>
            <a:off x="261257" y="141889"/>
            <a:ext cx="11713029" cy="910533"/>
          </a:xfrm>
          <a:ln>
            <a:solidFill>
              <a:schemeClr val="accent2"/>
            </a:solidFill>
          </a:ln>
        </p:spPr>
        <p:txBody>
          <a:bodyPr>
            <a:normAutofit fontScale="90000"/>
          </a:bodyPr>
          <a:lstStyle/>
          <a:p>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3100" b="1" dirty="0">
                <a:solidFill>
                  <a:srgbClr val="008000"/>
                </a:solidFill>
                <a:latin typeface="Arial" panose="020B0604020202020204" pitchFamily="34" charset="0"/>
                <a:cs typeface="Arial" panose="020B0604020202020204" pitchFamily="34" charset="0"/>
              </a:rPr>
              <a:t>Subcomponent 3.1 M &amp; E</a:t>
            </a:r>
            <a:br>
              <a:rPr lang="en-US" sz="32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31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065C046D-57E0-E156-6C76-42484C11D393}"/>
              </a:ext>
            </a:extLst>
          </p:cNvPr>
          <p:cNvSpPr>
            <a:spLocks noGrp="1"/>
          </p:cNvSpPr>
          <p:nvPr>
            <p:ph idx="1"/>
          </p:nvPr>
        </p:nvSpPr>
        <p:spPr>
          <a:xfrm>
            <a:off x="261257" y="1324302"/>
            <a:ext cx="11713029" cy="5144592"/>
          </a:xfrm>
          <a:ln>
            <a:solidFill>
              <a:schemeClr val="accent2"/>
            </a:solidFill>
          </a:ln>
        </p:spPr>
        <p:txBody>
          <a:bodyPr>
            <a:normAutofit/>
          </a:bodyPr>
          <a:lstStyle/>
          <a:p>
            <a:r>
              <a:rPr lang="en-US" sz="2400" dirty="0"/>
              <a:t>The </a:t>
            </a:r>
            <a:r>
              <a:rPr lang="en-US" sz="2400" b="1" dirty="0"/>
              <a:t>IGAD Results Framework</a:t>
            </a:r>
            <a:r>
              <a:rPr lang="en-US" sz="2400" dirty="0"/>
              <a:t> was revised as part of the restructuring and the 1</a:t>
            </a:r>
            <a:r>
              <a:rPr lang="en-US" sz="2400" baseline="30000" dirty="0"/>
              <a:t>st</a:t>
            </a:r>
            <a:r>
              <a:rPr lang="en-US" sz="2400" dirty="0"/>
              <a:t> Additional Financing </a:t>
            </a:r>
          </a:p>
          <a:p>
            <a:pPr lvl="1"/>
            <a:r>
              <a:rPr lang="en-US" sz="2000" dirty="0"/>
              <a:t>2 PDOs and 5 IRIs</a:t>
            </a:r>
          </a:p>
          <a:p>
            <a:endParaRPr lang="en-US" sz="2400" dirty="0"/>
          </a:p>
          <a:p>
            <a:r>
              <a:rPr lang="en-US" sz="2400" dirty="0"/>
              <a:t>Submitted the IGAD bi-annual progress report for the period of July to December 2025 (End of January 2026), and progress report for the period from January to June 2026 will be shared before end of July2026</a:t>
            </a:r>
          </a:p>
          <a:p>
            <a:endParaRPr lang="en-US" sz="2400" dirty="0"/>
          </a:p>
          <a:p>
            <a:r>
              <a:rPr lang="en-US" sz="2400" dirty="0"/>
              <a:t>Supported the Zambia and Botswana ISM mission </a:t>
            </a:r>
          </a:p>
          <a:p>
            <a:r>
              <a:rPr lang="en-US" sz="2400" dirty="0"/>
              <a:t>Participated in the Mozambique baseline assessment </a:t>
            </a:r>
          </a:p>
          <a:p>
            <a:endParaRPr lang="en-US" sz="2400" dirty="0"/>
          </a:p>
          <a:p>
            <a:endParaRPr lang="en-US" sz="2400" dirty="0"/>
          </a:p>
          <a:p>
            <a:endParaRPr lang="en-US" sz="2400" dirty="0"/>
          </a:p>
          <a:p>
            <a:pPr marL="0" indent="0">
              <a:buNone/>
            </a:pPr>
            <a:endParaRPr lang="en-US" sz="2600" dirty="0"/>
          </a:p>
        </p:txBody>
      </p:sp>
    </p:spTree>
    <p:custDataLst>
      <p:tags r:id="rId1"/>
    </p:custDataLst>
    <p:extLst>
      <p:ext uri="{BB962C8B-B14F-4D97-AF65-F5344CB8AC3E}">
        <p14:creationId xmlns:p14="http://schemas.microsoft.com/office/powerpoint/2010/main" val="609997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22EC4-8BCB-3D96-508A-5ED3F6E5321F}"/>
              </a:ext>
            </a:extLst>
          </p:cNvPr>
          <p:cNvSpPr>
            <a:spLocks noGrp="1"/>
          </p:cNvSpPr>
          <p:nvPr>
            <p:ph type="title"/>
          </p:nvPr>
        </p:nvSpPr>
        <p:spPr>
          <a:ln>
            <a:solidFill>
              <a:schemeClr val="accent2"/>
            </a:solidFill>
          </a:ln>
        </p:spPr>
        <p:txBody>
          <a:bodyPr>
            <a:normAutofit/>
          </a:body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b="1" dirty="0">
                <a:solidFill>
                  <a:srgbClr val="008000"/>
                </a:solidFill>
                <a:latin typeface="Arial" panose="020B0604020202020204" pitchFamily="34" charset="0"/>
                <a:cs typeface="Arial" panose="020B0604020202020204" pitchFamily="34" charset="0"/>
              </a:rPr>
              <a:t>3.1.2 Enhance stakeholder engagement, strategic communications and information disclosure</a:t>
            </a:r>
          </a:p>
        </p:txBody>
      </p:sp>
      <p:sp>
        <p:nvSpPr>
          <p:cNvPr id="3" name="Content Placeholder 2">
            <a:extLst>
              <a:ext uri="{FF2B5EF4-FFF2-40B4-BE49-F238E27FC236}">
                <a16:creationId xmlns:a16="http://schemas.microsoft.com/office/drawing/2014/main" id="{AEC1E905-2DF5-B102-F86A-50CB423D3B5B}"/>
              </a:ext>
            </a:extLst>
          </p:cNvPr>
          <p:cNvSpPr>
            <a:spLocks noGrp="1"/>
          </p:cNvSpPr>
          <p:nvPr>
            <p:ph idx="1"/>
          </p:nvPr>
        </p:nvSpPr>
        <p:spPr>
          <a:xfrm>
            <a:off x="838200" y="1825625"/>
            <a:ext cx="10515600" cy="4770384"/>
          </a:xfrm>
        </p:spPr>
        <p:txBody>
          <a:bodyPr>
            <a:normAutofit fontScale="92500" lnSpcReduction="20000"/>
          </a:bodyPr>
          <a:lstStyle/>
          <a:p>
            <a:pPr marL="0" indent="0">
              <a:buNone/>
            </a:pPr>
            <a:r>
              <a:rPr lang="en-US" b="1" dirty="0"/>
              <a:t>Strengthened Programme Visibility &amp; and Brand Positioning</a:t>
            </a:r>
            <a:endParaRPr lang="en-US" dirty="0"/>
          </a:p>
          <a:p>
            <a:r>
              <a:rPr lang="en-US" sz="2600" dirty="0"/>
              <a:t>Developed the </a:t>
            </a:r>
            <a:r>
              <a:rPr lang="en-US" sz="2600" b="1" dirty="0"/>
              <a:t>DRAFT</a:t>
            </a:r>
            <a:r>
              <a:rPr lang="en-US" sz="2600" dirty="0"/>
              <a:t> </a:t>
            </a:r>
            <a:r>
              <a:rPr lang="en-US" sz="2600" b="1" dirty="0"/>
              <a:t>HEPRRP 2026–2030 Communications Strategy</a:t>
            </a:r>
            <a:r>
              <a:rPr lang="en-US" sz="2600" dirty="0"/>
              <a:t> and Draft Programme Visual Identity Guidelines, laying the foundation for consistent regional communications. </a:t>
            </a:r>
          </a:p>
          <a:p>
            <a:r>
              <a:rPr lang="en-US" sz="2600" dirty="0"/>
              <a:t>Enhanced HEPRRP visibility through strategic communications for </a:t>
            </a:r>
            <a:r>
              <a:rPr lang="en-US" sz="2600" b="1" dirty="0"/>
              <a:t>6+ regional physical events</a:t>
            </a:r>
            <a:r>
              <a:rPr lang="en-US" sz="2600" dirty="0"/>
              <a:t> and </a:t>
            </a:r>
            <a:r>
              <a:rPr lang="en-US" sz="2600" b="1" dirty="0"/>
              <a:t>20+ high-level virtual engagements</a:t>
            </a:r>
            <a:r>
              <a:rPr lang="en-US" sz="2600" dirty="0"/>
              <a:t> across Member States. </a:t>
            </a:r>
          </a:p>
          <a:p>
            <a:r>
              <a:rPr lang="en-US" sz="2600" dirty="0"/>
              <a:t>Produced multimedia content including photography, video stories, web articles and social media coverage to showcase programme achievements. </a:t>
            </a:r>
          </a:p>
          <a:p>
            <a:r>
              <a:rPr lang="en-US" sz="2600" dirty="0"/>
              <a:t>Delivered coordinated event branding, visibility materials and partner recognition that strengthened HEPRRP's regional identity. </a:t>
            </a:r>
          </a:p>
          <a:p>
            <a:r>
              <a:rPr lang="en-US" sz="2600" dirty="0"/>
              <a:t>Increased digital visibility through website features and social media campaigns reaching thousands of regional stakeholders.</a:t>
            </a:r>
          </a:p>
          <a:p>
            <a:endParaRPr lang="en-US" dirty="0"/>
          </a:p>
        </p:txBody>
      </p:sp>
    </p:spTree>
    <p:extLst>
      <p:ext uri="{BB962C8B-B14F-4D97-AF65-F5344CB8AC3E}">
        <p14:creationId xmlns:p14="http://schemas.microsoft.com/office/powerpoint/2010/main" val="260098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6F356-B07F-54BB-66CD-E7E15A6CC1DD}"/>
              </a:ext>
            </a:extLst>
          </p:cNvPr>
          <p:cNvSpPr>
            <a:spLocks noGrp="1"/>
          </p:cNvSpPr>
          <p:nvPr>
            <p:ph type="title"/>
          </p:nvPr>
        </p:nvSpPr>
        <p:spPr>
          <a:xfrm>
            <a:off x="111760" y="0"/>
            <a:ext cx="11785600" cy="812800"/>
          </a:xfrm>
          <a:ln>
            <a:solidFill>
              <a:schemeClr val="accent2"/>
            </a:solidFill>
          </a:ln>
        </p:spPr>
        <p:txBody>
          <a:bodyPr>
            <a:normAutofit/>
          </a:bodyPr>
          <a:lstStyle/>
          <a:p>
            <a:r>
              <a:rPr lang="en-GB" sz="2800" b="1" dirty="0">
                <a:solidFill>
                  <a:srgbClr val="008000"/>
                </a:solidFill>
                <a:latin typeface="Arial" panose="020B0604020202020204" pitchFamily="34" charset="0"/>
                <a:cs typeface="Arial" panose="020B0604020202020204" pitchFamily="34" charset="0"/>
              </a:rPr>
              <a:t>Virtual Meetings Supported</a:t>
            </a:r>
            <a:r>
              <a:rPr lang="en-US" sz="2800" b="1" dirty="0">
                <a:solidFill>
                  <a:srgbClr val="008000"/>
                </a:solidFill>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E6EB3C69-75FD-0268-42D6-AB9E422442B7}"/>
              </a:ext>
            </a:extLst>
          </p:cNvPr>
          <p:cNvSpPr>
            <a:spLocks noGrp="1"/>
          </p:cNvSpPr>
          <p:nvPr>
            <p:ph idx="1"/>
          </p:nvPr>
        </p:nvSpPr>
        <p:spPr>
          <a:xfrm>
            <a:off x="111760" y="914400"/>
            <a:ext cx="11785600" cy="5679440"/>
          </a:xfrm>
          <a:ln>
            <a:solidFill>
              <a:schemeClr val="accent2"/>
            </a:solidFill>
          </a:ln>
        </p:spPr>
        <p:txBody>
          <a:bodyPr>
            <a:normAutofit fontScale="92500" lnSpcReduction="10000"/>
          </a:bodyPr>
          <a:lstStyle/>
          <a:p>
            <a:pPr marL="914400" lvl="1" indent="-457200">
              <a:buFont typeface="+mj-lt"/>
              <a:buAutoNum type="arabicPeriod"/>
            </a:pPr>
            <a:r>
              <a:rPr lang="en-GB" dirty="0"/>
              <a:t>Virtual meeting of the Community of Practice </a:t>
            </a:r>
            <a:r>
              <a:rPr lang="en-GB" b="1" dirty="0"/>
              <a:t>(COP) on Climate and Health </a:t>
            </a:r>
            <a:r>
              <a:rPr lang="en-GB" dirty="0"/>
              <a:t>aimed at establishing a collaborative regional platform to strengthen integration of climate considerations into public health systems.  </a:t>
            </a:r>
            <a:endParaRPr lang="en-US" dirty="0"/>
          </a:p>
          <a:p>
            <a:pPr marL="914400" lvl="1" indent="-457200">
              <a:buFont typeface="+mj-lt"/>
              <a:buAutoNum type="arabicPeriod"/>
            </a:pPr>
            <a:r>
              <a:rPr lang="en-GB" dirty="0"/>
              <a:t>Community of Practice </a:t>
            </a:r>
            <a:r>
              <a:rPr lang="en-GB" b="1" dirty="0"/>
              <a:t>(COP) on Local Manufacturing meeting </a:t>
            </a:r>
            <a:r>
              <a:rPr lang="en-GB" dirty="0"/>
              <a:t>to discuss the regional work plan for 2026 and various updates.</a:t>
            </a:r>
            <a:endParaRPr lang="en-US" dirty="0"/>
          </a:p>
          <a:p>
            <a:pPr marL="914400" lvl="1" indent="-457200">
              <a:buFont typeface="+mj-lt"/>
              <a:buAutoNum type="arabicPeriod"/>
            </a:pPr>
            <a:r>
              <a:rPr lang="en-GB" dirty="0"/>
              <a:t>Virtual 4th Community of Practice </a:t>
            </a:r>
            <a:r>
              <a:rPr lang="en-GB" b="1" dirty="0"/>
              <a:t>(COP) Meeting for NCDs and Mental Health </a:t>
            </a:r>
            <a:r>
              <a:rPr lang="en-GB" dirty="0"/>
              <a:t>focusing on sharing and exchanging knowledge on the 2025 STEP and Mental Health survey results, as well as experiences from the Child Mental Health Program.</a:t>
            </a:r>
            <a:endParaRPr lang="en-US" dirty="0"/>
          </a:p>
          <a:p>
            <a:pPr marL="914400" lvl="1" indent="-457200">
              <a:buFont typeface="+mj-lt"/>
              <a:buAutoNum type="arabicPeriod"/>
            </a:pPr>
            <a:r>
              <a:rPr lang="en-GB" dirty="0"/>
              <a:t>Virtual meeting on </a:t>
            </a:r>
            <a:r>
              <a:rPr lang="en-GB" b="1" dirty="0"/>
              <a:t>Establishing Local research NCD and Mental Health research </a:t>
            </a:r>
            <a:r>
              <a:rPr lang="en-GB" dirty="0"/>
              <a:t>discussing preparations for the upcoming NCD and Mental Health research training, including research team nominations, ethics approval processes, translation requirements, logistical planning, and next steps for implementation across participating countries.</a:t>
            </a:r>
            <a:endParaRPr lang="en-US" dirty="0"/>
          </a:p>
          <a:p>
            <a:pPr marL="914400" lvl="1" indent="-457200">
              <a:buFont typeface="+mj-lt"/>
              <a:buAutoNum type="arabicPeriod"/>
            </a:pPr>
            <a:r>
              <a:rPr lang="en-GB" dirty="0"/>
              <a:t>Virtual Meeting to Discuss </a:t>
            </a:r>
            <a:r>
              <a:rPr lang="en-GB" b="1" dirty="0"/>
              <a:t>Endorsement and Operationalization of the I-FELTP Curriculum </a:t>
            </a:r>
            <a:r>
              <a:rPr lang="en-GB" dirty="0"/>
              <a:t>across the MPA participating countries. </a:t>
            </a:r>
            <a:endParaRPr lang="en-US" dirty="0"/>
          </a:p>
          <a:p>
            <a:pPr marL="914400" lvl="1" indent="-457200">
              <a:buFont typeface="+mj-lt"/>
              <a:buAutoNum type="arabicPeriod"/>
            </a:pPr>
            <a:r>
              <a:rPr lang="en-GB" dirty="0"/>
              <a:t>Virtual meeting to follow up on the </a:t>
            </a:r>
            <a:r>
              <a:rPr lang="en-GB" b="1" dirty="0"/>
              <a:t>GENPAR integration across MPA participating</a:t>
            </a:r>
            <a:r>
              <a:rPr lang="en-GB" dirty="0"/>
              <a:t> countries (All the 11 Countries.)</a:t>
            </a:r>
            <a:endParaRPr lang="en-US" dirty="0"/>
          </a:p>
          <a:p>
            <a:pPr marL="914400" lvl="1" indent="-457200">
              <a:buFont typeface="+mj-lt"/>
              <a:buAutoNum type="arabicPeriod"/>
            </a:pPr>
            <a:r>
              <a:rPr lang="en-GB" dirty="0"/>
              <a:t>Virtual IGAD and </a:t>
            </a:r>
            <a:r>
              <a:rPr lang="en-GB" b="1" dirty="0"/>
              <a:t>WIPO Training for Regional Stakeholders </a:t>
            </a:r>
            <a:r>
              <a:rPr lang="en-GB" dirty="0"/>
              <a:t>on Licensing and Technology Transfer for Medical Innovation</a:t>
            </a:r>
            <a:endParaRPr lang="en-US" dirty="0"/>
          </a:p>
        </p:txBody>
      </p:sp>
    </p:spTree>
    <p:custDataLst>
      <p:tags r:id="rId1"/>
    </p:custDataLst>
    <p:extLst>
      <p:ext uri="{BB962C8B-B14F-4D97-AF65-F5344CB8AC3E}">
        <p14:creationId xmlns:p14="http://schemas.microsoft.com/office/powerpoint/2010/main" val="38447340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2BD28-5870-5774-F382-7F7841B063FF}"/>
              </a:ext>
            </a:extLst>
          </p:cNvPr>
          <p:cNvSpPr>
            <a:spLocks noGrp="1"/>
          </p:cNvSpPr>
          <p:nvPr>
            <p:ph type="title"/>
          </p:nvPr>
        </p:nvSpPr>
        <p:spPr>
          <a:ln>
            <a:solidFill>
              <a:schemeClr val="accent2"/>
            </a:solidFill>
          </a:ln>
        </p:spPr>
        <p:txBody>
          <a:bodyPr>
            <a:normAutofit/>
          </a:bodyPr>
          <a:lstStyle/>
          <a:p>
            <a:pPr>
              <a:spcBef>
                <a:spcPts val="1000"/>
              </a:spcBef>
              <a:defRPr/>
            </a:pPr>
            <a:r>
              <a:rPr lang="en-US" sz="2800" b="1" dirty="0">
                <a:solidFill>
                  <a:srgbClr val="008000"/>
                </a:solidFill>
                <a:latin typeface="Arial" panose="020B0604020202020204" pitchFamily="34" charset="0"/>
                <a:cs typeface="Arial" panose="020B0604020202020204" pitchFamily="34" charset="0"/>
              </a:rPr>
              <a:t>Knowledge Management, Learning &amp; Stakeholder Engagement</a:t>
            </a:r>
          </a:p>
        </p:txBody>
      </p:sp>
      <p:sp>
        <p:nvSpPr>
          <p:cNvPr id="3" name="Content Placeholder 2">
            <a:extLst>
              <a:ext uri="{FF2B5EF4-FFF2-40B4-BE49-F238E27FC236}">
                <a16:creationId xmlns:a16="http://schemas.microsoft.com/office/drawing/2014/main" id="{0DC6B318-AB5D-BB11-053D-683E581C80D8}"/>
              </a:ext>
            </a:extLst>
          </p:cNvPr>
          <p:cNvSpPr>
            <a:spLocks noGrp="1"/>
          </p:cNvSpPr>
          <p:nvPr>
            <p:ph idx="1"/>
          </p:nvPr>
        </p:nvSpPr>
        <p:spPr/>
        <p:txBody>
          <a:bodyPr>
            <a:normAutofit fontScale="85000" lnSpcReduction="10000"/>
          </a:bodyPr>
          <a:lstStyle/>
          <a:p>
            <a:pPr marL="0" indent="0">
              <a:buNone/>
            </a:pPr>
            <a:r>
              <a:rPr lang="en-US" b="1" dirty="0"/>
              <a:t>Supported Knowledge Production and Learning Agenda</a:t>
            </a:r>
          </a:p>
          <a:p>
            <a:r>
              <a:rPr lang="en-US" dirty="0"/>
              <a:t>Led production of two flagship </a:t>
            </a:r>
            <a:r>
              <a:rPr lang="en-US" b="1" dirty="0"/>
              <a:t>HEPRRP Quarterly Newsletters</a:t>
            </a:r>
            <a:r>
              <a:rPr lang="en-US" dirty="0"/>
              <a:t> (</a:t>
            </a:r>
            <a:r>
              <a:rPr lang="en-US" b="1" i="1" dirty="0"/>
              <a:t>2025 Edition </a:t>
            </a:r>
            <a:r>
              <a:rPr lang="en-US" dirty="0"/>
              <a:t>and </a:t>
            </a:r>
            <a:r>
              <a:rPr lang="en-US" b="1" i="1" dirty="0"/>
              <a:t>Jan–March 2026</a:t>
            </a:r>
            <a:r>
              <a:rPr lang="en-US" dirty="0"/>
              <a:t>). </a:t>
            </a:r>
          </a:p>
          <a:p>
            <a:r>
              <a:rPr lang="en-US" dirty="0"/>
              <a:t>Produced the </a:t>
            </a:r>
            <a:r>
              <a:rPr lang="en-US" b="1" dirty="0"/>
              <a:t>RAC 2025 Outcome Report</a:t>
            </a:r>
            <a:r>
              <a:rPr lang="en-US" dirty="0"/>
              <a:t> and </a:t>
            </a:r>
            <a:r>
              <a:rPr lang="en-US" b="1" dirty="0"/>
              <a:t>6 thematic Knowledge Products</a:t>
            </a:r>
            <a:r>
              <a:rPr lang="en-US" dirty="0"/>
              <a:t> to promote institutional learning and dissemination. </a:t>
            </a:r>
          </a:p>
          <a:p>
            <a:r>
              <a:rPr lang="en-US" dirty="0"/>
              <a:t>Developed digital communication tools including an </a:t>
            </a:r>
            <a:r>
              <a:rPr lang="en-US" b="1" i="1" dirty="0"/>
              <a:t>online FAQ platform</a:t>
            </a:r>
            <a:r>
              <a:rPr lang="en-US" dirty="0"/>
              <a:t> to improve stakeholder access to programme information. </a:t>
            </a:r>
          </a:p>
          <a:p>
            <a:r>
              <a:rPr lang="en-US" dirty="0"/>
              <a:t>Supported multilingual inclusion by managing virtual meetings with simultaneous interpretation in English, French and Portuguese. </a:t>
            </a:r>
          </a:p>
          <a:p>
            <a:r>
              <a:rPr lang="en-US" dirty="0"/>
              <a:t>Strengthened knowledge exchange through supporting organizing of Communities of Practice covering Climate &amp; Health, Local Manufacturing, Mental Health, NCDs, Research and FELTP implementation.</a:t>
            </a:r>
          </a:p>
          <a:p>
            <a:endParaRPr lang="en-US" dirty="0"/>
          </a:p>
        </p:txBody>
      </p:sp>
    </p:spTree>
    <p:extLst>
      <p:ext uri="{BB962C8B-B14F-4D97-AF65-F5344CB8AC3E}">
        <p14:creationId xmlns:p14="http://schemas.microsoft.com/office/powerpoint/2010/main" val="6189223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0E726-1F13-0C87-471C-9D2FAF3D31E9}"/>
              </a:ext>
            </a:extLst>
          </p:cNvPr>
          <p:cNvSpPr>
            <a:spLocks noGrp="1"/>
          </p:cNvSpPr>
          <p:nvPr>
            <p:ph type="title"/>
          </p:nvPr>
        </p:nvSpPr>
        <p:spPr>
          <a:xfrm>
            <a:off x="838200" y="365126"/>
            <a:ext cx="10515600" cy="898596"/>
          </a:xfrm>
          <a:ln>
            <a:solidFill>
              <a:schemeClr val="accent2"/>
            </a:solidFill>
          </a:ln>
        </p:spPr>
        <p:txBody>
          <a:bodyPr>
            <a:normAutofit fontScale="90000"/>
          </a:bodyPr>
          <a:lstStyle/>
          <a:p>
            <a:br>
              <a:rPr lang="en-US" b="1" dirty="0">
                <a:latin typeface="Arial" panose="020B0604020202020204" pitchFamily="34" charset="0"/>
              </a:rPr>
            </a:br>
            <a:r>
              <a:rPr lang="en-US" sz="3100" b="1" dirty="0">
                <a:solidFill>
                  <a:srgbClr val="008000"/>
                </a:solidFill>
                <a:latin typeface="Arial" panose="020B0604020202020204" pitchFamily="34" charset="0"/>
                <a:cs typeface="Arial" panose="020B0604020202020204" pitchFamily="34" charset="0"/>
              </a:rPr>
              <a:t>Communications and Learning </a:t>
            </a:r>
            <a:br>
              <a:rPr lang="en-US" sz="3100" b="1" dirty="0">
                <a:solidFill>
                  <a:srgbClr val="008000"/>
                </a:solidFill>
                <a:latin typeface="Arial" panose="020B0604020202020204" pitchFamily="34" charset="0"/>
                <a:cs typeface="Arial" panose="020B0604020202020204" pitchFamily="34" charset="0"/>
              </a:rPr>
            </a:br>
            <a:endParaRPr lang="en-US" sz="3100" b="1" dirty="0">
              <a:solidFill>
                <a:srgbClr val="008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6D3C668-6E94-63C8-3C8B-A7A33A6C9537}"/>
              </a:ext>
            </a:extLst>
          </p:cNvPr>
          <p:cNvSpPr>
            <a:spLocks noGrp="1"/>
          </p:cNvSpPr>
          <p:nvPr>
            <p:ph idx="1"/>
          </p:nvPr>
        </p:nvSpPr>
        <p:spPr>
          <a:xfrm>
            <a:off x="838200" y="1347485"/>
            <a:ext cx="10515600" cy="5515649"/>
          </a:xfrm>
          <a:ln>
            <a:solidFill>
              <a:srgbClr val="FF9900"/>
            </a:solidFill>
          </a:ln>
        </p:spPr>
        <p:txBody>
          <a:bodyPr>
            <a:noAutofit/>
          </a:bodyPr>
          <a:lstStyle/>
          <a:p>
            <a:pPr>
              <a:buFont typeface="Wingdings" panose="05000000000000000000" pitchFamily="2" charset="2"/>
              <a:buChar char="Ø"/>
            </a:pPr>
            <a:r>
              <a:rPr lang="en-US" sz="2400" dirty="0"/>
              <a:t>📑1 Draft Regional Communications Strategy</a:t>
            </a:r>
          </a:p>
          <a:p>
            <a:pPr>
              <a:buFont typeface="Wingdings" panose="05000000000000000000" pitchFamily="2" charset="2"/>
              <a:buChar char="Ø"/>
            </a:pPr>
            <a:r>
              <a:rPr lang="en-US" sz="2400" dirty="0"/>
              <a:t>🎨1 Draft Programme Visual Identity Toolkit</a:t>
            </a:r>
          </a:p>
          <a:p>
            <a:pPr>
              <a:buFont typeface="Wingdings" panose="05000000000000000000" pitchFamily="2" charset="2"/>
              <a:buChar char="Ø"/>
            </a:pPr>
            <a:r>
              <a:rPr lang="en-US" sz="2400" dirty="0"/>
              <a:t>📢 25+ Regional Events Supported (6+ regional physical events and 20+ high-level virtual engagements </a:t>
            </a:r>
          </a:p>
          <a:p>
            <a:pPr>
              <a:buFont typeface="Wingdings" panose="05000000000000000000" pitchFamily="2" charset="2"/>
              <a:buChar char="Ø"/>
            </a:pPr>
            <a:r>
              <a:rPr lang="en-US" sz="2400" dirty="0"/>
              <a:t>📰2 HEPRRP Newsletters Produced</a:t>
            </a:r>
          </a:p>
          <a:p>
            <a:pPr>
              <a:buFont typeface="Wingdings" panose="05000000000000000000" pitchFamily="2" charset="2"/>
              <a:buChar char="Ø"/>
            </a:pPr>
            <a:r>
              <a:rPr lang="en-US" sz="2400" dirty="0"/>
              <a:t>📚 7 Knowledge Products Developed</a:t>
            </a:r>
          </a:p>
          <a:p>
            <a:pPr>
              <a:buFont typeface="Wingdings" panose="05000000000000000000" pitchFamily="2" charset="2"/>
              <a:buChar char="Ø"/>
            </a:pPr>
            <a:r>
              <a:rPr lang="en-US" sz="2400" dirty="0"/>
              <a:t>📸 200+ Photos &amp; Multimedia Assets Created (Event documentation across the region)</a:t>
            </a:r>
          </a:p>
          <a:p>
            <a:pPr>
              <a:buFont typeface="Wingdings" panose="05000000000000000000" pitchFamily="2" charset="2"/>
              <a:buChar char="Ø"/>
            </a:pPr>
            <a:r>
              <a:rPr lang="en-US" sz="2400" dirty="0"/>
              <a:t>🌍 20+ Virtual Regional Meetings Managed</a:t>
            </a:r>
          </a:p>
          <a:p>
            <a:pPr>
              <a:buFont typeface="Wingdings" panose="05000000000000000000" pitchFamily="2" charset="2"/>
              <a:buChar char="Ø"/>
            </a:pPr>
            <a:r>
              <a:rPr lang="en-US" sz="2400" dirty="0"/>
              <a:t>🌐Translation : English | French | Portuguese </a:t>
            </a:r>
          </a:p>
          <a:p>
            <a:pPr>
              <a:buFont typeface="Wingdings" panose="05000000000000000000" pitchFamily="2" charset="2"/>
              <a:buChar char="Ø"/>
            </a:pPr>
            <a:r>
              <a:rPr lang="en-US" sz="2400" dirty="0"/>
              <a:t>🤝 11 Member States Supported</a:t>
            </a:r>
          </a:p>
          <a:p>
            <a:pPr>
              <a:buFont typeface="Wingdings" panose="05000000000000000000" pitchFamily="2" charset="2"/>
              <a:buChar char="Ø"/>
            </a:pPr>
            <a:r>
              <a:rPr lang="en-US" sz="2400" dirty="0"/>
              <a:t>📈Enhanced Programme Visibility| Knowledge Sharing and Stakeholder Engagement</a:t>
            </a:r>
          </a:p>
        </p:txBody>
      </p:sp>
    </p:spTree>
    <p:extLst>
      <p:ext uri="{BB962C8B-B14F-4D97-AF65-F5344CB8AC3E}">
        <p14:creationId xmlns:p14="http://schemas.microsoft.com/office/powerpoint/2010/main" val="882311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2A236-C28C-2298-ABFF-2707E23F0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28C85E-AEF8-CF22-A240-53E9405FDBF9}"/>
              </a:ext>
            </a:extLst>
          </p:cNvPr>
          <p:cNvSpPr>
            <a:spLocks noGrp="1"/>
          </p:cNvSpPr>
          <p:nvPr>
            <p:ph type="title"/>
          </p:nvPr>
        </p:nvSpPr>
        <p:spPr>
          <a:xfrm>
            <a:off x="261257" y="141889"/>
            <a:ext cx="11713029" cy="910533"/>
          </a:xfrm>
          <a:ln>
            <a:solidFill>
              <a:srgbClr val="FF0000"/>
            </a:solidFill>
          </a:ln>
        </p:spPr>
        <p:txBody>
          <a:bodyPr>
            <a:normAutofit fontScale="90000"/>
          </a:bodyPr>
          <a:lstStyle/>
          <a:p>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3100" b="1" dirty="0">
                <a:solidFill>
                  <a:srgbClr val="008000"/>
                </a:solidFill>
                <a:latin typeface="Arial" panose="020B0604020202020204" pitchFamily="34" charset="0"/>
                <a:cs typeface="Arial" panose="020B0604020202020204" pitchFamily="34" charset="0"/>
              </a:rPr>
              <a:t>Subcomponent 3.2 learning Agenda</a:t>
            </a:r>
            <a:br>
              <a:rPr lang="en-US" sz="32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31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065C046D-57E0-E156-6C76-42484C11D393}"/>
              </a:ext>
            </a:extLst>
          </p:cNvPr>
          <p:cNvSpPr>
            <a:spLocks noGrp="1"/>
          </p:cNvSpPr>
          <p:nvPr>
            <p:ph idx="1"/>
          </p:nvPr>
        </p:nvSpPr>
        <p:spPr>
          <a:xfrm>
            <a:off x="261257" y="1324302"/>
            <a:ext cx="11713029" cy="5144592"/>
          </a:xfrm>
          <a:ln>
            <a:solidFill>
              <a:srgbClr val="FF0000"/>
            </a:solidFill>
          </a:ln>
        </p:spPr>
        <p:txBody>
          <a:bodyPr>
            <a:normAutofit/>
          </a:bodyPr>
          <a:lstStyle/>
          <a:p>
            <a:r>
              <a:rPr lang="en-US" sz="2600" dirty="0"/>
              <a:t>Operationalization of the adopted learning agenda</a:t>
            </a:r>
          </a:p>
          <a:p>
            <a:r>
              <a:rPr lang="en-US" sz="2600" dirty="0"/>
              <a:t>Focus on 4 flagship topics</a:t>
            </a:r>
          </a:p>
          <a:p>
            <a:pPr marL="971550" lvl="1" indent="-514350">
              <a:buFont typeface="+mj-lt"/>
              <a:buAutoNum type="arabicPeriod"/>
            </a:pPr>
            <a:r>
              <a:rPr lang="en-US" sz="2200" dirty="0"/>
              <a:t>Collaborative Surveillance </a:t>
            </a:r>
          </a:p>
          <a:p>
            <a:pPr marL="971550" lvl="1" indent="-514350">
              <a:buFont typeface="+mj-lt"/>
              <a:buAutoNum type="arabicPeriod"/>
            </a:pPr>
            <a:r>
              <a:rPr lang="en-US" sz="2200" dirty="0"/>
              <a:t>Digital Health</a:t>
            </a:r>
          </a:p>
          <a:p>
            <a:pPr marL="971550" lvl="1" indent="-514350">
              <a:buFont typeface="+mj-lt"/>
              <a:buAutoNum type="arabicPeriod"/>
            </a:pPr>
            <a:r>
              <a:rPr lang="en-US" sz="2200" dirty="0"/>
              <a:t>Local Manufacturing</a:t>
            </a:r>
          </a:p>
          <a:p>
            <a:pPr marL="971550" lvl="1" indent="-514350">
              <a:buFont typeface="+mj-lt"/>
              <a:buAutoNum type="arabicPeriod"/>
            </a:pPr>
            <a:r>
              <a:rPr lang="en-US" sz="2200" dirty="0"/>
              <a:t>Workforce Development</a:t>
            </a:r>
          </a:p>
          <a:p>
            <a:r>
              <a:rPr lang="en-US" sz="2600" dirty="0"/>
              <a:t>The learning agenda endorsed by RAC in 2025 paving way for implementation  </a:t>
            </a:r>
          </a:p>
          <a:p>
            <a:r>
              <a:rPr lang="en-US" sz="2600" dirty="0"/>
              <a:t>COPs is the main operationalization approach/platform   </a:t>
            </a:r>
          </a:p>
          <a:p>
            <a:r>
              <a:rPr lang="en-US" sz="2600" dirty="0"/>
              <a:t>Further consultation ingoing to strengthen implementation of the learning agenda </a:t>
            </a:r>
          </a:p>
        </p:txBody>
      </p:sp>
    </p:spTree>
    <p:custDataLst>
      <p:tags r:id="rId1"/>
    </p:custDataLst>
    <p:extLst>
      <p:ext uri="{BB962C8B-B14F-4D97-AF65-F5344CB8AC3E}">
        <p14:creationId xmlns:p14="http://schemas.microsoft.com/office/powerpoint/2010/main" val="26271309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2A236-C28C-2298-ABFF-2707E23F0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28C85E-AEF8-CF22-A240-53E9405FDBF9}"/>
              </a:ext>
            </a:extLst>
          </p:cNvPr>
          <p:cNvSpPr>
            <a:spLocks noGrp="1"/>
          </p:cNvSpPr>
          <p:nvPr>
            <p:ph type="title"/>
          </p:nvPr>
        </p:nvSpPr>
        <p:spPr>
          <a:xfrm>
            <a:off x="261257" y="1"/>
            <a:ext cx="11713029" cy="931762"/>
          </a:xfrm>
          <a:ln>
            <a:solidFill>
              <a:srgbClr val="FF0000"/>
            </a:solidFill>
          </a:ln>
        </p:spPr>
        <p:txBody>
          <a:bodyPr>
            <a:normAutofit fontScale="90000"/>
          </a:bodyPr>
          <a:lstStyle/>
          <a:p>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3100" b="1" dirty="0">
                <a:solidFill>
                  <a:srgbClr val="008000"/>
                </a:solidFill>
                <a:latin typeface="Arial" panose="020B0604020202020204" pitchFamily="34" charset="0"/>
                <a:cs typeface="Arial" panose="020B0604020202020204" pitchFamily="34" charset="0"/>
              </a:rPr>
              <a:t>Subcomponent 3.2 Gender and Equity driven HEPRR</a:t>
            </a:r>
            <a:br>
              <a:rPr lang="en-US" sz="32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31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065C046D-57E0-E156-6C76-42484C11D393}"/>
              </a:ext>
            </a:extLst>
          </p:cNvPr>
          <p:cNvSpPr>
            <a:spLocks noGrp="1"/>
          </p:cNvSpPr>
          <p:nvPr>
            <p:ph idx="1"/>
          </p:nvPr>
        </p:nvSpPr>
        <p:spPr>
          <a:xfrm>
            <a:off x="75235" y="1141421"/>
            <a:ext cx="12020309" cy="5658706"/>
          </a:xfrm>
          <a:ln>
            <a:solidFill>
              <a:srgbClr val="FF0000"/>
            </a:solidFill>
          </a:ln>
        </p:spPr>
        <p:txBody>
          <a:bodyPr>
            <a:normAutofit lnSpcReduction="10000"/>
          </a:bodyPr>
          <a:lstStyle/>
          <a:p>
            <a:r>
              <a:rPr lang="en-US" dirty="0"/>
              <a:t>Deployment of Health Equity Specialist is concluded</a:t>
            </a:r>
          </a:p>
          <a:p>
            <a:r>
              <a:rPr lang="en-US" dirty="0"/>
              <a:t>Customized regional technical support to MPA countries</a:t>
            </a:r>
            <a:r>
              <a:rPr lang="en-US" sz="2400" dirty="0"/>
              <a:t>: </a:t>
            </a:r>
          </a:p>
          <a:p>
            <a:pPr lvl="1">
              <a:buFont typeface="Courier New" panose="02070309020205020404" pitchFamily="49" charset="0"/>
              <a:buChar char="o"/>
            </a:pPr>
            <a:r>
              <a:rPr lang="en-US" sz="2000" dirty="0"/>
              <a:t>The Regional GENPAR Training held in </a:t>
            </a:r>
            <a:r>
              <a:rPr lang="en-US" sz="2000" b="1" dirty="0"/>
              <a:t>Addis Ababa, Ethiopia, in March 2026</a:t>
            </a:r>
            <a:r>
              <a:rPr lang="en-US" sz="2000" dirty="0"/>
              <a:t>, brought together participants from 11 MPA countries</a:t>
            </a:r>
          </a:p>
          <a:p>
            <a:pPr lvl="1">
              <a:buFont typeface="Courier New" panose="02070309020205020404" pitchFamily="49" charset="0"/>
              <a:buChar char="o"/>
            </a:pPr>
            <a:r>
              <a:rPr lang="en-US" dirty="0"/>
              <a:t>Established a </a:t>
            </a:r>
            <a:r>
              <a:rPr lang="en-US" b="1" dirty="0"/>
              <a:t>common understanding</a:t>
            </a:r>
            <a:r>
              <a:rPr lang="en-US" dirty="0"/>
              <a:t> of GENPAR Toolkit across key capacity areas</a:t>
            </a:r>
            <a:endParaRPr lang="en-US" sz="2600" dirty="0"/>
          </a:p>
          <a:p>
            <a:pPr lvl="1">
              <a:buFont typeface="Courier New" panose="02070309020205020404" pitchFamily="49" charset="0"/>
              <a:buChar char="o"/>
            </a:pPr>
            <a:r>
              <a:rPr lang="en-US" dirty="0"/>
              <a:t>Strengthened understanding of the underlying gender and equity factors</a:t>
            </a:r>
          </a:p>
          <a:p>
            <a:pPr lvl="1">
              <a:buFont typeface="Courier New" panose="02070309020205020404" pitchFamily="49" charset="0"/>
              <a:buChar char="o"/>
            </a:pPr>
            <a:r>
              <a:rPr lang="en-US" dirty="0"/>
              <a:t>Enhanced capacity to collect and analyze disaggregated data</a:t>
            </a:r>
          </a:p>
          <a:p>
            <a:pPr lvl="1">
              <a:buFont typeface="Courier New" panose="02070309020205020404" pitchFamily="49" charset="0"/>
              <a:buChar char="o"/>
            </a:pPr>
            <a:r>
              <a:rPr lang="en-US" dirty="0"/>
              <a:t>Develop a </a:t>
            </a:r>
            <a:r>
              <a:rPr lang="en-US" b="1" dirty="0"/>
              <a:t>country-specific action plan</a:t>
            </a:r>
            <a:r>
              <a:rPr lang="en-US" dirty="0"/>
              <a:t> </a:t>
            </a:r>
          </a:p>
          <a:p>
            <a:r>
              <a:rPr lang="en-US" dirty="0"/>
              <a:t>Operationalization the GENPAR Toolkit at country level</a:t>
            </a:r>
          </a:p>
          <a:p>
            <a:pPr lvl="1">
              <a:buFont typeface="Courier New" panose="02070309020205020404" pitchFamily="49" charset="0"/>
              <a:buChar char="o"/>
            </a:pPr>
            <a:r>
              <a:rPr lang="en-US" dirty="0"/>
              <a:t> </a:t>
            </a:r>
            <a:r>
              <a:rPr lang="en-US" b="1" dirty="0"/>
              <a:t>post-GENPAR virtual technical assistance (11 countries)</a:t>
            </a:r>
            <a:r>
              <a:rPr lang="en-US" dirty="0"/>
              <a:t> was provided to countries to integrate gender and equity considerations into countries' </a:t>
            </a:r>
            <a:r>
              <a:rPr lang="en-US" b="1" dirty="0"/>
              <a:t>Annual Work Plans (AWPs)</a:t>
            </a:r>
          </a:p>
          <a:p>
            <a:pPr lvl="1">
              <a:buFont typeface="Courier New" panose="02070309020205020404" pitchFamily="49" charset="0"/>
              <a:buChar char="o"/>
            </a:pPr>
            <a:r>
              <a:rPr lang="en-US" dirty="0"/>
              <a:t>Deliver </a:t>
            </a:r>
            <a:r>
              <a:rPr lang="en-US" b="1" dirty="0"/>
              <a:t>tailored technical support</a:t>
            </a:r>
            <a:r>
              <a:rPr lang="en-US" dirty="0"/>
              <a:t> to address country-specific gaps and priorities</a:t>
            </a:r>
          </a:p>
          <a:p>
            <a:pPr lvl="1">
              <a:buFont typeface="Courier New" panose="02070309020205020404" pitchFamily="49" charset="0"/>
              <a:buChar char="o"/>
            </a:pPr>
            <a:r>
              <a:rPr lang="en-US" dirty="0"/>
              <a:t>National GENPAR Training of Trainers (</a:t>
            </a:r>
            <a:r>
              <a:rPr lang="en-US" dirty="0" err="1"/>
              <a:t>ToTs</a:t>
            </a:r>
            <a:r>
              <a:rPr lang="en-US" dirty="0"/>
              <a:t>) were delivered in selected countries</a:t>
            </a:r>
          </a:p>
        </p:txBody>
      </p:sp>
    </p:spTree>
    <p:custDataLst>
      <p:tags r:id="rId1"/>
    </p:custDataLst>
    <p:extLst>
      <p:ext uri="{BB962C8B-B14F-4D97-AF65-F5344CB8AC3E}">
        <p14:creationId xmlns:p14="http://schemas.microsoft.com/office/powerpoint/2010/main" val="13833503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2A236-C28C-2298-ABFF-2707E23F0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28C85E-AEF8-CF22-A240-53E9405FDBF9}"/>
              </a:ext>
            </a:extLst>
          </p:cNvPr>
          <p:cNvSpPr>
            <a:spLocks noGrp="1"/>
          </p:cNvSpPr>
          <p:nvPr>
            <p:ph type="title"/>
          </p:nvPr>
        </p:nvSpPr>
        <p:spPr>
          <a:xfrm>
            <a:off x="261257" y="141889"/>
            <a:ext cx="11713029" cy="910533"/>
          </a:xfrm>
          <a:ln>
            <a:solidFill>
              <a:schemeClr val="accent2"/>
            </a:solidFill>
          </a:ln>
        </p:spPr>
        <p:txBody>
          <a:bodyPr>
            <a:normAutofit fontScale="90000"/>
          </a:bodyPr>
          <a:lstStyle/>
          <a:p>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3100" b="1" dirty="0">
                <a:solidFill>
                  <a:srgbClr val="008000"/>
                </a:solidFill>
                <a:latin typeface="Arial" panose="020B0604020202020204" pitchFamily="34" charset="0"/>
                <a:cs typeface="Arial" panose="020B0604020202020204" pitchFamily="34" charset="0"/>
              </a:rPr>
              <a:t>Subcomponent 3.2 Gender and Equity driven HEPRR</a:t>
            </a:r>
            <a:br>
              <a:rPr lang="en-US" sz="32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31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065C046D-57E0-E156-6C76-42484C11D393}"/>
              </a:ext>
            </a:extLst>
          </p:cNvPr>
          <p:cNvSpPr>
            <a:spLocks noGrp="1"/>
          </p:cNvSpPr>
          <p:nvPr>
            <p:ph idx="1"/>
          </p:nvPr>
        </p:nvSpPr>
        <p:spPr>
          <a:xfrm>
            <a:off x="261256" y="1141422"/>
            <a:ext cx="11713029" cy="5462578"/>
          </a:xfrm>
          <a:ln>
            <a:solidFill>
              <a:schemeClr val="accent2"/>
            </a:solidFill>
          </a:ln>
        </p:spPr>
        <p:txBody>
          <a:bodyPr>
            <a:normAutofit/>
          </a:bodyPr>
          <a:lstStyle/>
          <a:p>
            <a:r>
              <a:rPr lang="en-US" dirty="0"/>
              <a:t>Operationalization the GENPAR Toolkit at country level</a:t>
            </a:r>
          </a:p>
          <a:p>
            <a:pPr lvl="1">
              <a:buFont typeface="Courier New" panose="02070309020205020404" pitchFamily="49" charset="0"/>
              <a:buChar char="o"/>
            </a:pPr>
            <a:r>
              <a:rPr lang="en-US" dirty="0"/>
              <a:t>  National GENPAR </a:t>
            </a:r>
            <a:r>
              <a:rPr lang="en-US" dirty="0" err="1"/>
              <a:t>ToT</a:t>
            </a:r>
            <a:r>
              <a:rPr lang="en-US" dirty="0"/>
              <a:t> was successfully conducted in </a:t>
            </a:r>
            <a:r>
              <a:rPr lang="en-US" b="1" dirty="0"/>
              <a:t>Ethiopia</a:t>
            </a:r>
          </a:p>
          <a:p>
            <a:pPr lvl="1">
              <a:buFont typeface="Courier New" panose="02070309020205020404" pitchFamily="49" charset="0"/>
              <a:buChar char="o"/>
            </a:pPr>
            <a:r>
              <a:rPr lang="en-US" dirty="0"/>
              <a:t>Tailored TA was provided to DRC to support the integration of </a:t>
            </a:r>
            <a:r>
              <a:rPr lang="en-US" b="1" dirty="0"/>
              <a:t>gender and equity considerations into Ebola real-time surveillance</a:t>
            </a:r>
            <a:r>
              <a:rPr lang="en-US" dirty="0"/>
              <a:t> and response activities</a:t>
            </a:r>
            <a:r>
              <a:rPr lang="en-US" b="1" dirty="0"/>
              <a:t> </a:t>
            </a:r>
          </a:p>
          <a:p>
            <a:pPr marL="0" indent="0">
              <a:buNone/>
            </a:pPr>
            <a:r>
              <a:rPr lang="en-US" b="1" dirty="0"/>
              <a:t>Challenges</a:t>
            </a:r>
          </a:p>
          <a:p>
            <a:r>
              <a:rPr lang="en-US" dirty="0"/>
              <a:t>Institutionalization of gender and equity remains at an early stage in many countries. </a:t>
            </a:r>
          </a:p>
          <a:p>
            <a:r>
              <a:rPr lang="en-US" dirty="0"/>
              <a:t>Sustained political commitment, technical capacity, and dedicated financial resources.</a:t>
            </a:r>
          </a:p>
          <a:p>
            <a:r>
              <a:rPr lang="en-US" b="1" dirty="0"/>
              <a:t>Sex-, age-, and pregnancy-disaggregated data</a:t>
            </a:r>
            <a:r>
              <a:rPr lang="en-US" dirty="0"/>
              <a:t> remain limited</a:t>
            </a:r>
          </a:p>
          <a:p>
            <a:pPr marL="457200" lvl="1" indent="0">
              <a:buNone/>
            </a:pPr>
            <a:endParaRPr lang="en-US" b="1" dirty="0"/>
          </a:p>
          <a:p>
            <a:pPr lvl="1">
              <a:buFont typeface="Courier New" panose="02070309020205020404" pitchFamily="49" charset="0"/>
              <a:buChar char="o"/>
            </a:pPr>
            <a:endParaRPr lang="en-US" b="1" dirty="0"/>
          </a:p>
        </p:txBody>
      </p:sp>
    </p:spTree>
    <p:custDataLst>
      <p:tags r:id="rId1"/>
    </p:custDataLst>
    <p:extLst>
      <p:ext uri="{BB962C8B-B14F-4D97-AF65-F5344CB8AC3E}">
        <p14:creationId xmlns:p14="http://schemas.microsoft.com/office/powerpoint/2010/main" val="35299902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2A236-C28C-2298-ABFF-2707E23F0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28C85E-AEF8-CF22-A240-53E9405FDBF9}"/>
              </a:ext>
            </a:extLst>
          </p:cNvPr>
          <p:cNvSpPr>
            <a:spLocks noGrp="1"/>
          </p:cNvSpPr>
          <p:nvPr>
            <p:ph type="title"/>
          </p:nvPr>
        </p:nvSpPr>
        <p:spPr>
          <a:xfrm>
            <a:off x="261257" y="141889"/>
            <a:ext cx="11713029" cy="910533"/>
          </a:xfrm>
          <a:ln>
            <a:solidFill>
              <a:schemeClr val="accent2"/>
            </a:solidFill>
          </a:ln>
        </p:spPr>
        <p:txBody>
          <a:bodyPr>
            <a:normAutofit fontScale="90000"/>
          </a:bodyPr>
          <a:lstStyle/>
          <a:p>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r>
              <a:rPr lang="en-US" sz="3100" b="1" dirty="0">
                <a:solidFill>
                  <a:srgbClr val="008000"/>
                </a:solidFill>
                <a:latin typeface="Arial" panose="020B0604020202020204" pitchFamily="34" charset="0"/>
                <a:cs typeface="Arial" panose="020B0604020202020204" pitchFamily="34" charset="0"/>
              </a:rPr>
              <a:t>Subcomponent 3.2 GENPAR Ethiopia Country TOT</a:t>
            </a:r>
            <a:br>
              <a:rPr lang="en-US" sz="32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sz="3100" dirty="0">
                <a:solidFill>
                  <a:srgbClr val="000000"/>
                </a:solidFill>
                <a:latin typeface="Arial" panose="020B0604020202020204" pitchFamily="34" charset="0"/>
                <a:ea typeface="Yu Mincho" panose="02020400000000000000" pitchFamily="18" charset="-128"/>
                <a:cs typeface="Arial" panose="020B0604020202020204" pitchFamily="34" charset="0"/>
              </a:rPr>
            </a:br>
            <a:br>
              <a:rPr lang="en-US" dirty="0">
                <a:solidFill>
                  <a:srgbClr val="000000"/>
                </a:solidFill>
                <a:latin typeface="Arial" panose="020B0604020202020204" pitchFamily="34" charset="0"/>
                <a:ea typeface="Yu Mincho" panose="02020400000000000000" pitchFamily="18" charset="-128"/>
                <a:cs typeface="Arial" panose="020B0604020202020204" pitchFamily="34" charset="0"/>
              </a:rPr>
            </a:br>
            <a:endParaRPr lang="en-US" dirty="0"/>
          </a:p>
        </p:txBody>
      </p:sp>
      <p:pic>
        <p:nvPicPr>
          <p:cNvPr id="5" name="Picture 4"/>
          <p:cNvPicPr/>
          <p:nvPr/>
        </p:nvPicPr>
        <p:blipFill>
          <a:blip r:embed="rId3"/>
          <a:stretch>
            <a:fillRect/>
          </a:stretch>
        </p:blipFill>
        <p:spPr>
          <a:xfrm>
            <a:off x="261258" y="1148081"/>
            <a:ext cx="11636102" cy="5283199"/>
          </a:xfrm>
          <a:prstGeom prst="rect">
            <a:avLst/>
          </a:prstGeom>
        </p:spPr>
      </p:pic>
    </p:spTree>
    <p:custDataLst>
      <p:tags r:id="rId1"/>
    </p:custDataLst>
    <p:extLst>
      <p:ext uri="{BB962C8B-B14F-4D97-AF65-F5344CB8AC3E}">
        <p14:creationId xmlns:p14="http://schemas.microsoft.com/office/powerpoint/2010/main" val="9003496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6F356-B07F-54BB-66CD-E7E15A6CC1DD}"/>
              </a:ext>
            </a:extLst>
          </p:cNvPr>
          <p:cNvSpPr>
            <a:spLocks noGrp="1"/>
          </p:cNvSpPr>
          <p:nvPr>
            <p:ph type="title"/>
          </p:nvPr>
        </p:nvSpPr>
        <p:spPr>
          <a:xfrm>
            <a:off x="645160" y="80646"/>
            <a:ext cx="10515600" cy="1186180"/>
          </a:xfrm>
          <a:ln>
            <a:solidFill>
              <a:schemeClr val="accent2"/>
            </a:solidFill>
          </a:ln>
        </p:spPr>
        <p:txBody>
          <a:bodyPr>
            <a:normAutofit/>
          </a:bodyPr>
          <a:lstStyle/>
          <a:p>
            <a:r>
              <a:rPr lang="en-US" sz="2800" b="1" dirty="0">
                <a:solidFill>
                  <a:srgbClr val="008000"/>
                </a:solidFill>
                <a:latin typeface="Arial" panose="020B0604020202020204" pitchFamily="34" charset="0"/>
                <a:cs typeface="Arial" panose="020B0604020202020204" pitchFamily="34" charset="0"/>
              </a:rPr>
              <a:t>Subcomponent 3.3 Environmental &amp; Social (E&amp;S) </a:t>
            </a:r>
          </a:p>
        </p:txBody>
      </p:sp>
      <p:sp>
        <p:nvSpPr>
          <p:cNvPr id="3" name="Content Placeholder 2">
            <a:extLst>
              <a:ext uri="{FF2B5EF4-FFF2-40B4-BE49-F238E27FC236}">
                <a16:creationId xmlns:a16="http://schemas.microsoft.com/office/drawing/2014/main" id="{E6EB3C69-75FD-0268-42D6-AB9E422442B7}"/>
              </a:ext>
            </a:extLst>
          </p:cNvPr>
          <p:cNvSpPr>
            <a:spLocks noGrp="1"/>
          </p:cNvSpPr>
          <p:nvPr>
            <p:ph idx="1"/>
          </p:nvPr>
        </p:nvSpPr>
        <p:spPr>
          <a:xfrm>
            <a:off x="645160" y="1494263"/>
            <a:ext cx="10515600" cy="4845578"/>
          </a:xfrm>
          <a:ln>
            <a:solidFill>
              <a:schemeClr val="accent2"/>
            </a:solidFill>
          </a:ln>
        </p:spPr>
        <p:txBody>
          <a:bodyPr>
            <a:normAutofit/>
          </a:bodyPr>
          <a:lstStyle/>
          <a:p>
            <a:r>
              <a:rPr lang="en-US" kern="100" dirty="0"/>
              <a:t>Operationalization of the GRM committee was done</a:t>
            </a:r>
          </a:p>
          <a:p>
            <a:pPr marL="0" indent="0">
              <a:buNone/>
            </a:pPr>
            <a:endParaRPr lang="en-US" kern="100" dirty="0"/>
          </a:p>
          <a:p>
            <a:r>
              <a:rPr lang="en-US" kern="100" dirty="0"/>
              <a:t>Orientation and training of the PIU on the E&amp;S, will be organized through the support of the World Bank Specialists</a:t>
            </a:r>
          </a:p>
          <a:p>
            <a:pPr lvl="1"/>
            <a:endParaRPr lang="en-US" sz="2800" kern="100" dirty="0">
              <a:solidFill>
                <a:srgbClr val="0070C0"/>
              </a:solidFill>
              <a:ea typeface="Calibri" panose="020F0502020204030204" pitchFamily="34" charset="0"/>
            </a:endParaRPr>
          </a:p>
          <a:p>
            <a:endParaRPr lang="en-US" dirty="0"/>
          </a:p>
        </p:txBody>
      </p:sp>
    </p:spTree>
    <p:custDataLst>
      <p:tags r:id="rId1"/>
    </p:custDataLst>
    <p:extLst>
      <p:ext uri="{BB962C8B-B14F-4D97-AF65-F5344CB8AC3E}">
        <p14:creationId xmlns:p14="http://schemas.microsoft.com/office/powerpoint/2010/main" val="29564780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6F356-B07F-54BB-66CD-E7E15A6CC1DD}"/>
              </a:ext>
            </a:extLst>
          </p:cNvPr>
          <p:cNvSpPr>
            <a:spLocks noGrp="1"/>
          </p:cNvSpPr>
          <p:nvPr>
            <p:ph type="title"/>
          </p:nvPr>
        </p:nvSpPr>
        <p:spPr>
          <a:xfrm>
            <a:off x="487680" y="80646"/>
            <a:ext cx="10515600" cy="1186180"/>
          </a:xfrm>
          <a:ln>
            <a:solidFill>
              <a:schemeClr val="accent2"/>
            </a:solidFill>
          </a:ln>
        </p:spPr>
        <p:txBody>
          <a:bodyPr>
            <a:normAutofit/>
          </a:bodyPr>
          <a:lstStyle/>
          <a:p>
            <a:r>
              <a:rPr lang="en-US" sz="2800" b="1" dirty="0">
                <a:solidFill>
                  <a:srgbClr val="008000"/>
                </a:solidFill>
                <a:latin typeface="Arial" panose="020B0604020202020204" pitchFamily="34" charset="0"/>
                <a:cs typeface="Arial" panose="020B0604020202020204" pitchFamily="34" charset="0"/>
              </a:rPr>
              <a:t>Subcomponent 3.3 Project Management </a:t>
            </a:r>
          </a:p>
        </p:txBody>
      </p:sp>
      <p:sp>
        <p:nvSpPr>
          <p:cNvPr id="3" name="Content Placeholder 2">
            <a:extLst>
              <a:ext uri="{FF2B5EF4-FFF2-40B4-BE49-F238E27FC236}">
                <a16:creationId xmlns:a16="http://schemas.microsoft.com/office/drawing/2014/main" id="{E6EB3C69-75FD-0268-42D6-AB9E422442B7}"/>
              </a:ext>
            </a:extLst>
          </p:cNvPr>
          <p:cNvSpPr>
            <a:spLocks noGrp="1"/>
          </p:cNvSpPr>
          <p:nvPr>
            <p:ph idx="1"/>
          </p:nvPr>
        </p:nvSpPr>
        <p:spPr>
          <a:xfrm>
            <a:off x="487680" y="1503680"/>
            <a:ext cx="10515600" cy="5262881"/>
          </a:xfrm>
          <a:ln>
            <a:solidFill>
              <a:schemeClr val="accent2"/>
            </a:solidFill>
          </a:ln>
        </p:spPr>
        <p:txBody>
          <a:bodyPr>
            <a:normAutofit/>
          </a:bodyPr>
          <a:lstStyle/>
          <a:p>
            <a:r>
              <a:rPr lang="en-US" kern="100" spc="-10" dirty="0"/>
              <a:t>Development of Five years strategic plan done </a:t>
            </a:r>
          </a:p>
          <a:p>
            <a:endParaRPr lang="en-US" kern="100" spc="-10" dirty="0"/>
          </a:p>
          <a:p>
            <a:r>
              <a:rPr lang="en-US" dirty="0"/>
              <a:t>Finalized the recruitment of the climate and health expert and start date will be 1</a:t>
            </a:r>
            <a:r>
              <a:rPr lang="en-US" baseline="30000" dirty="0"/>
              <a:t>st</a:t>
            </a:r>
            <a:r>
              <a:rPr lang="en-US" dirty="0"/>
              <a:t> August</a:t>
            </a:r>
          </a:p>
          <a:p>
            <a:endParaRPr lang="en-US" dirty="0"/>
          </a:p>
          <a:p>
            <a:r>
              <a:rPr lang="en-US" dirty="0"/>
              <a:t>Finalized deployment of Health Equity Specialist</a:t>
            </a:r>
          </a:p>
          <a:p>
            <a:endParaRPr lang="en-US" dirty="0"/>
          </a:p>
          <a:p>
            <a:r>
              <a:rPr lang="en-US" dirty="0"/>
              <a:t>Developed draft </a:t>
            </a:r>
            <a:r>
              <a:rPr lang="en-US" dirty="0" err="1"/>
              <a:t>ToR</a:t>
            </a:r>
            <a:r>
              <a:rPr lang="en-US" dirty="0"/>
              <a:t> for the Learning Expert, awaiting discussion during ISM for the next steps</a:t>
            </a:r>
          </a:p>
          <a:p>
            <a:endParaRPr lang="en-US" dirty="0"/>
          </a:p>
          <a:p>
            <a:endParaRPr lang="en-US" kern="100" spc="-10" dirty="0"/>
          </a:p>
          <a:p>
            <a:pPr marL="0" indent="0">
              <a:buNone/>
            </a:pPr>
            <a:endParaRPr lang="en-US" kern="100" dirty="0"/>
          </a:p>
          <a:p>
            <a:pPr marL="0" indent="0">
              <a:buNone/>
            </a:pPr>
            <a:endParaRPr lang="en-US" dirty="0"/>
          </a:p>
        </p:txBody>
      </p:sp>
    </p:spTree>
    <p:custDataLst>
      <p:tags r:id="rId1"/>
    </p:custDataLst>
    <p:extLst>
      <p:ext uri="{BB962C8B-B14F-4D97-AF65-F5344CB8AC3E}">
        <p14:creationId xmlns:p14="http://schemas.microsoft.com/office/powerpoint/2010/main" val="25735249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6F356-B07F-54BB-66CD-E7E15A6CC1DD}"/>
              </a:ext>
            </a:extLst>
          </p:cNvPr>
          <p:cNvSpPr>
            <a:spLocks noGrp="1"/>
          </p:cNvSpPr>
          <p:nvPr>
            <p:ph type="title"/>
          </p:nvPr>
        </p:nvSpPr>
        <p:spPr>
          <a:xfrm>
            <a:off x="645160" y="80646"/>
            <a:ext cx="10515600" cy="1186180"/>
          </a:xfrm>
          <a:ln>
            <a:solidFill>
              <a:srgbClr val="FF9900"/>
            </a:solidFill>
          </a:ln>
        </p:spPr>
        <p:txBody>
          <a:bodyPr>
            <a:normAutofit/>
          </a:bodyPr>
          <a:lstStyle/>
          <a:p>
            <a:r>
              <a:rPr lang="en-US" sz="2800" b="1" dirty="0">
                <a:solidFill>
                  <a:srgbClr val="008000"/>
                </a:solidFill>
                <a:latin typeface="Arial" panose="020B0604020202020204" pitchFamily="34" charset="0"/>
                <a:cs typeface="Arial" panose="020B0604020202020204" pitchFamily="34" charset="0"/>
              </a:rPr>
              <a:t>Sub-Component 3.3 Procurement </a:t>
            </a:r>
          </a:p>
        </p:txBody>
      </p:sp>
      <p:sp>
        <p:nvSpPr>
          <p:cNvPr id="3" name="Content Placeholder 2">
            <a:extLst>
              <a:ext uri="{FF2B5EF4-FFF2-40B4-BE49-F238E27FC236}">
                <a16:creationId xmlns:a16="http://schemas.microsoft.com/office/drawing/2014/main" id="{E6EB3C69-75FD-0268-42D6-AB9E422442B7}"/>
              </a:ext>
            </a:extLst>
          </p:cNvPr>
          <p:cNvSpPr>
            <a:spLocks noGrp="1"/>
          </p:cNvSpPr>
          <p:nvPr>
            <p:ph idx="1"/>
          </p:nvPr>
        </p:nvSpPr>
        <p:spPr>
          <a:xfrm>
            <a:off x="487680" y="1503680"/>
            <a:ext cx="10515600" cy="5262881"/>
          </a:xfrm>
          <a:ln>
            <a:solidFill>
              <a:schemeClr val="accent2"/>
            </a:solidFill>
          </a:ln>
        </p:spPr>
        <p:txBody>
          <a:bodyPr>
            <a:normAutofit/>
          </a:bodyPr>
          <a:lstStyle/>
          <a:p>
            <a:r>
              <a:rPr lang="en-US" kern="100" spc="-10" dirty="0"/>
              <a:t>STEP is updated with regard to the PIU staff recruitment documentation. </a:t>
            </a:r>
          </a:p>
          <a:p>
            <a:endParaRPr lang="en-US" kern="100" spc="-10" dirty="0"/>
          </a:p>
          <a:p>
            <a:r>
              <a:rPr lang="en-US" dirty="0"/>
              <a:t>The process for the procurement of the vehicle has been postponed based of on IGAD’s management advised and now provided go ahead to finalize the procurement during Q3 2026.</a:t>
            </a:r>
          </a:p>
          <a:p>
            <a:endParaRPr lang="en-US" kern="100" spc="-10" dirty="0"/>
          </a:p>
          <a:p>
            <a:pPr marL="0" indent="0">
              <a:buNone/>
            </a:pPr>
            <a:endParaRPr lang="en-US" kern="100" dirty="0"/>
          </a:p>
          <a:p>
            <a:pPr marL="0" indent="0">
              <a:buNone/>
            </a:pPr>
            <a:endParaRPr lang="en-US" dirty="0"/>
          </a:p>
        </p:txBody>
      </p:sp>
    </p:spTree>
    <p:custDataLst>
      <p:tags r:id="rId1"/>
    </p:custDataLst>
    <p:extLst>
      <p:ext uri="{BB962C8B-B14F-4D97-AF65-F5344CB8AC3E}">
        <p14:creationId xmlns:p14="http://schemas.microsoft.com/office/powerpoint/2010/main" val="3727640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6F356-B07F-54BB-66CD-E7E15A6CC1DD}"/>
              </a:ext>
            </a:extLst>
          </p:cNvPr>
          <p:cNvSpPr>
            <a:spLocks noGrp="1"/>
          </p:cNvSpPr>
          <p:nvPr>
            <p:ph type="title"/>
          </p:nvPr>
        </p:nvSpPr>
        <p:spPr>
          <a:xfrm>
            <a:off x="248920" y="88904"/>
            <a:ext cx="11783246" cy="691681"/>
          </a:xfrm>
          <a:ln>
            <a:solidFill>
              <a:srgbClr val="FF9900"/>
            </a:solidFill>
          </a:ln>
        </p:spPr>
        <p:txBody>
          <a:bodyPr>
            <a:normAutofit/>
          </a:bodyPr>
          <a:lstStyle/>
          <a:p>
            <a:r>
              <a:rPr lang="en-US" sz="2800" b="1" dirty="0">
                <a:solidFill>
                  <a:srgbClr val="008000"/>
                </a:solidFill>
                <a:latin typeface="Arial" panose="020B0604020202020204" pitchFamily="34" charset="0"/>
                <a:cs typeface="Arial" panose="020B0604020202020204" pitchFamily="34" charset="0"/>
              </a:rPr>
              <a:t>Subcomponent 3.3 Financial Management </a:t>
            </a:r>
          </a:p>
        </p:txBody>
      </p:sp>
      <p:sp>
        <p:nvSpPr>
          <p:cNvPr id="4" name="Content Placeholder 3"/>
          <p:cNvSpPr>
            <a:spLocks noGrp="1"/>
          </p:cNvSpPr>
          <p:nvPr>
            <p:ph idx="1"/>
          </p:nvPr>
        </p:nvSpPr>
        <p:spPr/>
        <p:txBody>
          <a:bodyPr/>
          <a:lstStyle/>
          <a:p>
            <a:endParaRPr lang="en-US" dirty="0"/>
          </a:p>
        </p:txBody>
      </p:sp>
      <p:graphicFrame>
        <p:nvGraphicFramePr>
          <p:cNvPr id="5" name="Table 4">
            <a:extLst>
              <a:ext uri="{FF2B5EF4-FFF2-40B4-BE49-F238E27FC236}">
                <a16:creationId xmlns:a16="http://schemas.microsoft.com/office/drawing/2014/main" id="{C7CBE6AC-FA8E-3DB3-75F7-0D6B63013F82}"/>
              </a:ext>
            </a:extLst>
          </p:cNvPr>
          <p:cNvGraphicFramePr>
            <a:graphicFrameLocks noGrp="1"/>
          </p:cNvGraphicFramePr>
          <p:nvPr>
            <p:extLst>
              <p:ext uri="{D42A27DB-BD31-4B8C-83A1-F6EECF244321}">
                <p14:modId xmlns:p14="http://schemas.microsoft.com/office/powerpoint/2010/main" val="1677622339"/>
              </p:ext>
            </p:extLst>
          </p:nvPr>
        </p:nvGraphicFramePr>
        <p:xfrm>
          <a:off x="248920" y="903249"/>
          <a:ext cx="5318760" cy="5824254"/>
        </p:xfrm>
        <a:graphic>
          <a:graphicData uri="http://schemas.openxmlformats.org/drawingml/2006/table">
            <a:tbl>
              <a:tblPr>
                <a:tableStyleId>{5C22544A-7EE6-4342-B048-85BDC9FD1C3A}</a:tableStyleId>
              </a:tblPr>
              <a:tblGrid>
                <a:gridCol w="3474079">
                  <a:extLst>
                    <a:ext uri="{9D8B030D-6E8A-4147-A177-3AD203B41FA5}">
                      <a16:colId xmlns:a16="http://schemas.microsoft.com/office/drawing/2014/main" val="2596046335"/>
                    </a:ext>
                  </a:extLst>
                </a:gridCol>
                <a:gridCol w="1844681">
                  <a:extLst>
                    <a:ext uri="{9D8B030D-6E8A-4147-A177-3AD203B41FA5}">
                      <a16:colId xmlns:a16="http://schemas.microsoft.com/office/drawing/2014/main" val="3811736692"/>
                    </a:ext>
                  </a:extLst>
                </a:gridCol>
              </a:tblGrid>
              <a:tr h="608319">
                <a:tc>
                  <a:txBody>
                    <a:bodyPr/>
                    <a:lstStyle/>
                    <a:p>
                      <a:pPr algn="ctr" fontAlgn="ctr"/>
                      <a:r>
                        <a:rPr lang="lv-LV" sz="2800" b="1" u="none" strike="noStrike" dirty="0">
                          <a:effectLst/>
                          <a:latin typeface="Arial" panose="020B0604020202020204" pitchFamily="34" charset="0"/>
                          <a:cs typeface="Arial" panose="020B0604020202020204" pitchFamily="34" charset="0"/>
                        </a:rPr>
                        <a:t>D</a:t>
                      </a:r>
                      <a:r>
                        <a:rPr lang="en-US" sz="2800" b="1" u="none" strike="noStrike" dirty="0">
                          <a:effectLst/>
                          <a:latin typeface="Arial" panose="020B0604020202020204" pitchFamily="34" charset="0"/>
                          <a:cs typeface="Arial" panose="020B0604020202020204" pitchFamily="34" charset="0"/>
                        </a:rPr>
                        <a:t>isbursement</a:t>
                      </a:r>
                      <a:endParaRPr lang="lv-LV" sz="28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fontAlgn="ctr"/>
                      <a:r>
                        <a:rPr lang="lv-LV" sz="2800" b="1" u="none" strike="noStrike" dirty="0">
                          <a:effectLst/>
                          <a:latin typeface="Arial" panose="020B0604020202020204" pitchFamily="34" charset="0"/>
                          <a:cs typeface="Arial" panose="020B0604020202020204" pitchFamily="34" charset="0"/>
                        </a:rPr>
                        <a:t>US$</a:t>
                      </a:r>
                      <a:endParaRPr lang="lv-LV" sz="28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96747722"/>
                  </a:ext>
                </a:extLst>
              </a:tr>
              <a:tr h="1738645">
                <a:tc>
                  <a:txBody>
                    <a:bodyPr/>
                    <a:lstStyle/>
                    <a:p>
                      <a:pPr algn="l" fontAlgn="ctr"/>
                      <a:r>
                        <a:rPr lang="en-US" sz="2800" b="0" i="0" u="none" strike="noStrike" dirty="0">
                          <a:solidFill>
                            <a:srgbClr val="000000"/>
                          </a:solidFill>
                          <a:effectLst/>
                          <a:latin typeface="Arial" panose="020B0604020202020204" pitchFamily="34" charset="0"/>
                          <a:cs typeface="Arial" panose="020B0604020202020204" pitchFamily="34" charset="0"/>
                        </a:rPr>
                        <a:t>Overall budget (Grant amount)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AE" sz="2800" b="0" i="0" u="none" strike="noStrike" dirty="0">
                          <a:solidFill>
                            <a:srgbClr val="000000"/>
                          </a:solidFill>
                          <a:effectLst/>
                          <a:latin typeface="Arial" panose="020B0604020202020204" pitchFamily="34" charset="0"/>
                          <a:cs typeface="Arial" panose="020B0604020202020204" pitchFamily="34" charset="0"/>
                        </a:rPr>
                        <a:t>    19,000,000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9872373"/>
                  </a:ext>
                </a:extLst>
              </a:tr>
              <a:tr h="1738645">
                <a:tc>
                  <a:txBody>
                    <a:bodyPr/>
                    <a:lstStyle/>
                    <a:p>
                      <a:pPr algn="l" fontAlgn="ctr"/>
                      <a:r>
                        <a:rPr lang="en-US" sz="2800" b="0" i="0" u="none" strike="noStrike" dirty="0">
                          <a:solidFill>
                            <a:srgbClr val="000000"/>
                          </a:solidFill>
                          <a:effectLst/>
                          <a:latin typeface="Arial" panose="020B0604020202020204" pitchFamily="34" charset="0"/>
                          <a:cs typeface="Arial" panose="020B0604020202020204" pitchFamily="34" charset="0"/>
                        </a:rPr>
                        <a:t>Cumulative disbursement (up to June 2026)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AE" sz="2800" b="0" i="0" u="none" strike="noStrike" dirty="0">
                          <a:solidFill>
                            <a:srgbClr val="000000"/>
                          </a:solidFill>
                          <a:effectLst/>
                          <a:latin typeface="Arial" panose="020B0604020202020204" pitchFamily="34" charset="0"/>
                          <a:cs typeface="Arial" panose="020B0604020202020204" pitchFamily="34" charset="0"/>
                        </a:rPr>
                        <a:t>     </a:t>
                      </a:r>
                      <a:r>
                        <a:rPr lang="en-AE" sz="2800" b="0" i="0" u="none" strike="noStrike" kern="1200" dirty="0">
                          <a:solidFill>
                            <a:srgbClr val="000000"/>
                          </a:solidFill>
                          <a:effectLst/>
                          <a:latin typeface="Arial" panose="020B0604020202020204" pitchFamily="34" charset="0"/>
                          <a:ea typeface="+mn-ea"/>
                          <a:cs typeface="Arial" panose="020B0604020202020204" pitchFamily="34" charset="0"/>
                        </a:rPr>
                        <a:t> </a:t>
                      </a:r>
                      <a:r>
                        <a:rPr lang="en-AE" sz="2800" b="0" i="0" u="none" strike="noStrike" dirty="0">
                          <a:solidFill>
                            <a:srgbClr val="000000"/>
                          </a:solidFill>
                          <a:effectLst/>
                          <a:latin typeface="Arial" panose="020B0604020202020204" pitchFamily="34" charset="0"/>
                          <a:cs typeface="Arial" panose="020B0604020202020204" pitchFamily="34" charset="0"/>
                        </a:rPr>
                        <a:t>8,714,663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267920"/>
                  </a:ext>
                </a:extLst>
              </a:tr>
              <a:tr h="1738645">
                <a:tc>
                  <a:txBody>
                    <a:bodyPr/>
                    <a:lstStyle/>
                    <a:p>
                      <a:pPr algn="l" fontAlgn="b"/>
                      <a:r>
                        <a:rPr lang="en-US" sz="2800" b="0" i="0" u="none" strike="noStrike" dirty="0">
                          <a:solidFill>
                            <a:srgbClr val="000000"/>
                          </a:solidFill>
                          <a:effectLst/>
                          <a:latin typeface="Arial" panose="020B0604020202020204" pitchFamily="34" charset="0"/>
                          <a:cs typeface="Arial" panose="020B0604020202020204" pitchFamily="34" charset="0"/>
                        </a:rPr>
                        <a:t>Disbursement rate: </a:t>
                      </a:r>
                    </a:p>
                    <a:p>
                      <a:pPr algn="l" fontAlgn="b"/>
                      <a:r>
                        <a:rPr lang="en-US" sz="2800" b="0" i="0" u="none" strike="noStrike" dirty="0">
                          <a:solidFill>
                            <a:srgbClr val="000000"/>
                          </a:solidFill>
                          <a:effectLst/>
                          <a:latin typeface="Arial" panose="020B0604020202020204" pitchFamily="34" charset="0"/>
                          <a:cs typeface="Arial" panose="020B0604020202020204" pitchFamily="34" charset="0"/>
                        </a:rPr>
                        <a:t>   (disbursement vs. overall budget)</a:t>
                      </a:r>
                      <a:endParaRPr lang="lv-LV" sz="2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AE" sz="2800" b="0" i="0" u="none" strike="noStrike" dirty="0">
                          <a:solidFill>
                            <a:srgbClr val="000000"/>
                          </a:solidFill>
                          <a:effectLst/>
                          <a:latin typeface="Arial" panose="020B0604020202020204" pitchFamily="34" charset="0"/>
                          <a:cs typeface="Arial" panose="020B0604020202020204" pitchFamily="34" charset="0"/>
                        </a:rPr>
                        <a:t>   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034745"/>
                  </a:ext>
                </a:extLst>
              </a:tr>
            </a:tbl>
          </a:graphicData>
        </a:graphic>
      </p:graphicFrame>
      <p:graphicFrame>
        <p:nvGraphicFramePr>
          <p:cNvPr id="6" name="Table 5">
            <a:extLst>
              <a:ext uri="{FF2B5EF4-FFF2-40B4-BE49-F238E27FC236}">
                <a16:creationId xmlns:a16="http://schemas.microsoft.com/office/drawing/2014/main" id="{486C241F-1EB1-C29C-8ED5-7919D4134975}"/>
              </a:ext>
            </a:extLst>
          </p:cNvPr>
          <p:cNvGraphicFramePr>
            <a:graphicFrameLocks noGrp="1"/>
          </p:cNvGraphicFramePr>
          <p:nvPr>
            <p:extLst>
              <p:ext uri="{D42A27DB-BD31-4B8C-83A1-F6EECF244321}">
                <p14:modId xmlns:p14="http://schemas.microsoft.com/office/powerpoint/2010/main" val="484304705"/>
              </p:ext>
            </p:extLst>
          </p:nvPr>
        </p:nvGraphicFramePr>
        <p:xfrm>
          <a:off x="5798634" y="903249"/>
          <a:ext cx="6393365" cy="5824254"/>
        </p:xfrm>
        <a:graphic>
          <a:graphicData uri="http://schemas.openxmlformats.org/drawingml/2006/table">
            <a:tbl>
              <a:tblPr>
                <a:tableStyleId>{5C22544A-7EE6-4342-B048-85BDC9FD1C3A}</a:tableStyleId>
              </a:tblPr>
              <a:tblGrid>
                <a:gridCol w="4584846">
                  <a:extLst>
                    <a:ext uri="{9D8B030D-6E8A-4147-A177-3AD203B41FA5}">
                      <a16:colId xmlns:a16="http://schemas.microsoft.com/office/drawing/2014/main" val="2596046335"/>
                    </a:ext>
                  </a:extLst>
                </a:gridCol>
                <a:gridCol w="1808519">
                  <a:extLst>
                    <a:ext uri="{9D8B030D-6E8A-4147-A177-3AD203B41FA5}">
                      <a16:colId xmlns:a16="http://schemas.microsoft.com/office/drawing/2014/main" val="3811736692"/>
                    </a:ext>
                  </a:extLst>
                </a:gridCol>
              </a:tblGrid>
              <a:tr h="839765">
                <a:tc>
                  <a:txBody>
                    <a:bodyPr/>
                    <a:lstStyle/>
                    <a:p>
                      <a:pPr algn="ctr" fontAlgn="ctr"/>
                      <a:r>
                        <a:rPr lang="en-US" sz="2800" b="1" u="none" strike="noStrike" dirty="0">
                          <a:effectLst/>
                          <a:latin typeface="Arial" panose="020B0604020202020204" pitchFamily="34" charset="0"/>
                          <a:cs typeface="Arial" panose="020B0604020202020204" pitchFamily="34" charset="0"/>
                        </a:rPr>
                        <a:t>Expenditure</a:t>
                      </a:r>
                      <a:endParaRPr lang="lv-LV" sz="28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fontAlgn="ctr"/>
                      <a:r>
                        <a:rPr lang="lv-LV" sz="2800" b="1" u="none" strike="noStrike" dirty="0">
                          <a:effectLst/>
                          <a:latin typeface="Arial" panose="020B0604020202020204" pitchFamily="34" charset="0"/>
                          <a:cs typeface="Arial" panose="020B0604020202020204" pitchFamily="34" charset="0"/>
                        </a:rPr>
                        <a:t>US$</a:t>
                      </a:r>
                      <a:endParaRPr lang="lv-LV" sz="28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96747722"/>
                  </a:ext>
                </a:extLst>
              </a:tr>
              <a:tr h="1118439">
                <a:tc>
                  <a:txBody>
                    <a:bodyPr/>
                    <a:lstStyle/>
                    <a:p>
                      <a:pPr algn="l" fontAlgn="ctr"/>
                      <a:r>
                        <a:rPr lang="en-US" sz="2800" b="0" i="0" u="none" strike="noStrike" dirty="0">
                          <a:solidFill>
                            <a:srgbClr val="000000"/>
                          </a:solidFill>
                          <a:effectLst/>
                          <a:latin typeface="Arial" panose="020B0604020202020204" pitchFamily="34" charset="0"/>
                          <a:cs typeface="Arial" panose="020B0604020202020204" pitchFamily="34" charset="0"/>
                        </a:rPr>
                        <a:t>Funds received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en-US" sz="2800" b="0" i="0" u="none" strike="noStrike" dirty="0">
                          <a:solidFill>
                            <a:srgbClr val="000000"/>
                          </a:solidFill>
                          <a:effectLst/>
                          <a:latin typeface="Arial" panose="020B0604020202020204" pitchFamily="34" charset="0"/>
                          <a:cs typeface="Arial" panose="020B0604020202020204" pitchFamily="34" charset="0"/>
                        </a:rPr>
                        <a:t>    8,714,663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9872373"/>
                  </a:ext>
                </a:extLst>
              </a:tr>
              <a:tr h="1172883">
                <a:tc>
                  <a:txBody>
                    <a:bodyPr/>
                    <a:lstStyle/>
                    <a:p>
                      <a:pPr algn="l" fontAlgn="ctr"/>
                      <a:r>
                        <a:rPr lang="en-US" sz="2800" b="0" i="0" u="none" strike="noStrike" dirty="0">
                          <a:solidFill>
                            <a:srgbClr val="000000"/>
                          </a:solidFill>
                          <a:effectLst/>
                          <a:latin typeface="Arial" panose="020B0604020202020204" pitchFamily="34" charset="0"/>
                          <a:cs typeface="Arial" panose="020B0604020202020204" pitchFamily="34" charset="0"/>
                        </a:rPr>
                        <a:t>Cumulative expenditure (up to June 30, 2026)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en-US" sz="2800" b="0" i="0" u="none" strike="noStrike" dirty="0">
                          <a:solidFill>
                            <a:srgbClr val="000000"/>
                          </a:solidFill>
                          <a:effectLst/>
                          <a:latin typeface="Arial" panose="020B0604020202020204" pitchFamily="34" charset="0"/>
                          <a:cs typeface="Arial" panose="020B0604020202020204" pitchFamily="34" charset="0"/>
                        </a:rPr>
                        <a:t>     6,024,801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267920"/>
                  </a:ext>
                </a:extLst>
              </a:tr>
              <a:tr h="1077267">
                <a:tc>
                  <a:txBody>
                    <a:bodyPr/>
                    <a:lstStyle/>
                    <a:p>
                      <a:pPr algn="l" fontAlgn="b"/>
                      <a:r>
                        <a:rPr lang="en-US" sz="2800" b="0" i="0" u="none" strike="noStrike" dirty="0">
                          <a:solidFill>
                            <a:srgbClr val="000000"/>
                          </a:solidFill>
                          <a:effectLst/>
                          <a:latin typeface="Arial" panose="020B0604020202020204" pitchFamily="34" charset="0"/>
                          <a:cs typeface="Arial" panose="020B0604020202020204" pitchFamily="34" charset="0"/>
                        </a:rPr>
                        <a:t>DA balance (June 30, 2026)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en-US" sz="2800" b="0" i="0" u="none" strike="noStrike" dirty="0">
                          <a:solidFill>
                            <a:srgbClr val="000000"/>
                          </a:solidFill>
                          <a:effectLst/>
                          <a:latin typeface="Arial" panose="020B0604020202020204" pitchFamily="34" charset="0"/>
                          <a:cs typeface="Arial" panose="020B0604020202020204" pitchFamily="34" charset="0"/>
                        </a:rPr>
                        <a:t>     2,689,862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2886931"/>
                  </a:ext>
                </a:extLst>
              </a:tr>
              <a:tr h="1615900">
                <a:tc>
                  <a:txBody>
                    <a:bodyPr/>
                    <a:lstStyle/>
                    <a:p>
                      <a:pPr algn="l" fontAlgn="b"/>
                      <a:r>
                        <a:rPr lang="en-US" sz="2800" b="0" i="0" u="none" strike="noStrike" dirty="0">
                          <a:solidFill>
                            <a:srgbClr val="000000"/>
                          </a:solidFill>
                          <a:effectLst/>
                          <a:latin typeface="Arial" panose="020B0604020202020204" pitchFamily="34" charset="0"/>
                          <a:cs typeface="Arial" panose="020B0604020202020204" pitchFamily="34" charset="0"/>
                        </a:rPr>
                        <a:t>Burn rate: </a:t>
                      </a:r>
                    </a:p>
                    <a:p>
                      <a:pPr algn="l" fontAlgn="b"/>
                      <a:r>
                        <a:rPr lang="en-US" sz="2800" b="0" i="0" u="none" strike="noStrike" dirty="0">
                          <a:solidFill>
                            <a:srgbClr val="000000"/>
                          </a:solidFill>
                          <a:effectLst/>
                          <a:latin typeface="Arial" panose="020B0604020202020204" pitchFamily="34" charset="0"/>
                          <a:cs typeface="Arial" panose="020B0604020202020204" pitchFamily="34" charset="0"/>
                        </a:rPr>
                        <a:t>   (expenditure vs. funds received)</a:t>
                      </a:r>
                      <a:endParaRPr lang="lv-LV" sz="2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800" b="0" i="0" u="none" strike="noStrike" dirty="0">
                          <a:solidFill>
                            <a:srgbClr val="000000"/>
                          </a:solidFill>
                          <a:effectLst/>
                          <a:latin typeface="Arial" panose="020B0604020202020204" pitchFamily="34" charset="0"/>
                          <a:cs typeface="Arial" panose="020B0604020202020204" pitchFamily="34" charset="0"/>
                        </a:rPr>
                        <a:t>69%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034745"/>
                  </a:ext>
                </a:extLst>
              </a:tr>
            </a:tbl>
          </a:graphicData>
        </a:graphic>
      </p:graphicFrame>
    </p:spTree>
    <p:custDataLst>
      <p:tags r:id="rId1"/>
    </p:custDataLst>
    <p:extLst>
      <p:ext uri="{BB962C8B-B14F-4D97-AF65-F5344CB8AC3E}">
        <p14:creationId xmlns:p14="http://schemas.microsoft.com/office/powerpoint/2010/main" val="39850355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1207" y="1045018"/>
            <a:ext cx="11294235" cy="5368734"/>
          </a:xfrm>
          <a:ln>
            <a:solidFill>
              <a:schemeClr val="accent2"/>
            </a:solidFill>
          </a:ln>
        </p:spPr>
        <p:txBody>
          <a:bodyPr>
            <a:noAutofit/>
          </a:bodyPr>
          <a:lstStyle/>
          <a:p>
            <a:r>
              <a:rPr lang="en-GB" sz="2400" dirty="0"/>
              <a:t>Strengthening multi-sectoral collaboration through increased engagement of other sectors particularly Animal and Environment sector</a:t>
            </a:r>
          </a:p>
          <a:p>
            <a:r>
              <a:rPr lang="en-GB" sz="2400" dirty="0"/>
              <a:t> Cross-Country Peer Learning and Benchmarking: Significant value in comparing approaches, sharing real case experiences, and benchmarking visits</a:t>
            </a:r>
          </a:p>
          <a:p>
            <a:r>
              <a:rPr lang="en-US" sz="2400" dirty="0"/>
              <a:t>Cross-border investment is critical to prepare and respond to health emergencies in </a:t>
            </a:r>
            <a:r>
              <a:rPr lang="en-US" sz="2400" dirty="0" err="1"/>
              <a:t>PoEs</a:t>
            </a:r>
            <a:r>
              <a:rPr lang="en-US" sz="2400" dirty="0"/>
              <a:t> such as EVD</a:t>
            </a:r>
          </a:p>
          <a:p>
            <a:r>
              <a:rPr lang="en-US" sz="2400" dirty="0"/>
              <a:t>Regional investment can add value to the countries’ efforts</a:t>
            </a:r>
          </a:p>
          <a:p>
            <a:pPr lvl="1"/>
            <a:r>
              <a:rPr lang="en-US" dirty="0"/>
              <a:t>Complementarity of interventions at the regional and country level (</a:t>
            </a:r>
            <a:r>
              <a:rPr lang="en-US" dirty="0" err="1"/>
              <a:t>eg</a:t>
            </a:r>
            <a:r>
              <a:rPr lang="en-US" dirty="0"/>
              <a:t>; GMP towards ML3) </a:t>
            </a:r>
          </a:p>
          <a:p>
            <a:r>
              <a:rPr lang="en-US" sz="2400" dirty="0"/>
              <a:t>Engagement of peer experts from countries through TA to enhance cross pollination of best practices </a:t>
            </a:r>
          </a:p>
          <a:p>
            <a:r>
              <a:rPr lang="en-US" sz="2400" dirty="0"/>
              <a:t>Engagement of RECs in various MPA activities strengthening the coordination and collaboration to enhance regional health security in Africa</a:t>
            </a:r>
          </a:p>
          <a:p>
            <a:pPr lvl="1"/>
            <a:endParaRPr lang="en-US" dirty="0"/>
          </a:p>
          <a:p>
            <a:endParaRPr lang="en-US" sz="2400" dirty="0"/>
          </a:p>
          <a:p>
            <a:pPr lvl="1"/>
            <a:endParaRPr lang="en-US" dirty="0"/>
          </a:p>
        </p:txBody>
      </p:sp>
      <p:sp>
        <p:nvSpPr>
          <p:cNvPr id="4" name="Title 1"/>
          <p:cNvSpPr>
            <a:spLocks noGrp="1"/>
          </p:cNvSpPr>
          <p:nvPr>
            <p:ph type="title"/>
          </p:nvPr>
        </p:nvSpPr>
        <p:spPr>
          <a:xfrm>
            <a:off x="541206" y="161109"/>
            <a:ext cx="11294236" cy="783436"/>
          </a:xfrm>
          <a:ln>
            <a:solidFill>
              <a:schemeClr val="accent2"/>
            </a:solidFill>
          </a:ln>
        </p:spPr>
        <p:txBody>
          <a:bodyPr>
            <a:normAutofit fontScale="90000"/>
          </a:bodyPr>
          <a:lstStyle/>
          <a:p>
            <a:br>
              <a:rPr lang="en-US" b="1" dirty="0">
                <a:solidFill>
                  <a:schemeClr val="accent1">
                    <a:lumMod val="75000"/>
                  </a:schemeClr>
                </a:solidFill>
              </a:rPr>
            </a:br>
            <a:r>
              <a:rPr lang="en-US" sz="3100" b="1" dirty="0">
                <a:solidFill>
                  <a:srgbClr val="008000"/>
                </a:solidFill>
                <a:latin typeface="Arial" panose="020B0604020202020204" pitchFamily="34" charset="0"/>
                <a:cs typeface="Arial" panose="020B0604020202020204" pitchFamily="34" charset="0"/>
              </a:rPr>
              <a:t>Lessons Learned/Best Practices</a:t>
            </a:r>
            <a:br>
              <a:rPr lang="en-US" sz="4400" dirty="0">
                <a:solidFill>
                  <a:srgbClr val="008000"/>
                </a:solidFill>
                <a:latin typeface="Arial" panose="020B0604020202020204" pitchFamily="34" charset="0"/>
                <a:cs typeface="Arial" panose="020B0604020202020204" pitchFamily="34" charset="0"/>
              </a:rPr>
            </a:br>
            <a:endParaRPr lang="en-US" sz="4400" dirty="0">
              <a:solidFill>
                <a:srgbClr val="008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5569219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8023" y="1328468"/>
            <a:ext cx="11904452" cy="5368423"/>
          </a:xfrm>
          <a:ln>
            <a:solidFill>
              <a:schemeClr val="accent2"/>
            </a:solidFill>
          </a:ln>
        </p:spPr>
        <p:txBody>
          <a:bodyPr>
            <a:normAutofit/>
          </a:bodyPr>
          <a:lstStyle/>
          <a:p>
            <a:r>
              <a:rPr lang="en-GB" dirty="0">
                <a:cs typeface="Arial" panose="020B0604020202020204" pitchFamily="34" charset="0"/>
              </a:rPr>
              <a:t>Low implementation rate in 1</a:t>
            </a:r>
            <a:r>
              <a:rPr lang="en-GB" baseline="30000" dirty="0">
                <a:cs typeface="Arial" panose="020B0604020202020204" pitchFamily="34" charset="0"/>
              </a:rPr>
              <a:t>st</a:t>
            </a:r>
            <a:r>
              <a:rPr lang="en-GB" dirty="0">
                <a:cs typeface="Arial" panose="020B0604020202020204" pitchFamily="34" charset="0"/>
              </a:rPr>
              <a:t> half of the 2026 because of delay in approval of annual work-plan and budget and the restructuring process . </a:t>
            </a:r>
          </a:p>
          <a:p>
            <a:endParaRPr lang="en-US" sz="2600" dirty="0">
              <a:cs typeface="Arial" panose="020B0604020202020204" pitchFamily="34" charset="0"/>
            </a:endParaRPr>
          </a:p>
          <a:p>
            <a:r>
              <a:rPr lang="en-US" sz="2600" dirty="0">
                <a:cs typeface="Arial" panose="020B0604020202020204" pitchFamily="34" charset="0"/>
              </a:rPr>
              <a:t>Guidance on country specific technical assistance requests which can be addressed with regional resources </a:t>
            </a:r>
          </a:p>
          <a:p>
            <a:endParaRPr lang="en-US" sz="2600" dirty="0">
              <a:cs typeface="Arial" panose="020B0604020202020204" pitchFamily="34" charset="0"/>
            </a:endParaRPr>
          </a:p>
          <a:p>
            <a:r>
              <a:rPr lang="en-US" sz="2600" dirty="0">
                <a:cs typeface="Arial" panose="020B0604020202020204" pitchFamily="34" charset="0"/>
              </a:rPr>
              <a:t> Domestication of the lessons learned/best practices and inclusion in the national action plan</a:t>
            </a:r>
            <a:endParaRPr lang="en-US" sz="2600" dirty="0">
              <a:ea typeface="Calibri" panose="020F0502020204030204" pitchFamily="34" charset="0"/>
              <a:cs typeface="Arial" panose="020B0604020202020204" pitchFamily="34" charset="0"/>
            </a:endParaRPr>
          </a:p>
          <a:p>
            <a:endParaRPr lang="en-US" sz="2600" dirty="0">
              <a:cs typeface="Arial" panose="020B0604020202020204" pitchFamily="34" charset="0"/>
            </a:endParaRPr>
          </a:p>
          <a:p>
            <a:endParaRPr lang="en-US" sz="2600" dirty="0">
              <a:cs typeface="Arial" panose="020B0604020202020204" pitchFamily="34" charset="0"/>
            </a:endParaRPr>
          </a:p>
          <a:p>
            <a:endParaRPr lang="en-US" sz="2600" dirty="0">
              <a:cs typeface="Arial" panose="020B0604020202020204" pitchFamily="34" charset="0"/>
            </a:endParaRPr>
          </a:p>
          <a:p>
            <a:endParaRPr lang="en-US" sz="2600" dirty="0">
              <a:cs typeface="Arial" panose="020B0604020202020204" pitchFamily="34" charset="0"/>
            </a:endParaRPr>
          </a:p>
          <a:p>
            <a:pPr lvl="1"/>
            <a:endParaRPr lang="en-US" sz="2600" dirty="0">
              <a:cs typeface="Arial" panose="020B0604020202020204" pitchFamily="34" charset="0"/>
            </a:endParaRPr>
          </a:p>
        </p:txBody>
      </p:sp>
      <p:sp>
        <p:nvSpPr>
          <p:cNvPr id="4" name="Title 1"/>
          <p:cNvSpPr>
            <a:spLocks noGrp="1"/>
          </p:cNvSpPr>
          <p:nvPr>
            <p:ph type="title"/>
          </p:nvPr>
        </p:nvSpPr>
        <p:spPr>
          <a:xfrm>
            <a:off x="138023" y="161109"/>
            <a:ext cx="11904452" cy="974008"/>
          </a:xfrm>
          <a:ln>
            <a:solidFill>
              <a:schemeClr val="accent2"/>
            </a:solidFill>
          </a:ln>
        </p:spPr>
        <p:txBody>
          <a:bodyPr>
            <a:noAutofit/>
          </a:bodyPr>
          <a:lstStyle/>
          <a:p>
            <a:br>
              <a:rPr lang="en-US" sz="2800" b="1" dirty="0">
                <a:solidFill>
                  <a:schemeClr val="accent1">
                    <a:lumMod val="75000"/>
                  </a:schemeClr>
                </a:solidFill>
                <a:latin typeface="Arial" panose="020B0604020202020204" pitchFamily="34" charset="0"/>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Challenges</a:t>
            </a:r>
            <a:br>
              <a:rPr lang="en-US" sz="2800" dirty="0">
                <a:solidFill>
                  <a:srgbClr val="008000"/>
                </a:solidFill>
                <a:latin typeface="Arial" panose="020B0604020202020204" pitchFamily="34" charset="0"/>
                <a:cs typeface="Arial" panose="020B0604020202020204" pitchFamily="34" charset="0"/>
              </a:rPr>
            </a:br>
            <a:endParaRPr lang="en-US" sz="2800" dirty="0">
              <a:solidFill>
                <a:srgbClr val="008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5144775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8023" y="1135117"/>
            <a:ext cx="11904452" cy="5368423"/>
          </a:xfrm>
          <a:ln>
            <a:solidFill>
              <a:schemeClr val="accent2"/>
            </a:solidFill>
          </a:ln>
        </p:spPr>
        <p:txBody>
          <a:bodyPr>
            <a:normAutofit/>
          </a:bodyPr>
          <a:lstStyle/>
          <a:p>
            <a:r>
              <a:rPr lang="en-GB" dirty="0">
                <a:cs typeface="Arial" panose="020B0604020202020204" pitchFamily="34" charset="0"/>
              </a:rPr>
              <a:t>Accelerated plan (in Q3&amp;4) to expedite the implementation of the unexecuted activities in first half of 2026.</a:t>
            </a:r>
          </a:p>
          <a:p>
            <a:endParaRPr lang="en-GB" dirty="0">
              <a:cs typeface="Arial" panose="020B0604020202020204" pitchFamily="34" charset="0"/>
            </a:endParaRPr>
          </a:p>
          <a:p>
            <a:r>
              <a:rPr lang="en-GB" dirty="0">
                <a:cs typeface="Arial" panose="020B0604020202020204" pitchFamily="34" charset="0"/>
              </a:rPr>
              <a:t>Early approval of AWP&amp;B, maximum by Q1  </a:t>
            </a:r>
          </a:p>
          <a:p>
            <a:endParaRPr lang="en-GB" dirty="0">
              <a:cs typeface="Arial" panose="020B0604020202020204" pitchFamily="34" charset="0"/>
            </a:endParaRPr>
          </a:p>
          <a:p>
            <a:r>
              <a:rPr lang="en-GB" dirty="0">
                <a:cs typeface="Arial" panose="020B0604020202020204" pitchFamily="34" charset="0"/>
              </a:rPr>
              <a:t>Enhance virtual engagements with project stakeholders for implementation of various activities including the 3 COPs.</a:t>
            </a:r>
          </a:p>
          <a:p>
            <a:endParaRPr lang="en-US" sz="2600" dirty="0">
              <a:cs typeface="Arial" panose="020B0604020202020204" pitchFamily="34" charset="0"/>
            </a:endParaRPr>
          </a:p>
          <a:p>
            <a:r>
              <a:rPr lang="en-US" sz="2600" dirty="0">
                <a:cs typeface="Arial" panose="020B0604020202020204" pitchFamily="34" charset="0"/>
              </a:rPr>
              <a:t>Sharing of the ISM reports of the MPA countries to identify the combined challenges for specific technical assistance and lessons learned to be documented by the regional institutions</a:t>
            </a:r>
          </a:p>
        </p:txBody>
      </p:sp>
      <p:sp>
        <p:nvSpPr>
          <p:cNvPr id="4" name="Title 1"/>
          <p:cNvSpPr>
            <a:spLocks noGrp="1"/>
          </p:cNvSpPr>
          <p:nvPr>
            <p:ph type="title"/>
          </p:nvPr>
        </p:nvSpPr>
        <p:spPr>
          <a:xfrm>
            <a:off x="138023" y="161109"/>
            <a:ext cx="11904452" cy="974008"/>
          </a:xfrm>
          <a:ln>
            <a:solidFill>
              <a:schemeClr val="accent2"/>
            </a:solidFill>
          </a:ln>
        </p:spPr>
        <p:txBody>
          <a:bodyPr>
            <a:noAutofit/>
          </a:bodyPr>
          <a:lstStyle/>
          <a:p>
            <a:br>
              <a:rPr lang="en-US" sz="2800" b="1" dirty="0">
                <a:solidFill>
                  <a:schemeClr val="accent1">
                    <a:lumMod val="75000"/>
                  </a:schemeClr>
                </a:solidFill>
                <a:latin typeface="Arial" panose="020B0604020202020204" pitchFamily="34" charset="0"/>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Possible Solutions</a:t>
            </a:r>
            <a:br>
              <a:rPr lang="en-US" sz="2800" dirty="0">
                <a:solidFill>
                  <a:srgbClr val="008000"/>
                </a:solidFill>
                <a:latin typeface="Arial" panose="020B0604020202020204" pitchFamily="34" charset="0"/>
                <a:cs typeface="Arial" panose="020B0604020202020204" pitchFamily="34" charset="0"/>
              </a:rPr>
            </a:br>
            <a:endParaRPr lang="en-US" sz="2800" dirty="0">
              <a:solidFill>
                <a:srgbClr val="008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5702012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18160" y="1203857"/>
            <a:ext cx="10982960" cy="4770665"/>
          </a:xfrm>
          <a:prstGeom prst="rect">
            <a:avLst/>
          </a:prstGeom>
          <a:ln>
            <a:solidFill>
              <a:schemeClr val="accent2"/>
            </a:solidFill>
          </a:ln>
        </p:spPr>
        <p:txBody>
          <a:bodyPr wrap="square">
            <a:spAutoFit/>
          </a:bodyPr>
          <a:lstStyle/>
          <a:p>
            <a:pPr marL="342900" marR="0" lvl="0" indent="-342900">
              <a:lnSpc>
                <a:spcPct val="107000"/>
              </a:lnSpc>
              <a:spcBef>
                <a:spcPts val="0"/>
              </a:spcBef>
              <a:spcAft>
                <a:spcPts val="0"/>
              </a:spcAft>
              <a:buClr>
                <a:srgbClr val="1F4E79"/>
              </a:buClr>
              <a:buFont typeface="+mj-lt"/>
              <a:buAutoNum type="arabicPeriod"/>
            </a:pPr>
            <a:r>
              <a:rPr lang="en-GB" sz="2600" dirty="0">
                <a:latin typeface="Arial" panose="020B0604020202020204" pitchFamily="34" charset="0"/>
              </a:rPr>
              <a:t>Enhancing Participation, Engagement and Interactivity: </a:t>
            </a:r>
          </a:p>
          <a:p>
            <a:pPr marL="342900" marR="0" lvl="0" indent="-342900">
              <a:lnSpc>
                <a:spcPct val="107000"/>
              </a:lnSpc>
              <a:spcBef>
                <a:spcPts val="0"/>
              </a:spcBef>
              <a:spcAft>
                <a:spcPts val="0"/>
              </a:spcAft>
              <a:buClr>
                <a:srgbClr val="1F4E79"/>
              </a:buClr>
              <a:buFont typeface="+mj-lt"/>
              <a:buAutoNum type="arabicPeriod"/>
            </a:pPr>
            <a:r>
              <a:rPr lang="en-GB" sz="2600" dirty="0">
                <a:latin typeface="Arial" panose="020B0604020202020204" pitchFamily="34" charset="0"/>
              </a:rPr>
              <a:t>Strengthening Time Management and Streamlining the Agenda</a:t>
            </a:r>
          </a:p>
          <a:p>
            <a:pPr marL="342900" marR="0" lvl="0" indent="-342900">
              <a:lnSpc>
                <a:spcPct val="107000"/>
              </a:lnSpc>
              <a:spcBef>
                <a:spcPts val="0"/>
              </a:spcBef>
              <a:spcAft>
                <a:spcPts val="0"/>
              </a:spcAft>
              <a:buClr>
                <a:srgbClr val="1F4E79"/>
              </a:buClr>
              <a:buFont typeface="+mj-lt"/>
              <a:buAutoNum type="arabicPeriod"/>
            </a:pPr>
            <a:r>
              <a:rPr lang="en-GB" sz="2600" dirty="0">
                <a:latin typeface="Arial" panose="020B0604020202020204" pitchFamily="34" charset="0"/>
              </a:rPr>
              <a:t>Refining Panel Design – Fewer Panellists, Shorter Panels, Clear Moderation</a:t>
            </a:r>
          </a:p>
          <a:p>
            <a:pPr marL="342900" marR="0" lvl="0" indent="-342900">
              <a:lnSpc>
                <a:spcPct val="107000"/>
              </a:lnSpc>
              <a:spcBef>
                <a:spcPts val="0"/>
              </a:spcBef>
              <a:spcAft>
                <a:spcPts val="0"/>
              </a:spcAft>
              <a:buClr>
                <a:srgbClr val="1F4E79"/>
              </a:buClr>
              <a:buFont typeface="+mj-lt"/>
              <a:buAutoNum type="arabicPeriod"/>
            </a:pPr>
            <a:r>
              <a:rPr lang="en-GB" sz="2600" dirty="0">
                <a:latin typeface="Arial" panose="020B0604020202020204" pitchFamily="34" charset="0"/>
              </a:rPr>
              <a:t>Broadening Stakeholder Inclusion and Ensuring Balanced Representation</a:t>
            </a:r>
          </a:p>
          <a:p>
            <a:pPr marL="342900" marR="0" lvl="0" indent="-342900">
              <a:lnSpc>
                <a:spcPct val="107000"/>
              </a:lnSpc>
              <a:spcBef>
                <a:spcPts val="0"/>
              </a:spcBef>
              <a:spcAft>
                <a:spcPts val="0"/>
              </a:spcAft>
              <a:buClr>
                <a:srgbClr val="1F4E79"/>
              </a:buClr>
              <a:buFont typeface="+mj-lt"/>
              <a:buAutoNum type="arabicPeriod"/>
            </a:pPr>
            <a:r>
              <a:rPr lang="en-GB" sz="2600" dirty="0">
                <a:latin typeface="Arial" panose="020B0604020202020204" pitchFamily="34" charset="0"/>
              </a:rPr>
              <a:t>Strengthening Logistics, Communication, and Meeting Environment: </a:t>
            </a:r>
          </a:p>
          <a:p>
            <a:pPr marL="342900" marR="0" lvl="0" indent="-342900">
              <a:lnSpc>
                <a:spcPct val="107000"/>
              </a:lnSpc>
              <a:spcBef>
                <a:spcPts val="0"/>
              </a:spcBef>
              <a:spcAft>
                <a:spcPts val="0"/>
              </a:spcAft>
              <a:buClr>
                <a:srgbClr val="1F4E79"/>
              </a:buClr>
              <a:buFont typeface="+mj-lt"/>
              <a:buAutoNum type="arabicPeriod"/>
            </a:pPr>
            <a:r>
              <a:rPr lang="en-GB" sz="2600" dirty="0">
                <a:latin typeface="Arial" panose="020B0604020202020204" pitchFamily="34" charset="0"/>
              </a:rPr>
              <a:t>Improving Preparation, Pre-Meeting Processes, and Clarity of Expectations</a:t>
            </a:r>
          </a:p>
          <a:p>
            <a:pPr marL="342900" marR="0" lvl="0" indent="-342900">
              <a:lnSpc>
                <a:spcPct val="107000"/>
              </a:lnSpc>
              <a:spcBef>
                <a:spcPts val="0"/>
              </a:spcBef>
              <a:spcAft>
                <a:spcPts val="0"/>
              </a:spcAft>
              <a:buClr>
                <a:srgbClr val="1F4E79"/>
              </a:buClr>
              <a:buFont typeface="+mj-lt"/>
              <a:buAutoNum type="arabicPeriod"/>
            </a:pPr>
            <a:r>
              <a:rPr lang="en-GB" sz="2600" dirty="0">
                <a:latin typeface="Arial" panose="020B0604020202020204" pitchFamily="34" charset="0"/>
              </a:rPr>
              <a:t>Maintaining Quality Content while Increasing Technical Depth and Practical Relevance</a:t>
            </a:r>
          </a:p>
        </p:txBody>
      </p:sp>
      <p:sp>
        <p:nvSpPr>
          <p:cNvPr id="6" name="Title 1">
            <a:extLst>
              <a:ext uri="{FF2B5EF4-FFF2-40B4-BE49-F238E27FC236}">
                <a16:creationId xmlns:a16="http://schemas.microsoft.com/office/drawing/2014/main" id="{7299270E-822B-B783-18DA-FB7B0B99EC9E}"/>
              </a:ext>
            </a:extLst>
          </p:cNvPr>
          <p:cNvSpPr txBox="1">
            <a:spLocks/>
          </p:cNvSpPr>
          <p:nvPr/>
        </p:nvSpPr>
        <p:spPr>
          <a:xfrm>
            <a:off x="345440" y="133350"/>
            <a:ext cx="11656060" cy="895351"/>
          </a:xfrm>
          <a:prstGeom prst="rect">
            <a:avLst/>
          </a:prstGeom>
          <a:ln>
            <a:solidFill>
              <a:schemeClr val="accent2"/>
            </a:solid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008000"/>
                </a:solidFill>
                <a:latin typeface="Arial" panose="020B0604020202020204" pitchFamily="34" charset="0"/>
                <a:ea typeface="+mj-ea"/>
                <a:cs typeface="Arial" panose="020B0604020202020204" pitchFamily="34" charset="0"/>
              </a:rPr>
              <a:t>RAC: </a:t>
            </a:r>
            <a:r>
              <a:rPr lang="en-GB" b="1" dirty="0">
                <a:solidFill>
                  <a:srgbClr val="008000"/>
                </a:solidFill>
                <a:latin typeface="Arial" panose="020B0604020202020204" pitchFamily="34" charset="0"/>
                <a:ea typeface="+mj-ea"/>
                <a:cs typeface="Arial" panose="020B0604020202020204" pitchFamily="34" charset="0"/>
              </a:rPr>
              <a:t>Suggested Key Areas of Improvement for Future Meetings</a:t>
            </a:r>
          </a:p>
          <a:p>
            <a:pPr marL="0" indent="0">
              <a:buNone/>
            </a:pPr>
            <a:endParaRPr lang="en-US" b="1" dirty="0">
              <a:solidFill>
                <a:srgbClr val="008000"/>
              </a:solidFill>
              <a:latin typeface="Arial" panose="020B0604020202020204" pitchFamily="34" charset="0"/>
              <a:ea typeface="+mj-ea"/>
              <a:cs typeface="Arial" panose="020B0604020202020204" pitchFamily="34" charset="0"/>
            </a:endParaRPr>
          </a:p>
        </p:txBody>
      </p:sp>
      <p:sp>
        <p:nvSpPr>
          <p:cNvPr id="13" name="Title 1">
            <a:extLst>
              <a:ext uri="{FF2B5EF4-FFF2-40B4-BE49-F238E27FC236}">
                <a16:creationId xmlns:a16="http://schemas.microsoft.com/office/drawing/2014/main" id="{C686AEA1-462C-3944-EE85-568B6BAE2674}"/>
              </a:ext>
            </a:extLst>
          </p:cNvPr>
          <p:cNvSpPr txBox="1">
            <a:spLocks/>
          </p:cNvSpPr>
          <p:nvPr/>
        </p:nvSpPr>
        <p:spPr>
          <a:xfrm>
            <a:off x="345440" y="1203857"/>
            <a:ext cx="11656060" cy="5174185"/>
          </a:xfrm>
          <a:prstGeom prst="rect">
            <a:avLst/>
          </a:prstGeom>
          <a:ln>
            <a:solidFill>
              <a:srgbClr val="FF0000"/>
            </a:solidFill>
          </a:ln>
        </p:spPr>
        <p:txBody>
          <a:bodyPr>
            <a:normAutofit fontScale="97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br>
              <a:rPr lang="en-US" sz="4400" dirty="0">
                <a:solidFill>
                  <a:srgbClr val="008000"/>
                </a:solidFill>
                <a:latin typeface="Arial" panose="020B0604020202020204" pitchFamily="34" charset="0"/>
                <a:cs typeface="Arial" panose="020B0604020202020204" pitchFamily="34" charset="0"/>
              </a:rPr>
            </a:br>
            <a:endParaRPr lang="en-US" sz="4400" dirty="0">
              <a:solidFill>
                <a:srgbClr val="008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5653712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299270E-822B-B783-18DA-FB7B0B99EC9E}"/>
              </a:ext>
            </a:extLst>
          </p:cNvPr>
          <p:cNvSpPr txBox="1">
            <a:spLocks/>
          </p:cNvSpPr>
          <p:nvPr/>
        </p:nvSpPr>
        <p:spPr>
          <a:xfrm>
            <a:off x="345440" y="133350"/>
            <a:ext cx="11656060" cy="895351"/>
          </a:xfrm>
          <a:prstGeom prst="rect">
            <a:avLst/>
          </a:prstGeom>
          <a:ln>
            <a:solidFill>
              <a:schemeClr val="accent2"/>
            </a:solid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008000"/>
                </a:solidFill>
                <a:latin typeface="Arial" panose="020B0604020202020204" pitchFamily="34" charset="0"/>
                <a:ea typeface="+mj-ea"/>
                <a:cs typeface="Arial" panose="020B0604020202020204" pitchFamily="34" charset="0"/>
              </a:rPr>
              <a:t>Suggested Topics for RAC</a:t>
            </a:r>
          </a:p>
        </p:txBody>
      </p:sp>
      <p:sp>
        <p:nvSpPr>
          <p:cNvPr id="3" name="TextBox 2">
            <a:extLst>
              <a:ext uri="{FF2B5EF4-FFF2-40B4-BE49-F238E27FC236}">
                <a16:creationId xmlns:a16="http://schemas.microsoft.com/office/drawing/2014/main" id="{B27B1E14-CF3E-BEFE-1A5D-4F58688BC966}"/>
              </a:ext>
            </a:extLst>
          </p:cNvPr>
          <p:cNvSpPr txBox="1"/>
          <p:nvPr/>
        </p:nvSpPr>
        <p:spPr>
          <a:xfrm>
            <a:off x="345441" y="1351442"/>
            <a:ext cx="11656060" cy="3747051"/>
          </a:xfrm>
          <a:prstGeom prst="rect">
            <a:avLst/>
          </a:prstGeom>
          <a:noFill/>
        </p:spPr>
        <p:txBody>
          <a:bodyPr wrap="square">
            <a:spAutoFit/>
          </a:bodyPr>
          <a:lstStyle/>
          <a:p>
            <a:pPr marL="514350" marR="0" lvl="0" indent="-514350" algn="l" defTabSz="914400" rtl="0" eaLnBrk="1" fontAlgn="auto" latinLnBrk="0" hangingPunct="1">
              <a:lnSpc>
                <a:spcPct val="107000"/>
              </a:lnSpc>
              <a:spcBef>
                <a:spcPts val="0"/>
              </a:spcBef>
              <a:spcAft>
                <a:spcPts val="0"/>
              </a:spcAft>
              <a:buClr>
                <a:srgbClr val="1F4E79"/>
              </a:buClr>
              <a:buSzTx/>
              <a:buFont typeface="+mj-lt"/>
              <a:buAutoNum type="arabicPeriod"/>
              <a:tabLst/>
              <a:defRPr/>
            </a:pPr>
            <a:r>
              <a:rPr kumimoji="0" lang="en-GB" sz="2800" b="0" i="0" u="none" strike="noStrike" kern="1200" cap="none" spc="0" normalizeH="0" baseline="0" noProof="0" dirty="0">
                <a:ln>
                  <a:noFill/>
                </a:ln>
                <a:effectLst/>
                <a:uLnTx/>
                <a:uFillTx/>
                <a:latin typeface="Arial" panose="020B0604020202020204" pitchFamily="34" charset="0"/>
                <a:ea typeface="+mn-ea"/>
                <a:cs typeface="+mn-cs"/>
              </a:rPr>
              <a:t>Discussion on climate and health nexus</a:t>
            </a:r>
          </a:p>
          <a:p>
            <a:pPr marL="514350" marR="0" lvl="0" indent="-514350" algn="l" defTabSz="914400" rtl="0" eaLnBrk="1" fontAlgn="auto" latinLnBrk="0" hangingPunct="1">
              <a:lnSpc>
                <a:spcPct val="107000"/>
              </a:lnSpc>
              <a:spcBef>
                <a:spcPts val="0"/>
              </a:spcBef>
              <a:spcAft>
                <a:spcPts val="0"/>
              </a:spcAft>
              <a:buClr>
                <a:srgbClr val="1F4E79"/>
              </a:buClr>
              <a:buSzTx/>
              <a:buFont typeface="+mj-lt"/>
              <a:buAutoNum type="arabicPeriod"/>
              <a:tabLst/>
              <a:defRPr/>
            </a:pPr>
            <a:endParaRPr kumimoji="0" lang="en-GB" sz="2800" b="0" i="0" u="none" strike="noStrike" kern="1200" cap="none" spc="0" normalizeH="0" baseline="0" noProof="0" dirty="0">
              <a:ln>
                <a:noFill/>
              </a:ln>
              <a:effectLst/>
              <a:uLnTx/>
              <a:uFillTx/>
              <a:latin typeface="Arial" panose="020B0604020202020204" pitchFamily="34" charset="0"/>
              <a:ea typeface="+mn-ea"/>
              <a:cs typeface="+mn-cs"/>
            </a:endParaRPr>
          </a:p>
          <a:p>
            <a:pPr marL="514350" marR="0" lvl="0" indent="-514350" algn="l" defTabSz="914400" rtl="0" eaLnBrk="1" fontAlgn="auto" latinLnBrk="0" hangingPunct="1">
              <a:lnSpc>
                <a:spcPct val="107000"/>
              </a:lnSpc>
              <a:spcBef>
                <a:spcPts val="0"/>
              </a:spcBef>
              <a:spcAft>
                <a:spcPts val="0"/>
              </a:spcAft>
              <a:buClr>
                <a:srgbClr val="1F4E79"/>
              </a:buClr>
              <a:buSzTx/>
              <a:buFont typeface="+mj-lt"/>
              <a:buAutoNum type="arabicPeriod"/>
              <a:tabLst/>
              <a:defRPr/>
            </a:pPr>
            <a:r>
              <a:rPr kumimoji="0" lang="en-GB" sz="2800" b="0" i="0" u="none" strike="noStrike" kern="1200" cap="none" spc="0" normalizeH="0" baseline="0" noProof="0" dirty="0">
                <a:ln>
                  <a:noFill/>
                </a:ln>
                <a:effectLst/>
                <a:uLnTx/>
                <a:uFillTx/>
                <a:latin typeface="Arial" panose="020B0604020202020204" pitchFamily="34" charset="0"/>
                <a:ea typeface="+mn-ea"/>
                <a:cs typeface="+mn-cs"/>
              </a:rPr>
              <a:t>Domestic financing for local manufacturing</a:t>
            </a:r>
          </a:p>
          <a:p>
            <a:pPr marL="514350" marR="0" lvl="0" indent="-514350" algn="l" defTabSz="914400" rtl="0" eaLnBrk="1" fontAlgn="auto" latinLnBrk="0" hangingPunct="1">
              <a:lnSpc>
                <a:spcPct val="107000"/>
              </a:lnSpc>
              <a:spcBef>
                <a:spcPts val="0"/>
              </a:spcBef>
              <a:spcAft>
                <a:spcPts val="0"/>
              </a:spcAft>
              <a:buClr>
                <a:srgbClr val="1F4E79"/>
              </a:buClr>
              <a:buSzTx/>
              <a:buFont typeface="+mj-lt"/>
              <a:buAutoNum type="arabicPeriod"/>
              <a:tabLst/>
              <a:defRPr/>
            </a:pPr>
            <a:endParaRPr kumimoji="0" lang="en-GB" sz="2800" b="0" i="0" u="none" strike="noStrike" kern="1200" cap="none" spc="0" normalizeH="0" baseline="0" noProof="0" dirty="0">
              <a:ln>
                <a:noFill/>
              </a:ln>
              <a:effectLst/>
              <a:uLnTx/>
              <a:uFillTx/>
              <a:latin typeface="Arial" panose="020B0604020202020204" pitchFamily="34" charset="0"/>
              <a:ea typeface="+mn-ea"/>
              <a:cs typeface="+mn-cs"/>
            </a:endParaRPr>
          </a:p>
          <a:p>
            <a:pPr marL="514350" marR="0" lvl="0" indent="-514350" algn="l" defTabSz="914400" rtl="0" eaLnBrk="1" fontAlgn="auto" latinLnBrk="0" hangingPunct="1">
              <a:lnSpc>
                <a:spcPct val="107000"/>
              </a:lnSpc>
              <a:spcBef>
                <a:spcPts val="0"/>
              </a:spcBef>
              <a:spcAft>
                <a:spcPts val="0"/>
              </a:spcAft>
              <a:buClr>
                <a:srgbClr val="1F4E79"/>
              </a:buClr>
              <a:buSzTx/>
              <a:buFont typeface="+mj-lt"/>
              <a:buAutoNum type="arabicPeriod"/>
              <a:tabLst/>
              <a:defRPr/>
            </a:pPr>
            <a:r>
              <a:rPr kumimoji="0" lang="en-GB" sz="2800" b="0" i="0" u="none" strike="noStrike" kern="1200" cap="none" spc="0" normalizeH="0" baseline="0" noProof="0" dirty="0">
                <a:ln>
                  <a:noFill/>
                </a:ln>
                <a:effectLst/>
                <a:uLnTx/>
                <a:uFillTx/>
                <a:latin typeface="Arial" panose="020B0604020202020204" pitchFamily="34" charset="0"/>
                <a:ea typeface="+mn-ea"/>
                <a:cs typeface="+mn-cs"/>
              </a:rPr>
              <a:t>Cross border preparedness and response</a:t>
            </a:r>
          </a:p>
          <a:p>
            <a:pPr marL="514350" marR="0" lvl="0" indent="-514350" algn="l" defTabSz="914400" rtl="0" eaLnBrk="1" fontAlgn="auto" latinLnBrk="0" hangingPunct="1">
              <a:lnSpc>
                <a:spcPct val="107000"/>
              </a:lnSpc>
              <a:spcBef>
                <a:spcPts val="0"/>
              </a:spcBef>
              <a:spcAft>
                <a:spcPts val="0"/>
              </a:spcAft>
              <a:buClr>
                <a:srgbClr val="1F4E79"/>
              </a:buClr>
              <a:buSzTx/>
              <a:buFont typeface="+mj-lt"/>
              <a:buAutoNum type="arabicPeriod"/>
              <a:tabLst/>
              <a:defRPr/>
            </a:pPr>
            <a:endParaRPr kumimoji="0" lang="en-GB" sz="2800" b="0" i="0" u="none" strike="noStrike" kern="1200" cap="none" spc="0" normalizeH="0" baseline="0" noProof="0" dirty="0">
              <a:ln>
                <a:noFill/>
              </a:ln>
              <a:effectLst/>
              <a:uLnTx/>
              <a:uFillTx/>
              <a:latin typeface="Arial" panose="020B0604020202020204" pitchFamily="34" charset="0"/>
              <a:ea typeface="+mn-ea"/>
              <a:cs typeface="+mn-cs"/>
            </a:endParaRPr>
          </a:p>
          <a:p>
            <a:pPr marL="514350" marR="0" lvl="0" indent="-514350" algn="l" defTabSz="914400" rtl="0" eaLnBrk="1" fontAlgn="auto" latinLnBrk="0" hangingPunct="1">
              <a:lnSpc>
                <a:spcPct val="107000"/>
              </a:lnSpc>
              <a:spcBef>
                <a:spcPts val="0"/>
              </a:spcBef>
              <a:spcAft>
                <a:spcPts val="0"/>
              </a:spcAft>
              <a:buClr>
                <a:srgbClr val="1F4E79"/>
              </a:buClr>
              <a:buSzTx/>
              <a:buFont typeface="+mj-lt"/>
              <a:buAutoNum type="arabicPeriod"/>
              <a:tabLst/>
              <a:defRPr/>
            </a:pPr>
            <a:r>
              <a:rPr kumimoji="0" lang="en-GB" sz="2800" b="0" i="0" u="none" strike="noStrike" kern="1200" cap="none" spc="0" normalizeH="0" baseline="0" noProof="0" dirty="0">
                <a:ln>
                  <a:noFill/>
                </a:ln>
                <a:effectLst/>
                <a:uLnTx/>
                <a:uFillTx/>
                <a:latin typeface="Arial" panose="020B0604020202020204" pitchFamily="34" charset="0"/>
                <a:ea typeface="+mn-ea"/>
                <a:cs typeface="+mn-cs"/>
              </a:rPr>
              <a:t>Workforce development for preparedness and response to Health Emergencies</a:t>
            </a:r>
          </a:p>
        </p:txBody>
      </p:sp>
    </p:spTree>
    <p:custDataLst>
      <p:tags r:id="rId1"/>
    </p:custDataLst>
    <p:extLst>
      <p:ext uri="{BB962C8B-B14F-4D97-AF65-F5344CB8AC3E}">
        <p14:creationId xmlns:p14="http://schemas.microsoft.com/office/powerpoint/2010/main" val="5941456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2558" y="0"/>
            <a:ext cx="12192000" cy="629645"/>
          </a:xfrm>
          <a:ln>
            <a:solidFill>
              <a:schemeClr val="tx1"/>
            </a:solidFill>
          </a:ln>
        </p:spPr>
        <p:txBody>
          <a:bodyPr>
            <a:normAutofit fontScale="90000"/>
          </a:bodyPr>
          <a:lstStyle/>
          <a:p>
            <a:br>
              <a:rPr lang="en-US" b="1" dirty="0">
                <a:solidFill>
                  <a:schemeClr val="accent1">
                    <a:lumMod val="75000"/>
                  </a:schemeClr>
                </a:solidFill>
              </a:rPr>
            </a:br>
            <a:r>
              <a:rPr lang="en-US" sz="3100" b="1" dirty="0">
                <a:solidFill>
                  <a:srgbClr val="008000"/>
                </a:solidFill>
                <a:latin typeface="Arial" panose="020B0604020202020204" pitchFamily="34" charset="0"/>
                <a:cs typeface="Arial" panose="020B0604020202020204" pitchFamily="34" charset="0"/>
              </a:rPr>
              <a:t>Updates of Results Indicators</a:t>
            </a:r>
            <a:br>
              <a:rPr lang="en-US" sz="4400" dirty="0">
                <a:solidFill>
                  <a:srgbClr val="008000"/>
                </a:solidFill>
                <a:latin typeface="Arial" panose="020B0604020202020204" pitchFamily="34" charset="0"/>
                <a:cs typeface="Arial" panose="020B0604020202020204" pitchFamily="34" charset="0"/>
              </a:rPr>
            </a:br>
            <a:endParaRPr lang="en-US" sz="4400" dirty="0">
              <a:solidFill>
                <a:srgbClr val="008000"/>
              </a:solidFill>
              <a:latin typeface="Arial" panose="020B0604020202020204" pitchFamily="34" charset="0"/>
              <a:cs typeface="Arial" panose="020B0604020202020204" pitchFamily="34" charset="0"/>
            </a:endParaRPr>
          </a:p>
        </p:txBody>
      </p:sp>
      <p:graphicFrame>
        <p:nvGraphicFramePr>
          <p:cNvPr id="6" name="Content Placeholder 4">
            <a:extLst>
              <a:ext uri="{FF2B5EF4-FFF2-40B4-BE49-F238E27FC236}">
                <a16:creationId xmlns:a16="http://schemas.microsoft.com/office/drawing/2014/main" id="{508E851A-3214-77CD-CCAF-24071033BFF1}"/>
              </a:ext>
            </a:extLst>
          </p:cNvPr>
          <p:cNvGraphicFramePr>
            <a:graphicFrameLocks noGrp="1"/>
          </p:cNvGraphicFramePr>
          <p:nvPr>
            <p:ph idx="1"/>
            <p:extLst>
              <p:ext uri="{D42A27DB-BD31-4B8C-83A1-F6EECF244321}">
                <p14:modId xmlns:p14="http://schemas.microsoft.com/office/powerpoint/2010/main" val="1632980443"/>
              </p:ext>
            </p:extLst>
          </p:nvPr>
        </p:nvGraphicFramePr>
        <p:xfrm>
          <a:off x="102558" y="629645"/>
          <a:ext cx="12089442" cy="6150889"/>
        </p:xfrm>
        <a:graphic>
          <a:graphicData uri="http://schemas.openxmlformats.org/drawingml/2006/table">
            <a:tbl>
              <a:tblPr firstRow="1" bandRow="1">
                <a:tableStyleId>{E8B1032C-EA38-4F05-BA0D-38AFFFC7BED3}</a:tableStyleId>
              </a:tblPr>
              <a:tblGrid>
                <a:gridCol w="6588174">
                  <a:extLst>
                    <a:ext uri="{9D8B030D-6E8A-4147-A177-3AD203B41FA5}">
                      <a16:colId xmlns:a16="http://schemas.microsoft.com/office/drawing/2014/main" val="2450526107"/>
                    </a:ext>
                  </a:extLst>
                </a:gridCol>
                <a:gridCol w="970156">
                  <a:extLst>
                    <a:ext uri="{9D8B030D-6E8A-4147-A177-3AD203B41FA5}">
                      <a16:colId xmlns:a16="http://schemas.microsoft.com/office/drawing/2014/main" val="4270739535"/>
                    </a:ext>
                  </a:extLst>
                </a:gridCol>
                <a:gridCol w="930453">
                  <a:extLst>
                    <a:ext uri="{9D8B030D-6E8A-4147-A177-3AD203B41FA5}">
                      <a16:colId xmlns:a16="http://schemas.microsoft.com/office/drawing/2014/main" val="1325872749"/>
                    </a:ext>
                  </a:extLst>
                </a:gridCol>
                <a:gridCol w="3600659">
                  <a:extLst>
                    <a:ext uri="{9D8B030D-6E8A-4147-A177-3AD203B41FA5}">
                      <a16:colId xmlns:a16="http://schemas.microsoft.com/office/drawing/2014/main" val="2462970150"/>
                    </a:ext>
                  </a:extLst>
                </a:gridCol>
              </a:tblGrid>
              <a:tr h="701341">
                <a:tc>
                  <a:txBody>
                    <a:bodyPr/>
                    <a:lstStyle/>
                    <a:p>
                      <a:r>
                        <a:rPr lang="en-US" sz="1400" dirty="0">
                          <a:solidFill>
                            <a:schemeClr val="tx1"/>
                          </a:solidFill>
                          <a:latin typeface="Arial" panose="020B0604020202020204" pitchFamily="34" charset="0"/>
                          <a:cs typeface="Arial" panose="020B0604020202020204" pitchFamily="34" charset="0"/>
                        </a:rPr>
                        <a:t>Project Development Objectives</a:t>
                      </a:r>
                    </a:p>
                  </a:txBody>
                  <a:tcPr/>
                </a:tc>
                <a:tc>
                  <a:txBody>
                    <a:bodyPr/>
                    <a:lstStyle/>
                    <a:p>
                      <a:r>
                        <a:rPr lang="en-US" sz="1400" b="1" dirty="0">
                          <a:solidFill>
                            <a:schemeClr val="tx1"/>
                          </a:solidFill>
                          <a:latin typeface="Arial" panose="020B0604020202020204" pitchFamily="34" charset="0"/>
                          <a:cs typeface="Arial" panose="020B0604020202020204" pitchFamily="34" charset="0"/>
                        </a:rPr>
                        <a:t>Target 2026</a:t>
                      </a:r>
                      <a:endParaRPr lang="en-US" sz="1400" dirty="0">
                        <a:solidFill>
                          <a:schemeClr val="tx1"/>
                        </a:solidFill>
                        <a:latin typeface="Arial" panose="020B0604020202020204" pitchFamily="34" charset="0"/>
                        <a:cs typeface="Arial" panose="020B0604020202020204" pitchFamily="34" charset="0"/>
                      </a:endParaRPr>
                    </a:p>
                  </a:txBody>
                  <a:tcPr/>
                </a:tc>
                <a:tc>
                  <a:txBody>
                    <a:bodyPr/>
                    <a:lstStyle/>
                    <a:p>
                      <a:r>
                        <a:rPr lang="en-US" sz="1400" b="1" dirty="0">
                          <a:solidFill>
                            <a:schemeClr val="tx1"/>
                          </a:solidFill>
                          <a:latin typeface="Arial" panose="020B0604020202020204" pitchFamily="34" charset="0"/>
                          <a:cs typeface="Arial" panose="020B0604020202020204" pitchFamily="34" charset="0"/>
                        </a:rPr>
                        <a:t>Current </a:t>
                      </a:r>
                    </a:p>
                    <a:p>
                      <a:r>
                        <a:rPr lang="en-US" sz="1400" b="1" dirty="0">
                          <a:solidFill>
                            <a:schemeClr val="tx1"/>
                          </a:solidFill>
                          <a:latin typeface="Arial" panose="020B0604020202020204" pitchFamily="34" charset="0"/>
                          <a:cs typeface="Arial" panose="020B0604020202020204" pitchFamily="34" charset="0"/>
                        </a:rPr>
                        <a:t>Value</a:t>
                      </a:r>
                      <a:endParaRPr lang="en-US" sz="1400" dirty="0">
                        <a:solidFill>
                          <a:schemeClr val="tx1"/>
                        </a:solidFill>
                        <a:latin typeface="Arial" panose="020B0604020202020204" pitchFamily="34" charset="0"/>
                        <a:cs typeface="Arial" panose="020B0604020202020204" pitchFamily="34" charset="0"/>
                      </a:endParaRPr>
                    </a:p>
                  </a:txBody>
                  <a:tcPr/>
                </a:tc>
                <a:tc>
                  <a:txBody>
                    <a:bodyPr/>
                    <a:lstStyle/>
                    <a:p>
                      <a:r>
                        <a:rPr lang="en-US" sz="1400" b="1" dirty="0">
                          <a:solidFill>
                            <a:schemeClr val="tx1"/>
                          </a:solidFill>
                          <a:latin typeface="Arial" panose="020B0604020202020204" pitchFamily="34" charset="0"/>
                          <a:cs typeface="Arial" panose="020B0604020202020204" pitchFamily="34" charset="0"/>
                        </a:rPr>
                        <a:t>Remarks</a:t>
                      </a:r>
                      <a:endParaRPr lang="en-US" sz="14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63182275"/>
                  </a:ext>
                </a:extLst>
              </a:tr>
              <a:tr h="4789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effectLst/>
                          <a:latin typeface="Arial" panose="020B0604020202020204" pitchFamily="34" charset="0"/>
                          <a:cs typeface="Arial" panose="020B0604020202020204" pitchFamily="34" charset="0"/>
                        </a:rPr>
                        <a:t>Percentage of countries that have signed protocols to promote cross-border response (Percentage)</a:t>
                      </a:r>
                      <a:r>
                        <a:rPr lang="en-US" sz="1400" b="1" kern="1200" baseline="30000" dirty="0">
                          <a:solidFill>
                            <a:schemeClr val="dk1"/>
                          </a:solidFill>
                          <a:effectLst/>
                          <a:latin typeface="Arial" panose="020B0604020202020204" pitchFamily="34" charset="0"/>
                          <a:cs typeface="Arial" panose="020B0604020202020204" pitchFamily="34" charset="0"/>
                        </a:rPr>
                        <a:t> </a:t>
                      </a:r>
                      <a:endParaRPr lang="en-US" sz="1400" b="1" i="0" kern="1200" dirty="0">
                        <a:solidFill>
                          <a:schemeClr val="accent1"/>
                        </a:solidFill>
                        <a:effectLst/>
                        <a:latin typeface="Arial" panose="020B0604020202020204" pitchFamily="34" charset="0"/>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latin typeface="Arial" panose="020B0604020202020204" pitchFamily="34" charset="0"/>
                          <a:cs typeface="Arial" panose="020B0604020202020204" pitchFamily="34" charset="0"/>
                        </a:rPr>
                        <a:t>55%</a:t>
                      </a:r>
                      <a:endParaRPr lang="en-US" sz="1400" b="1" i="0" kern="1200" dirty="0">
                        <a:solidFill>
                          <a:schemeClr val="accent1"/>
                        </a:solidFill>
                        <a:effectLst/>
                        <a:latin typeface="Arial" panose="020B0604020202020204" pitchFamily="34" charset="0"/>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a:solidFill>
                            <a:schemeClr val="dk1"/>
                          </a:solidFill>
                          <a:effectLst/>
                          <a:latin typeface="Arial" panose="020B0604020202020204" pitchFamily="34" charset="0"/>
                          <a:cs typeface="Arial" panose="020B0604020202020204" pitchFamily="34" charset="0"/>
                        </a:rPr>
                        <a:t>0</a:t>
                      </a:r>
                      <a:endParaRPr lang="en-US" sz="1400" b="1" i="0" kern="1200" dirty="0">
                        <a:solidFill>
                          <a:schemeClr val="accent1"/>
                        </a:solidFill>
                        <a:effectLst/>
                        <a:latin typeface="Arial" panose="020B0604020202020204" pitchFamily="34" charset="0"/>
                        <a:ea typeface="+mn-ea"/>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cs typeface="Arial" panose="020B0604020202020204" pitchFamily="34" charset="0"/>
                        </a:rPr>
                        <a:t>IGAD is supporting 3 countries to enhance the endorsement of the multicounty CB MOU for HEs</a:t>
                      </a:r>
                      <a:endParaRPr lang="en-US" sz="1400" b="1" i="0" kern="1200" dirty="0">
                        <a:solidFill>
                          <a:schemeClr val="accent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2053342224"/>
                  </a:ext>
                </a:extLst>
              </a:tr>
              <a:tr h="761346">
                <a:tc>
                  <a:txBody>
                    <a:bodyPr/>
                    <a:lstStyle/>
                    <a:p>
                      <a:r>
                        <a:rPr lang="en-US" sz="1400" kern="1200" dirty="0">
                          <a:solidFill>
                            <a:schemeClr val="dk1"/>
                          </a:solidFill>
                          <a:effectLst/>
                          <a:latin typeface="Arial" panose="020B0604020202020204" pitchFamily="34" charset="0"/>
                          <a:cs typeface="Arial" panose="020B0604020202020204" pitchFamily="34" charset="0"/>
                        </a:rPr>
                        <a:t>Proportion of MPA countries that have adopted CoP-generated regional knowledge products (guidelines, tools, or frameworks) into national policies, plans, or implementation practices (Percentage) </a:t>
                      </a:r>
                      <a:endParaRPr lang="en-US" sz="1400" b="1" i="0" dirty="0">
                        <a:solidFill>
                          <a:schemeClr val="accent1"/>
                        </a:solidFill>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50%</a:t>
                      </a:r>
                      <a:endParaRPr lang="en-US" sz="1400" b="1" i="0" dirty="0">
                        <a:solidFill>
                          <a:schemeClr val="accent1"/>
                        </a:solidFill>
                        <a:latin typeface="Arial" panose="020B0604020202020204" pitchFamily="34" charset="0"/>
                        <a:cs typeface="Arial" panose="020B0604020202020204" pitchFamily="34" charset="0"/>
                      </a:endParaRPr>
                    </a:p>
                  </a:txBody>
                  <a:tcPr/>
                </a:tc>
                <a:tc>
                  <a:txBody>
                    <a:bodyPr/>
                    <a:lstStyle/>
                    <a:p>
                      <a:r>
                        <a:rPr lang="en-US" sz="1400" kern="1200" dirty="0">
                          <a:solidFill>
                            <a:schemeClr val="dk1"/>
                          </a:solidFill>
                          <a:effectLst/>
                          <a:latin typeface="Arial" panose="020B0604020202020204" pitchFamily="34" charset="0"/>
                          <a:cs typeface="Arial" panose="020B0604020202020204" pitchFamily="34" charset="0"/>
                        </a:rPr>
                        <a:t>0%</a:t>
                      </a:r>
                      <a:endParaRPr lang="en-US" sz="1400" b="1" i="0" dirty="0">
                        <a:solidFill>
                          <a:schemeClr val="accent1"/>
                        </a:solidFill>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One product from COP on NCDs which was presented, discussed and agreed in COP meeting</a:t>
                      </a:r>
                      <a:endParaRPr lang="en-US" sz="1400" b="1" i="0" dirty="0">
                        <a:solidFill>
                          <a:schemeClr val="accent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20922075"/>
                  </a:ext>
                </a:extLst>
              </a:tr>
              <a:tr h="431410">
                <a:tc gridSpan="4">
                  <a:txBody>
                    <a:bodyPr/>
                    <a:lstStyle/>
                    <a:p>
                      <a:r>
                        <a:rPr lang="en-US" sz="1400" b="1" dirty="0">
                          <a:solidFill>
                            <a:schemeClr val="tx1"/>
                          </a:solidFill>
                          <a:latin typeface="Arial" panose="020B0604020202020204" pitchFamily="34" charset="0"/>
                          <a:cs typeface="Arial" panose="020B0604020202020204" pitchFamily="34" charset="0"/>
                        </a:rPr>
                        <a:t>Intermediate Indicators (IRIs)</a:t>
                      </a:r>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38726810"/>
                  </a:ext>
                </a:extLst>
              </a:tr>
              <a:tr h="465832">
                <a:tc>
                  <a:txBody>
                    <a:bodyPr/>
                    <a:lstStyle/>
                    <a:p>
                      <a:r>
                        <a:rPr lang="en-US" sz="1400" kern="1200" dirty="0">
                          <a:solidFill>
                            <a:schemeClr val="dk1"/>
                          </a:solidFill>
                          <a:effectLst/>
                          <a:latin typeface="Arial" panose="020B0604020202020204" pitchFamily="34" charset="0"/>
                          <a:cs typeface="Arial" panose="020B0604020202020204" pitchFamily="34" charset="0"/>
                        </a:rPr>
                        <a:t>Number of IGAD-supported CoP-generated regional knowledge products (including guidelines, policy briefs, tools, frameworks, and case studies) (End </a:t>
                      </a:r>
                      <a:r>
                        <a:rPr lang="en-US" sz="1400" b="1" kern="1200" dirty="0">
                          <a:solidFill>
                            <a:schemeClr val="dk1"/>
                          </a:solidFill>
                          <a:effectLst/>
                          <a:latin typeface="Arial" panose="020B0604020202020204" pitchFamily="34" charset="0"/>
                          <a:cs typeface="Arial" panose="020B0604020202020204" pitchFamily="34" charset="0"/>
                        </a:rPr>
                        <a:t>target</a:t>
                      </a:r>
                      <a:r>
                        <a:rPr lang="en-US" sz="1400" kern="1200" dirty="0">
                          <a:solidFill>
                            <a:schemeClr val="dk1"/>
                          </a:solidFill>
                          <a:effectLst/>
                          <a:latin typeface="Arial" panose="020B0604020202020204" pitchFamily="34" charset="0"/>
                          <a:cs typeface="Arial" panose="020B0604020202020204" pitchFamily="34" charset="0"/>
                        </a:rPr>
                        <a:t>: </a:t>
                      </a:r>
                      <a:r>
                        <a:rPr lang="en-US" sz="1400" b="1" kern="1200" dirty="0">
                          <a:solidFill>
                            <a:schemeClr val="dk1"/>
                          </a:solidFill>
                          <a:effectLst/>
                          <a:latin typeface="Arial" panose="020B0604020202020204" pitchFamily="34" charset="0"/>
                          <a:cs typeface="Arial" panose="020B0604020202020204" pitchFamily="34" charset="0"/>
                        </a:rPr>
                        <a:t>12</a:t>
                      </a:r>
                      <a:r>
                        <a:rPr lang="en-US" sz="1400" kern="1200" dirty="0">
                          <a:solidFill>
                            <a:schemeClr val="dk1"/>
                          </a:solidFill>
                          <a:effectLst/>
                          <a:latin typeface="Arial" panose="020B0604020202020204" pitchFamily="34" charset="0"/>
                          <a:cs typeface="Arial" panose="020B0604020202020204" pitchFamily="34" charset="0"/>
                        </a:rPr>
                        <a:t>)</a:t>
                      </a:r>
                      <a:endParaRPr lang="en-US" sz="1400" dirty="0">
                        <a:solidFill>
                          <a:schemeClr val="accent1"/>
                        </a:solidFill>
                        <a:latin typeface="Arial" panose="020B0604020202020204" pitchFamily="34" charset="0"/>
                        <a:cs typeface="Arial" panose="020B0604020202020204" pitchFamily="34" charset="0"/>
                      </a:endParaRPr>
                    </a:p>
                  </a:txBody>
                  <a:tcPr/>
                </a:tc>
                <a:tc>
                  <a:txBody>
                    <a:bodyPr/>
                    <a:lstStyle/>
                    <a:p>
                      <a:r>
                        <a:rPr lang="en-US" sz="1400">
                          <a:solidFill>
                            <a:schemeClr val="accent1"/>
                          </a:solidFill>
                          <a:latin typeface="Arial" panose="020B0604020202020204" pitchFamily="34" charset="0"/>
                          <a:cs typeface="Arial" panose="020B0604020202020204" pitchFamily="34" charset="0"/>
                        </a:rPr>
                        <a:t>3</a:t>
                      </a:r>
                      <a:endParaRPr lang="en-US" sz="1400" dirty="0">
                        <a:solidFill>
                          <a:schemeClr val="accent1"/>
                        </a:solidFill>
                        <a:latin typeface="Arial" panose="020B0604020202020204" pitchFamily="34" charset="0"/>
                        <a:cs typeface="Arial" panose="020B0604020202020204" pitchFamily="34" charset="0"/>
                      </a:endParaRPr>
                    </a:p>
                  </a:txBody>
                  <a:tcPr/>
                </a:tc>
                <a:tc>
                  <a:txBody>
                    <a:bodyPr/>
                    <a:lstStyle/>
                    <a:p>
                      <a:r>
                        <a:rPr lang="en-US" sz="1400">
                          <a:solidFill>
                            <a:schemeClr val="accent1"/>
                          </a:solidFill>
                          <a:latin typeface="Arial" panose="020B0604020202020204" pitchFamily="34" charset="0"/>
                          <a:cs typeface="Arial" panose="020B0604020202020204" pitchFamily="34" charset="0"/>
                        </a:rPr>
                        <a:t>1</a:t>
                      </a:r>
                      <a:endParaRPr lang="en-US" sz="1400" dirty="0">
                        <a:solidFill>
                          <a:schemeClr val="accent1"/>
                        </a:solidFill>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There are 1 products from NCD/MH COP under finalization and design</a:t>
                      </a:r>
                      <a:endParaRPr lang="en-US" sz="1400" dirty="0">
                        <a:solidFill>
                          <a:schemeClr val="accent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80959861"/>
                  </a:ext>
                </a:extLst>
              </a:tr>
              <a:tr h="505112">
                <a:tc>
                  <a:txBody>
                    <a:bodyPr/>
                    <a:lstStyle/>
                    <a:p>
                      <a:r>
                        <a:rPr lang="en-US" sz="1400" kern="1200" dirty="0">
                          <a:solidFill>
                            <a:schemeClr val="dk1"/>
                          </a:solidFill>
                          <a:effectLst/>
                          <a:latin typeface="Arial" panose="020B0604020202020204" pitchFamily="34" charset="0"/>
                          <a:cs typeface="Arial" panose="020B0604020202020204" pitchFamily="34" charset="0"/>
                        </a:rPr>
                        <a:t>Number of countries supported to revise their essential health services package (End </a:t>
                      </a:r>
                      <a:r>
                        <a:rPr lang="en-US" sz="1400" b="1" kern="1200" dirty="0">
                          <a:solidFill>
                            <a:schemeClr val="dk1"/>
                          </a:solidFill>
                          <a:effectLst/>
                          <a:latin typeface="Arial" panose="020B0604020202020204" pitchFamily="34" charset="0"/>
                          <a:cs typeface="Arial" panose="020B0604020202020204" pitchFamily="34" charset="0"/>
                        </a:rPr>
                        <a:t>target: 8</a:t>
                      </a:r>
                      <a:r>
                        <a:rPr lang="en-US" sz="1400" kern="1200" dirty="0">
                          <a:solidFill>
                            <a:schemeClr val="dk1"/>
                          </a:solidFill>
                          <a:effectLst/>
                          <a:latin typeface="Arial" panose="020B0604020202020204" pitchFamily="34" charset="0"/>
                          <a:cs typeface="Arial" panose="020B0604020202020204" pitchFamily="34" charset="0"/>
                        </a:rPr>
                        <a:t>) </a:t>
                      </a:r>
                      <a:endParaRPr lang="en-US" sz="1400" dirty="0">
                        <a:solidFill>
                          <a:schemeClr val="accent1"/>
                        </a:solidFill>
                        <a:latin typeface="Arial" panose="020B0604020202020204" pitchFamily="34" charset="0"/>
                        <a:cs typeface="Arial" panose="020B0604020202020204" pitchFamily="34" charset="0"/>
                      </a:endParaRPr>
                    </a:p>
                  </a:txBody>
                  <a:tcPr/>
                </a:tc>
                <a:tc>
                  <a:txBody>
                    <a:bodyPr/>
                    <a:lstStyle/>
                    <a:p>
                      <a:r>
                        <a:rPr lang="en-US" sz="1400">
                          <a:latin typeface="Arial" panose="020B0604020202020204" pitchFamily="34" charset="0"/>
                          <a:cs typeface="Arial" panose="020B0604020202020204" pitchFamily="34" charset="0"/>
                        </a:rPr>
                        <a:t>2</a:t>
                      </a:r>
                      <a:endParaRPr lang="en-US" sz="1400" dirty="0">
                        <a:solidFill>
                          <a:schemeClr val="accent1"/>
                        </a:solidFill>
                        <a:latin typeface="Arial" panose="020B0604020202020204" pitchFamily="34" charset="0"/>
                        <a:cs typeface="Arial" panose="020B0604020202020204" pitchFamily="34" charset="0"/>
                      </a:endParaRPr>
                    </a:p>
                  </a:txBody>
                  <a:tcPr/>
                </a:tc>
                <a:tc>
                  <a:txBody>
                    <a:bodyPr/>
                    <a:lstStyle/>
                    <a:p>
                      <a:r>
                        <a:rPr lang="en-US" sz="1400">
                          <a:latin typeface="Arial" panose="020B0604020202020204" pitchFamily="34" charset="0"/>
                          <a:cs typeface="Arial" panose="020B0604020202020204" pitchFamily="34" charset="0"/>
                        </a:rPr>
                        <a:t>2</a:t>
                      </a:r>
                      <a:endParaRPr lang="en-US" sz="1400" dirty="0">
                        <a:solidFill>
                          <a:schemeClr val="accent1"/>
                        </a:solidFill>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ET, Zambia revised, 3 national advocacy meetings scheduled for July –Aug to support revision/utilization of EHS (Ethi, Kenya, Burundi)</a:t>
                      </a:r>
                      <a:endParaRPr lang="en-US" sz="1400" dirty="0">
                        <a:solidFill>
                          <a:schemeClr val="accent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21381764"/>
                  </a:ext>
                </a:extLst>
              </a:tr>
              <a:tr h="410599">
                <a:tc>
                  <a:txBody>
                    <a:bodyPr/>
                    <a:lstStyle/>
                    <a:p>
                      <a:pPr marL="0" marR="0" algn="just">
                        <a:lnSpc>
                          <a:spcPct val="107000"/>
                        </a:lnSpc>
                        <a:buNone/>
                      </a:pPr>
                      <a:r>
                        <a:rPr lang="en-US" sz="1400" kern="1200" dirty="0">
                          <a:solidFill>
                            <a:schemeClr val="dk1"/>
                          </a:solidFill>
                          <a:effectLst/>
                          <a:latin typeface="Arial" panose="020B0604020202020204" pitchFamily="34" charset="0"/>
                          <a:cs typeface="Arial" panose="020B0604020202020204" pitchFamily="34" charset="0"/>
                        </a:rPr>
                        <a:t>Number of countries supported to operationalize the revised I-FETP curricula (End </a:t>
                      </a:r>
                      <a:r>
                        <a:rPr lang="en-US" sz="1400" b="1" kern="1200" dirty="0">
                          <a:solidFill>
                            <a:schemeClr val="dk1"/>
                          </a:solidFill>
                          <a:effectLst/>
                          <a:latin typeface="Arial" panose="020B0604020202020204" pitchFamily="34" charset="0"/>
                          <a:cs typeface="Arial" panose="020B0604020202020204" pitchFamily="34" charset="0"/>
                        </a:rPr>
                        <a:t>target: 5</a:t>
                      </a:r>
                      <a:r>
                        <a:rPr lang="en-US" sz="1400" kern="1200" dirty="0">
                          <a:solidFill>
                            <a:schemeClr val="dk1"/>
                          </a:solidFill>
                          <a:effectLst/>
                          <a:latin typeface="Arial" panose="020B0604020202020204" pitchFamily="34" charset="0"/>
                          <a:cs typeface="Arial" panose="020B0604020202020204" pitchFamily="34" charset="0"/>
                        </a:rPr>
                        <a:t>)</a:t>
                      </a:r>
                      <a:endParaRPr lang="en-US" sz="1400" kern="1200" dirty="0">
                        <a:solidFill>
                          <a:schemeClr val="dk1"/>
                        </a:solidFill>
                        <a:effectLst/>
                        <a:latin typeface="Arial" panose="020B0604020202020204" pitchFamily="34" charset="0"/>
                        <a:ea typeface="+mn-ea"/>
                        <a:cs typeface="Arial" panose="020B0604020202020204" pitchFamily="34" charset="0"/>
                      </a:endParaRPr>
                    </a:p>
                  </a:txBody>
                  <a:tcPr marL="68580" marR="68580" marT="0" marB="0"/>
                </a:tc>
                <a:tc>
                  <a:txBody>
                    <a:bodyPr/>
                    <a:lstStyle/>
                    <a:p>
                      <a:pPr marL="0" marR="0" algn="just">
                        <a:lnSpc>
                          <a:spcPct val="107000"/>
                        </a:lnSpc>
                        <a:buNone/>
                      </a:pPr>
                      <a:r>
                        <a:rPr lang="en-US" sz="1400">
                          <a:latin typeface="Arial" panose="020B0604020202020204" pitchFamily="34" charset="0"/>
                          <a:cs typeface="Arial" panose="020B0604020202020204" pitchFamily="34" charset="0"/>
                        </a:rPr>
                        <a:t>1</a:t>
                      </a:r>
                      <a:endParaRPr lang="en-US" sz="14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marL="0" marR="0" algn="just">
                        <a:lnSpc>
                          <a:spcPct val="107000"/>
                        </a:lnSpc>
                        <a:buNone/>
                      </a:pPr>
                      <a:r>
                        <a:rPr lang="en-US" sz="1400" kern="1200">
                          <a:solidFill>
                            <a:schemeClr val="dk1"/>
                          </a:solidFill>
                          <a:effectLst/>
                          <a:latin typeface="Arial" panose="020B0604020202020204" pitchFamily="34" charset="0"/>
                          <a:cs typeface="Arial" panose="020B0604020202020204" pitchFamily="34" charset="0"/>
                        </a:rPr>
                        <a:t>1</a:t>
                      </a:r>
                      <a:endParaRPr lang="en-US" sz="14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pPr marL="0" marR="0" algn="just">
                        <a:lnSpc>
                          <a:spcPct val="107000"/>
                        </a:lnSpc>
                        <a:buNone/>
                      </a:pPr>
                      <a:r>
                        <a:rPr lang="en-US" sz="1400" dirty="0">
                          <a:latin typeface="Arial" panose="020B0604020202020204" pitchFamily="34" charset="0"/>
                          <a:cs typeface="Arial" panose="020B0604020202020204" pitchFamily="34" charset="0"/>
                        </a:rPr>
                        <a:t>ET, (Malawi is planned this year)</a:t>
                      </a:r>
                      <a:endParaRPr lang="en-US" sz="14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3968769854"/>
                  </a:ext>
                </a:extLst>
              </a:tr>
              <a:tr h="677360">
                <a:tc>
                  <a:txBody>
                    <a:bodyPr/>
                    <a:lstStyle/>
                    <a:p>
                      <a:r>
                        <a:rPr lang="en-US" sz="1400" kern="1200" dirty="0">
                          <a:solidFill>
                            <a:schemeClr val="dk1"/>
                          </a:solidFill>
                          <a:effectLst/>
                          <a:latin typeface="Arial" panose="020B0604020202020204" pitchFamily="34" charset="0"/>
                          <a:cs typeface="Arial" panose="020B0604020202020204" pitchFamily="34" charset="0"/>
                        </a:rPr>
                        <a:t>Number of countries supported to strengthen their medicines regulatory systems towards attaining ML3 based on WHO GBT (End </a:t>
                      </a:r>
                      <a:r>
                        <a:rPr lang="en-US" sz="1400" b="1" kern="1200" dirty="0">
                          <a:solidFill>
                            <a:schemeClr val="dk1"/>
                          </a:solidFill>
                          <a:effectLst/>
                          <a:latin typeface="Arial" panose="020B0604020202020204" pitchFamily="34" charset="0"/>
                          <a:cs typeface="Arial" panose="020B0604020202020204" pitchFamily="34" charset="0"/>
                        </a:rPr>
                        <a:t>target: 4</a:t>
                      </a:r>
                      <a:r>
                        <a:rPr lang="en-US" sz="1400" kern="1200" dirty="0">
                          <a:solidFill>
                            <a:schemeClr val="dk1"/>
                          </a:solidFill>
                          <a:effectLst/>
                          <a:latin typeface="Arial" panose="020B0604020202020204" pitchFamily="34" charset="0"/>
                          <a:cs typeface="Arial" panose="020B0604020202020204" pitchFamily="34" charset="0"/>
                        </a:rPr>
                        <a:t>)</a:t>
                      </a:r>
                      <a:endParaRPr lang="en-US" sz="14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r>
                        <a:rPr lang="en-US" sz="1400">
                          <a:latin typeface="Arial" panose="020B0604020202020204" pitchFamily="34" charset="0"/>
                          <a:cs typeface="Arial" panose="020B0604020202020204" pitchFamily="34" charset="0"/>
                        </a:rPr>
                        <a:t>1</a:t>
                      </a:r>
                      <a:endParaRPr lang="en-US" sz="14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r>
                        <a:rPr lang="en-US" sz="1400">
                          <a:latin typeface="Arial" panose="020B0604020202020204" pitchFamily="34" charset="0"/>
                          <a:cs typeface="Arial" panose="020B0604020202020204" pitchFamily="34" charset="0"/>
                        </a:rPr>
                        <a:t>0</a:t>
                      </a:r>
                      <a:endParaRPr lang="en-US" sz="14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ET (achieved before setting this indicator)</a:t>
                      </a:r>
                      <a:endParaRPr lang="en-US" sz="14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3853447211"/>
                  </a:ext>
                </a:extLst>
              </a:tr>
              <a:tr h="677360">
                <a:tc>
                  <a:txBody>
                    <a:bodyPr/>
                    <a:lstStyle/>
                    <a:p>
                      <a:r>
                        <a:rPr lang="en-US" sz="1400" kern="1200" dirty="0">
                          <a:solidFill>
                            <a:schemeClr val="dk1"/>
                          </a:solidFill>
                          <a:effectLst/>
                          <a:latin typeface="Arial" panose="020B0604020202020204" pitchFamily="34" charset="0"/>
                          <a:cs typeface="Arial" panose="020B0604020202020204" pitchFamily="34" charset="0"/>
                        </a:rPr>
                        <a:t>Number of gender-differentiated health risk profiles developed for major diseases, including climate sensitive diseases (End </a:t>
                      </a:r>
                      <a:r>
                        <a:rPr lang="en-US" sz="1400" b="1" kern="1200" dirty="0">
                          <a:solidFill>
                            <a:schemeClr val="dk1"/>
                          </a:solidFill>
                          <a:effectLst/>
                          <a:latin typeface="Arial" panose="020B0604020202020204" pitchFamily="34" charset="0"/>
                          <a:cs typeface="Arial" panose="020B0604020202020204" pitchFamily="34" charset="0"/>
                        </a:rPr>
                        <a:t>target: 4</a:t>
                      </a:r>
                      <a:r>
                        <a:rPr lang="en-US" sz="1400" kern="1200" dirty="0">
                          <a:solidFill>
                            <a:schemeClr val="dk1"/>
                          </a:solidFill>
                          <a:effectLst/>
                          <a:latin typeface="Arial" panose="020B0604020202020204" pitchFamily="34" charset="0"/>
                          <a:cs typeface="Arial" panose="020B0604020202020204" pitchFamily="34" charset="0"/>
                        </a:rPr>
                        <a:t>)</a:t>
                      </a:r>
                      <a:endParaRPr lang="en-US" sz="14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1</a:t>
                      </a:r>
                      <a:endParaRPr lang="en-US" sz="14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0</a:t>
                      </a:r>
                      <a:endParaRPr lang="en-US" sz="1400" kern="1200" dirty="0">
                        <a:solidFill>
                          <a:schemeClr val="dk1"/>
                        </a:solidFill>
                        <a:effectLst/>
                        <a:latin typeface="Arial" panose="020B0604020202020204" pitchFamily="34" charset="0"/>
                        <a:ea typeface="+mn-ea"/>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Review of existing profiles will be conducted and publish before developing new profiles</a:t>
                      </a:r>
                      <a:endParaRPr lang="en-US" sz="1400" kern="1200" dirty="0">
                        <a:solidFill>
                          <a:schemeClr val="dk1"/>
                        </a:solidFill>
                        <a:effectLst/>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3346339826"/>
                  </a:ext>
                </a:extLst>
              </a:tr>
            </a:tbl>
          </a:graphicData>
        </a:graphic>
      </p:graphicFrame>
    </p:spTree>
    <p:custDataLst>
      <p:tags r:id="rId1"/>
    </p:custDataLst>
    <p:extLst>
      <p:ext uri="{BB962C8B-B14F-4D97-AF65-F5344CB8AC3E}">
        <p14:creationId xmlns:p14="http://schemas.microsoft.com/office/powerpoint/2010/main" val="19961789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5C356-7E7C-B79A-73E7-BE7EA4AF002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19B8D50-10C3-BE49-975C-4C741389BEDD}"/>
              </a:ext>
            </a:extLst>
          </p:cNvPr>
          <p:cNvSpPr>
            <a:spLocks noGrp="1"/>
          </p:cNvSpPr>
          <p:nvPr>
            <p:ph type="title"/>
          </p:nvPr>
        </p:nvSpPr>
        <p:spPr>
          <a:xfrm>
            <a:off x="102558" y="0"/>
            <a:ext cx="12089442" cy="629645"/>
          </a:xfrm>
          <a:ln>
            <a:solidFill>
              <a:schemeClr val="tx1"/>
            </a:solidFill>
          </a:ln>
        </p:spPr>
        <p:txBody>
          <a:bodyPr>
            <a:normAutofit fontScale="90000"/>
          </a:bodyPr>
          <a:lstStyle/>
          <a:p>
            <a:br>
              <a:rPr lang="en-US" b="1" dirty="0">
                <a:solidFill>
                  <a:schemeClr val="accent1">
                    <a:lumMod val="75000"/>
                  </a:schemeClr>
                </a:solidFill>
              </a:rPr>
            </a:br>
            <a:r>
              <a:rPr lang="en-US" sz="3200" b="1" dirty="0">
                <a:solidFill>
                  <a:srgbClr val="008000"/>
                </a:solidFill>
                <a:latin typeface="Arial" panose="020B0604020202020204" pitchFamily="34" charset="0"/>
                <a:cs typeface="Arial" panose="020B0604020202020204" pitchFamily="34" charset="0"/>
              </a:rPr>
              <a:t>Status of Actions from 3rd ISM</a:t>
            </a:r>
            <a:br>
              <a:rPr lang="en-US" sz="4400" dirty="0">
                <a:solidFill>
                  <a:srgbClr val="008000"/>
                </a:solidFill>
                <a:latin typeface="Arial" panose="020B0604020202020204" pitchFamily="34" charset="0"/>
                <a:cs typeface="Arial" panose="020B0604020202020204" pitchFamily="34" charset="0"/>
              </a:rPr>
            </a:br>
            <a:endParaRPr lang="en-US" sz="4400" dirty="0">
              <a:solidFill>
                <a:srgbClr val="008000"/>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70CCE1F1-1541-09CF-FB31-291C1290E7DC}"/>
              </a:ext>
            </a:extLst>
          </p:cNvPr>
          <p:cNvGraphicFramePr>
            <a:graphicFrameLocks noGrp="1"/>
          </p:cNvGraphicFramePr>
          <p:nvPr>
            <p:extLst>
              <p:ext uri="{D42A27DB-BD31-4B8C-83A1-F6EECF244321}">
                <p14:modId xmlns:p14="http://schemas.microsoft.com/office/powerpoint/2010/main" val="1048710838"/>
              </p:ext>
            </p:extLst>
          </p:nvPr>
        </p:nvGraphicFramePr>
        <p:xfrm>
          <a:off x="102558" y="629645"/>
          <a:ext cx="12089443" cy="7486538"/>
        </p:xfrm>
        <a:graphic>
          <a:graphicData uri="http://schemas.openxmlformats.org/drawingml/2006/table">
            <a:tbl>
              <a:tblPr firstRow="1" firstCol="1" bandRow="1">
                <a:tableStyleId>{E8B1032C-EA38-4F05-BA0D-38AFFFC7BED3}</a:tableStyleId>
              </a:tblPr>
              <a:tblGrid>
                <a:gridCol w="1443466">
                  <a:extLst>
                    <a:ext uri="{9D8B030D-6E8A-4147-A177-3AD203B41FA5}">
                      <a16:colId xmlns:a16="http://schemas.microsoft.com/office/drawing/2014/main" val="2777203891"/>
                    </a:ext>
                  </a:extLst>
                </a:gridCol>
                <a:gridCol w="5841630">
                  <a:extLst>
                    <a:ext uri="{9D8B030D-6E8A-4147-A177-3AD203B41FA5}">
                      <a16:colId xmlns:a16="http://schemas.microsoft.com/office/drawing/2014/main" val="161536820"/>
                    </a:ext>
                  </a:extLst>
                </a:gridCol>
                <a:gridCol w="1156906">
                  <a:extLst>
                    <a:ext uri="{9D8B030D-6E8A-4147-A177-3AD203B41FA5}">
                      <a16:colId xmlns:a16="http://schemas.microsoft.com/office/drawing/2014/main" val="832770167"/>
                    </a:ext>
                  </a:extLst>
                </a:gridCol>
                <a:gridCol w="1229553">
                  <a:extLst>
                    <a:ext uri="{9D8B030D-6E8A-4147-A177-3AD203B41FA5}">
                      <a16:colId xmlns:a16="http://schemas.microsoft.com/office/drawing/2014/main" val="3762021942"/>
                    </a:ext>
                  </a:extLst>
                </a:gridCol>
                <a:gridCol w="2417888">
                  <a:extLst>
                    <a:ext uri="{9D8B030D-6E8A-4147-A177-3AD203B41FA5}">
                      <a16:colId xmlns:a16="http://schemas.microsoft.com/office/drawing/2014/main" val="1435285107"/>
                    </a:ext>
                  </a:extLst>
                </a:gridCol>
              </a:tblGrid>
              <a:tr h="1554111">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Areas</a:t>
                      </a:r>
                    </a:p>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 </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Agreed actions to be undertaken to resolve critical issues</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Responsible party</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Timeline</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Status</a:t>
                      </a:r>
                    </a:p>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Done/In process with new expected completion date/Pending</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extLst>
                  <a:ext uri="{0D108BD9-81ED-4DB2-BD59-A6C34878D82A}">
                    <a16:rowId xmlns:a16="http://schemas.microsoft.com/office/drawing/2014/main" val="4199257499"/>
                  </a:ext>
                </a:extLst>
              </a:tr>
              <a:tr h="481298">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Strategic work planning and delivery</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nchor="ctr"/>
                </a:tc>
                <a:tc>
                  <a:txBody>
                    <a:bodyPr/>
                    <a:lstStyle/>
                    <a:p>
                      <a:pPr marL="342900" marR="0" lvl="0" indent="-342900">
                        <a:lnSpc>
                          <a:spcPct val="107000"/>
                        </a:lnSpc>
                        <a:spcBef>
                          <a:spcPts val="0"/>
                        </a:spcBef>
                        <a:spcAft>
                          <a:spcPts val="0"/>
                        </a:spcAft>
                        <a:buFont typeface="+mj-lt"/>
                        <a:buAutoNum type="arabicPeriod"/>
                        <a:tabLst>
                          <a:tab pos="457200" algn="l"/>
                        </a:tabLst>
                      </a:pPr>
                      <a:r>
                        <a:rPr lang="en-US" sz="1800" b="0" dirty="0">
                          <a:effectLst/>
                          <a:latin typeface="Arial" panose="020B0604020202020204" pitchFamily="34" charset="0"/>
                          <a:cs typeface="Arial" panose="020B0604020202020204" pitchFamily="34" charset="0"/>
                        </a:rPr>
                        <a:t>WB to review the IGAD Annual Work Plan and Budget submitted on January 21, 2026.</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nchor="ctr"/>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WB</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nchor="ctr"/>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February 5, 2026</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nchor="ctr"/>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Done</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extLst>
                  <a:ext uri="{0D108BD9-81ED-4DB2-BD59-A6C34878D82A}">
                    <a16:rowId xmlns:a16="http://schemas.microsoft.com/office/drawing/2014/main" val="546301931"/>
                  </a:ext>
                </a:extLst>
              </a:tr>
              <a:tr h="816817">
                <a:tc rowSpan="2">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Regional learning agenda &amp; COPs</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342900" marR="0" lvl="0" indent="-342900">
                        <a:lnSpc>
                          <a:spcPct val="107000"/>
                        </a:lnSpc>
                        <a:spcBef>
                          <a:spcPts val="0"/>
                        </a:spcBef>
                        <a:spcAft>
                          <a:spcPts val="0"/>
                        </a:spcAft>
                        <a:buFont typeface="+mj-lt"/>
                        <a:buAutoNum type="arabicPeriod" startAt="2"/>
                        <a:tabLst>
                          <a:tab pos="457200" algn="l"/>
                        </a:tabLst>
                      </a:pPr>
                      <a:r>
                        <a:rPr lang="en-US" sz="1800" b="0" dirty="0">
                          <a:effectLst/>
                          <a:latin typeface="Arial" panose="020B0604020202020204" pitchFamily="34" charset="0"/>
                          <a:cs typeface="Arial" panose="020B0604020202020204" pitchFamily="34" charset="0"/>
                        </a:rPr>
                        <a:t>Define clear terms of reference for proposed regional learning coordinators and clarify their institutional relationships with </a:t>
                      </a:r>
                      <a:r>
                        <a:rPr lang="en-US" sz="1800" b="0" dirty="0" err="1">
                          <a:effectLst/>
                          <a:latin typeface="Arial" panose="020B0604020202020204" pitchFamily="34" charset="0"/>
                          <a:cs typeface="Arial" panose="020B0604020202020204" pitchFamily="34" charset="0"/>
                        </a:rPr>
                        <a:t>CoPs</a:t>
                      </a:r>
                      <a:r>
                        <a:rPr lang="en-US" sz="1800" b="0" dirty="0">
                          <a:effectLst/>
                          <a:latin typeface="Arial" panose="020B0604020202020204" pitchFamily="34" charset="0"/>
                          <a:cs typeface="Arial" panose="020B0604020202020204" pitchFamily="34" charset="0"/>
                        </a:rPr>
                        <a:t>, PIUs, and regional and country stakeholders.</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ECSA-HC, IGAD</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January 31, 2026</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Done – we need to get back to you</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extLst>
                  <a:ext uri="{0D108BD9-81ED-4DB2-BD59-A6C34878D82A}">
                    <a16:rowId xmlns:a16="http://schemas.microsoft.com/office/drawing/2014/main" val="3039290624"/>
                  </a:ext>
                </a:extLst>
              </a:tr>
              <a:tr h="612613">
                <a:tc vMerge="1">
                  <a:txBody>
                    <a:bodyPr/>
                    <a:lstStyle/>
                    <a:p>
                      <a:endParaRPr lang="en-US"/>
                    </a:p>
                  </a:txBody>
                  <a:tcPr/>
                </a:tc>
                <a:tc>
                  <a:txBody>
                    <a:bodyPr/>
                    <a:lstStyle/>
                    <a:p>
                      <a:pPr marL="342900" marR="0" lvl="0" indent="-342900">
                        <a:lnSpc>
                          <a:spcPct val="107000"/>
                        </a:lnSpc>
                        <a:spcBef>
                          <a:spcPts val="0"/>
                        </a:spcBef>
                        <a:spcAft>
                          <a:spcPts val="0"/>
                        </a:spcAft>
                        <a:buFont typeface="+mj-lt"/>
                        <a:buAutoNum type="arabicPeriod" startAt="3"/>
                        <a:tabLst>
                          <a:tab pos="457200" algn="l"/>
                        </a:tabLst>
                      </a:pPr>
                      <a:r>
                        <a:rPr lang="en-US" sz="1800" b="0" dirty="0">
                          <a:effectLst/>
                          <a:latin typeface="Arial" panose="020B0604020202020204" pitchFamily="34" charset="0"/>
                          <a:cs typeface="Arial" panose="020B0604020202020204" pitchFamily="34" charset="0"/>
                        </a:rPr>
                        <a:t>Share a concise menu of available technical assistance IGAD (particularly helpful for new countries)</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IGAD</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February 10, 2026</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Shared a revised menu of TA</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extLst>
                  <a:ext uri="{0D108BD9-81ED-4DB2-BD59-A6C34878D82A}">
                    <a16:rowId xmlns:a16="http://schemas.microsoft.com/office/drawing/2014/main" val="1236243264"/>
                  </a:ext>
                </a:extLst>
              </a:tr>
              <a:tr h="612613">
                <a:tc rowSpan="2">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M&amp;E</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342900" marR="0" lvl="0" indent="-342900">
                        <a:lnSpc>
                          <a:spcPct val="107000"/>
                        </a:lnSpc>
                        <a:spcBef>
                          <a:spcPts val="0"/>
                        </a:spcBef>
                        <a:spcAft>
                          <a:spcPts val="0"/>
                        </a:spcAft>
                        <a:buFont typeface="+mj-lt"/>
                        <a:buAutoNum type="arabicPeriod" startAt="4"/>
                        <a:tabLst>
                          <a:tab pos="457200" algn="l"/>
                        </a:tabLst>
                      </a:pPr>
                      <a:r>
                        <a:rPr lang="en-US" sz="1800" b="0" dirty="0">
                          <a:effectLst/>
                          <a:latin typeface="Arial" panose="020B0604020202020204" pitchFamily="34" charset="0"/>
                          <a:cs typeface="Arial" panose="020B0604020202020204" pitchFamily="34" charset="0"/>
                        </a:rPr>
                        <a:t>Revised RF table to be finalized and agreed upon</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World Bank, ECSA-HC, IGAD</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January 31, 2022</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Done</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extLst>
                  <a:ext uri="{0D108BD9-81ED-4DB2-BD59-A6C34878D82A}">
                    <a16:rowId xmlns:a16="http://schemas.microsoft.com/office/drawing/2014/main" val="3182231317"/>
                  </a:ext>
                </a:extLst>
              </a:tr>
              <a:tr h="1908557">
                <a:tc vMerge="1">
                  <a:txBody>
                    <a:bodyPr/>
                    <a:lstStyle/>
                    <a:p>
                      <a:endParaRPr lang="en-US"/>
                    </a:p>
                  </a:txBody>
                  <a:tcPr/>
                </a:tc>
                <a:tc>
                  <a:txBody>
                    <a:bodyPr/>
                    <a:lstStyle/>
                    <a:p>
                      <a:pPr marL="342900" marR="0" lvl="0" indent="-342900">
                        <a:lnSpc>
                          <a:spcPct val="107000"/>
                        </a:lnSpc>
                        <a:spcBef>
                          <a:spcPts val="0"/>
                        </a:spcBef>
                        <a:spcAft>
                          <a:spcPts val="0"/>
                        </a:spcAft>
                        <a:buFont typeface="+mj-lt"/>
                        <a:buAutoNum type="arabicPeriod" startAt="5"/>
                        <a:tabLst>
                          <a:tab pos="457200" algn="l"/>
                        </a:tabLst>
                      </a:pPr>
                      <a:r>
                        <a:rPr lang="en-US" sz="1800" b="0" dirty="0">
                          <a:effectLst/>
                          <a:latin typeface="Arial" panose="020B0604020202020204" pitchFamily="34" charset="0"/>
                          <a:cs typeface="Arial" panose="020B0604020202020204" pitchFamily="34" charset="0"/>
                        </a:rPr>
                        <a:t>IGAD to share status and methodology of lagging indicators based on the agreed RF table</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 IGAD</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 February  9, 2026</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 Discussed earlier with Alejandro and sharing the draft document with this update</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8378" marR="8378" marT="0" marB="0"/>
                </a:tc>
                <a:extLst>
                  <a:ext uri="{0D108BD9-81ED-4DB2-BD59-A6C34878D82A}">
                    <a16:rowId xmlns:a16="http://schemas.microsoft.com/office/drawing/2014/main" val="1913460706"/>
                  </a:ext>
                </a:extLst>
              </a:tr>
            </a:tbl>
          </a:graphicData>
        </a:graphic>
      </p:graphicFrame>
    </p:spTree>
    <p:custDataLst>
      <p:tags r:id="rId1"/>
    </p:custDataLst>
    <p:extLst>
      <p:ext uri="{BB962C8B-B14F-4D97-AF65-F5344CB8AC3E}">
        <p14:creationId xmlns:p14="http://schemas.microsoft.com/office/powerpoint/2010/main" val="16636740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191688"/>
            <a:ext cx="12192000" cy="974008"/>
          </a:xfrm>
          <a:ln>
            <a:solidFill>
              <a:schemeClr val="tx1"/>
            </a:solidFill>
          </a:ln>
        </p:spPr>
        <p:txBody>
          <a:bodyPr>
            <a:noAutofit/>
          </a:bodyPr>
          <a:lstStyle/>
          <a:p>
            <a:br>
              <a:rPr lang="en-US" sz="2800" b="1" dirty="0">
                <a:solidFill>
                  <a:schemeClr val="accent1">
                    <a:lumMod val="75000"/>
                  </a:schemeClr>
                </a:solidFill>
                <a:latin typeface="Arial" panose="020B0604020202020204" pitchFamily="34" charset="0"/>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Status of Actions from 3rd ISM</a:t>
            </a:r>
            <a:br>
              <a:rPr lang="en-US" sz="2800" dirty="0">
                <a:solidFill>
                  <a:srgbClr val="008000"/>
                </a:solidFill>
                <a:latin typeface="Arial" panose="020B0604020202020204" pitchFamily="34" charset="0"/>
                <a:cs typeface="Arial" panose="020B0604020202020204" pitchFamily="34" charset="0"/>
              </a:rPr>
            </a:br>
            <a:endParaRPr lang="en-US" sz="2800" dirty="0">
              <a:solidFill>
                <a:srgbClr val="00800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60738211"/>
              </p:ext>
            </p:extLst>
          </p:nvPr>
        </p:nvGraphicFramePr>
        <p:xfrm>
          <a:off x="0" y="858835"/>
          <a:ext cx="12080240" cy="5991774"/>
        </p:xfrm>
        <a:graphic>
          <a:graphicData uri="http://schemas.openxmlformats.org/drawingml/2006/table">
            <a:tbl>
              <a:tblPr firstRow="1" firstCol="1" bandRow="1">
                <a:tableStyleId>{E8B1032C-EA38-4F05-BA0D-38AFFFC7BED3}</a:tableStyleId>
              </a:tblPr>
              <a:tblGrid>
                <a:gridCol w="660400">
                  <a:extLst>
                    <a:ext uri="{9D8B030D-6E8A-4147-A177-3AD203B41FA5}">
                      <a16:colId xmlns:a16="http://schemas.microsoft.com/office/drawing/2014/main" val="467721203"/>
                    </a:ext>
                  </a:extLst>
                </a:gridCol>
                <a:gridCol w="4297680">
                  <a:extLst>
                    <a:ext uri="{9D8B030D-6E8A-4147-A177-3AD203B41FA5}">
                      <a16:colId xmlns:a16="http://schemas.microsoft.com/office/drawing/2014/main" val="766748476"/>
                    </a:ext>
                  </a:extLst>
                </a:gridCol>
                <a:gridCol w="1381760">
                  <a:extLst>
                    <a:ext uri="{9D8B030D-6E8A-4147-A177-3AD203B41FA5}">
                      <a16:colId xmlns:a16="http://schemas.microsoft.com/office/drawing/2014/main" val="515508690"/>
                    </a:ext>
                  </a:extLst>
                </a:gridCol>
                <a:gridCol w="1005840">
                  <a:extLst>
                    <a:ext uri="{9D8B030D-6E8A-4147-A177-3AD203B41FA5}">
                      <a16:colId xmlns:a16="http://schemas.microsoft.com/office/drawing/2014/main" val="261094717"/>
                    </a:ext>
                  </a:extLst>
                </a:gridCol>
                <a:gridCol w="4734560">
                  <a:extLst>
                    <a:ext uri="{9D8B030D-6E8A-4147-A177-3AD203B41FA5}">
                      <a16:colId xmlns:a16="http://schemas.microsoft.com/office/drawing/2014/main" val="2980772268"/>
                    </a:ext>
                  </a:extLst>
                </a:gridCol>
              </a:tblGrid>
              <a:tr h="872169">
                <a:tc>
                  <a:txBody>
                    <a:bodyPr/>
                    <a:lstStyle/>
                    <a:p>
                      <a:pPr marL="0" marR="0">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Areas</a:t>
                      </a:r>
                    </a:p>
                    <a:p>
                      <a:pPr marL="0" marR="0">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 </a:t>
                      </a:r>
                      <a:endParaRPr lang="en-US" sz="1800" b="1"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tc>
                  <a:txBody>
                    <a:bodyPr/>
                    <a:lstStyle/>
                    <a:p>
                      <a:pPr marL="0" marR="0">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Agreed actions to be undertaken to resolve critical issues</a:t>
                      </a:r>
                      <a:endParaRPr lang="en-US" sz="1800" b="1"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tc>
                  <a:txBody>
                    <a:bodyPr/>
                    <a:lstStyle/>
                    <a:p>
                      <a:pPr marL="0" marR="0">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Responsible party</a:t>
                      </a:r>
                      <a:endParaRPr lang="en-US" sz="1800" b="1"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tc>
                  <a:txBody>
                    <a:bodyPr/>
                    <a:lstStyle/>
                    <a:p>
                      <a:pPr marL="0" marR="0">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Timeline</a:t>
                      </a:r>
                      <a:endParaRPr lang="en-US" sz="1800" b="1"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tc>
                  <a:txBody>
                    <a:bodyPr/>
                    <a:lstStyle/>
                    <a:p>
                      <a:pPr marL="0" marR="0">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Status</a:t>
                      </a:r>
                    </a:p>
                    <a:p>
                      <a:pPr marL="0" marR="0">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Done/In process with new expected completion date/Pending</a:t>
                      </a:r>
                      <a:endParaRPr lang="en-US" sz="1800" b="1"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extLst>
                  <a:ext uri="{0D108BD9-81ED-4DB2-BD59-A6C34878D82A}">
                    <a16:rowId xmlns:a16="http://schemas.microsoft.com/office/drawing/2014/main" val="2774774685"/>
                  </a:ext>
                </a:extLst>
              </a:tr>
              <a:tr h="972808">
                <a:tc rowSpan="4">
                  <a:txBody>
                    <a:bodyPr/>
                    <a:lstStyle/>
                    <a:p>
                      <a:pPr marL="0" marR="0">
                        <a:lnSpc>
                          <a:spcPct val="107000"/>
                        </a:lnSpc>
                        <a:spcBef>
                          <a:spcPts val="0"/>
                        </a:spcBef>
                        <a:spcAft>
                          <a:spcPts val="0"/>
                        </a:spcAft>
                      </a:pPr>
                      <a:r>
                        <a:rPr lang="en-US" sz="1800" b="1" dirty="0">
                          <a:effectLst/>
                          <a:latin typeface="Arial" panose="020B0604020202020204" pitchFamily="34" charset="0"/>
                          <a:cs typeface="Arial" panose="020B0604020202020204" pitchFamily="34" charset="0"/>
                        </a:rPr>
                        <a:t>FM</a:t>
                      </a:r>
                    </a:p>
                  </a:txBody>
                  <a:tcPr marL="2094" marR="2094" marT="0" marB="0" anchor="ctr"/>
                </a:tc>
                <a:tc>
                  <a:txBody>
                    <a:bodyPr/>
                    <a:lstStyle/>
                    <a:p>
                      <a:pPr marL="342900" marR="0" lvl="0" indent="-342900">
                        <a:lnSpc>
                          <a:spcPct val="107000"/>
                        </a:lnSpc>
                        <a:spcBef>
                          <a:spcPts val="0"/>
                        </a:spcBef>
                        <a:spcAft>
                          <a:spcPts val="0"/>
                        </a:spcAft>
                        <a:buFont typeface="+mj-lt"/>
                        <a:buAutoNum type="arabicPeriod" startAt="6"/>
                        <a:tabLst>
                          <a:tab pos="457200" algn="l"/>
                        </a:tabLst>
                      </a:pPr>
                      <a:r>
                        <a:rPr lang="en-US" sz="1800" b="0" dirty="0">
                          <a:effectLst/>
                          <a:latin typeface="Arial" panose="020B0604020202020204" pitchFamily="34" charset="0"/>
                          <a:cs typeface="Arial" panose="020B0604020202020204" pitchFamily="34" charset="0"/>
                        </a:rPr>
                        <a:t>Include prospective budgeting elements to current budget monitoring tools</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FM specialist, Procurement</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February 15 2026</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800"/>
                        </a:spcAft>
                      </a:pPr>
                      <a:r>
                        <a:rPr lang="en-US" sz="1800" b="0" dirty="0">
                          <a:effectLst/>
                          <a:latin typeface="Arial" panose="020B0604020202020204" pitchFamily="34" charset="0"/>
                          <a:cs typeface="Arial" panose="020B0604020202020204" pitchFamily="34" charset="0"/>
                        </a:rPr>
                        <a:t> Done. </a:t>
                      </a:r>
                    </a:p>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IFRs submitted in 2025 and 2026 include prospective budget elements</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extLst>
                  <a:ext uri="{0D108BD9-81ED-4DB2-BD59-A6C34878D82A}">
                    <a16:rowId xmlns:a16="http://schemas.microsoft.com/office/drawing/2014/main" val="4133053593"/>
                  </a:ext>
                </a:extLst>
              </a:tr>
              <a:tr h="1440720">
                <a:tc vMerge="1">
                  <a:txBody>
                    <a:bodyPr/>
                    <a:lstStyle/>
                    <a:p>
                      <a:endParaRPr lang="en-US"/>
                    </a:p>
                  </a:txBody>
                  <a:tcPr/>
                </a:tc>
                <a:tc>
                  <a:txBody>
                    <a:bodyPr/>
                    <a:lstStyle/>
                    <a:p>
                      <a:pPr marL="342900" marR="0" lvl="0" indent="-342900">
                        <a:lnSpc>
                          <a:spcPct val="107000"/>
                        </a:lnSpc>
                        <a:spcBef>
                          <a:spcPts val="0"/>
                        </a:spcBef>
                        <a:spcAft>
                          <a:spcPts val="0"/>
                        </a:spcAft>
                        <a:buFont typeface="+mj-lt"/>
                        <a:buAutoNum type="arabicPeriod" startAt="7"/>
                        <a:tabLst>
                          <a:tab pos="457200" algn="l"/>
                        </a:tabLst>
                      </a:pPr>
                      <a:r>
                        <a:rPr lang="en-US" sz="1800" b="0" dirty="0">
                          <a:effectLst/>
                          <a:latin typeface="Arial" panose="020B0604020202020204" pitchFamily="34" charset="0"/>
                          <a:cs typeface="Arial" panose="020B0604020202020204" pitchFamily="34" charset="0"/>
                        </a:rPr>
                        <a:t>Submit the most recent internal audit report (s) to the WBG</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FM specialist</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Immediate</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Done.</a:t>
                      </a:r>
                    </a:p>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 </a:t>
                      </a:r>
                    </a:p>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The most recent Internal Audit report for 2025, along with remedial action plan, was submitted to the Bank on July 6, 2026</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extLst>
                  <a:ext uri="{0D108BD9-81ED-4DB2-BD59-A6C34878D82A}">
                    <a16:rowId xmlns:a16="http://schemas.microsoft.com/office/drawing/2014/main" val="132870088"/>
                  </a:ext>
                </a:extLst>
              </a:tr>
              <a:tr h="1832083">
                <a:tc vMerge="1">
                  <a:txBody>
                    <a:bodyPr/>
                    <a:lstStyle/>
                    <a:p>
                      <a:endParaRPr lang="en-US"/>
                    </a:p>
                  </a:txBody>
                  <a:tcPr/>
                </a:tc>
                <a:tc>
                  <a:txBody>
                    <a:bodyPr/>
                    <a:lstStyle/>
                    <a:p>
                      <a:pPr marL="342900" marR="0" lvl="0" indent="-342900">
                        <a:lnSpc>
                          <a:spcPct val="107000"/>
                        </a:lnSpc>
                        <a:spcBef>
                          <a:spcPts val="0"/>
                        </a:spcBef>
                        <a:spcAft>
                          <a:spcPts val="0"/>
                        </a:spcAft>
                        <a:buFont typeface="+mj-lt"/>
                        <a:buAutoNum type="arabicPeriod" startAt="8"/>
                        <a:tabLst>
                          <a:tab pos="457200" algn="l"/>
                        </a:tabLst>
                      </a:pPr>
                      <a:r>
                        <a:rPr lang="en-US" sz="1800" b="0" dirty="0">
                          <a:effectLst/>
                          <a:latin typeface="Arial" panose="020B0604020202020204" pitchFamily="34" charset="0"/>
                          <a:cs typeface="Arial" panose="020B0604020202020204" pitchFamily="34" charset="0"/>
                        </a:rPr>
                        <a:t>Increase frequency of IFR submission in required format</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FM specialist</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Immediate</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800"/>
                        </a:spcAft>
                      </a:pPr>
                      <a:r>
                        <a:rPr lang="en-US" sz="1800" b="0" dirty="0">
                          <a:effectLst/>
                          <a:latin typeface="Arial" panose="020B0604020202020204" pitchFamily="34" charset="0"/>
                          <a:cs typeface="Arial" panose="020B0604020202020204" pitchFamily="34" charset="0"/>
                        </a:rPr>
                        <a:t> Done. </a:t>
                      </a:r>
                    </a:p>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IFRs are submitted quarterly per the FA using agreed upon format. These have been reviewed and accepted by the Bank. </a:t>
                      </a:r>
                    </a:p>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Withdrawal Applications are also submitted quarterly based on IFRs.</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extLst>
                  <a:ext uri="{0D108BD9-81ED-4DB2-BD59-A6C34878D82A}">
                    <a16:rowId xmlns:a16="http://schemas.microsoft.com/office/drawing/2014/main" val="2524196713"/>
                  </a:ext>
                </a:extLst>
              </a:tr>
              <a:tr h="859274">
                <a:tc vMerge="1">
                  <a:txBody>
                    <a:bodyPr/>
                    <a:lstStyle/>
                    <a:p>
                      <a:endParaRPr lang="en-US"/>
                    </a:p>
                  </a:txBody>
                  <a:tcPr/>
                </a:tc>
                <a:tc>
                  <a:txBody>
                    <a:bodyPr/>
                    <a:lstStyle/>
                    <a:p>
                      <a:pPr marL="342900" marR="0" lvl="0" indent="-342900">
                        <a:lnSpc>
                          <a:spcPct val="107000"/>
                        </a:lnSpc>
                        <a:spcBef>
                          <a:spcPts val="0"/>
                        </a:spcBef>
                        <a:spcAft>
                          <a:spcPts val="0"/>
                        </a:spcAft>
                        <a:buFont typeface="+mj-lt"/>
                        <a:buAutoNum type="arabicPeriod" startAt="9"/>
                        <a:tabLst>
                          <a:tab pos="457200" algn="l"/>
                        </a:tabLst>
                      </a:pPr>
                      <a:r>
                        <a:rPr lang="en-US" sz="1800" b="0" dirty="0">
                          <a:effectLst/>
                          <a:latin typeface="Arial" panose="020B0604020202020204" pitchFamily="34" charset="0"/>
                          <a:cs typeface="Arial" panose="020B0604020202020204" pitchFamily="34" charset="0"/>
                        </a:rPr>
                        <a:t>Submit audit report for period ended 31st December 2025</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FM specialist</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30th June 2026</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Done. </a:t>
                      </a:r>
                    </a:p>
                    <a:p>
                      <a:pPr marL="0" marR="0">
                        <a:lnSpc>
                          <a:spcPct val="107000"/>
                        </a:lnSpc>
                        <a:spcBef>
                          <a:spcPts val="0"/>
                        </a:spcBef>
                        <a:spcAft>
                          <a:spcPts val="0"/>
                        </a:spcAft>
                      </a:pPr>
                      <a:r>
                        <a:rPr lang="en-US" sz="1800" b="0" dirty="0">
                          <a:effectLst/>
                          <a:latin typeface="Arial" panose="020B0604020202020204" pitchFamily="34" charset="0"/>
                          <a:cs typeface="Arial" panose="020B0604020202020204" pitchFamily="34" charset="0"/>
                        </a:rPr>
                        <a:t>External audit report for 2025 was submitted to the Bank on July 3, 2026. </a:t>
                      </a:r>
                      <a:endParaRPr lang="en-US" sz="1800" b="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extLst>
                  <a:ext uri="{0D108BD9-81ED-4DB2-BD59-A6C34878D82A}">
                    <a16:rowId xmlns:a16="http://schemas.microsoft.com/office/drawing/2014/main" val="1365756036"/>
                  </a:ext>
                </a:extLst>
              </a:tr>
            </a:tbl>
          </a:graphicData>
        </a:graphic>
      </p:graphicFrame>
    </p:spTree>
    <p:custDataLst>
      <p:tags r:id="rId1"/>
    </p:custDataLst>
    <p:extLst>
      <p:ext uri="{BB962C8B-B14F-4D97-AF65-F5344CB8AC3E}">
        <p14:creationId xmlns:p14="http://schemas.microsoft.com/office/powerpoint/2010/main" val="738620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191688"/>
            <a:ext cx="12192000" cy="974008"/>
          </a:xfrm>
          <a:ln>
            <a:solidFill>
              <a:schemeClr val="tx1"/>
            </a:solidFill>
          </a:ln>
        </p:spPr>
        <p:txBody>
          <a:bodyPr>
            <a:noAutofit/>
          </a:bodyPr>
          <a:lstStyle/>
          <a:p>
            <a:br>
              <a:rPr lang="en-US" sz="2800" b="1" dirty="0">
                <a:solidFill>
                  <a:schemeClr val="accent1">
                    <a:lumMod val="75000"/>
                  </a:schemeClr>
                </a:solidFill>
                <a:latin typeface="Arial" panose="020B0604020202020204" pitchFamily="34" charset="0"/>
                <a:cs typeface="Arial" panose="020B0604020202020204" pitchFamily="34" charset="0"/>
              </a:rPr>
            </a:br>
            <a:r>
              <a:rPr lang="en-US" sz="2800" b="1" dirty="0">
                <a:solidFill>
                  <a:srgbClr val="008000"/>
                </a:solidFill>
                <a:latin typeface="Arial" panose="020B0604020202020204" pitchFamily="34" charset="0"/>
                <a:cs typeface="Arial" panose="020B0604020202020204" pitchFamily="34" charset="0"/>
              </a:rPr>
              <a:t>Status of Actions from 3</a:t>
            </a:r>
            <a:r>
              <a:rPr lang="en-US" sz="2800" b="1" baseline="30000" dirty="0">
                <a:solidFill>
                  <a:srgbClr val="008000"/>
                </a:solidFill>
                <a:latin typeface="Arial" panose="020B0604020202020204" pitchFamily="34" charset="0"/>
                <a:cs typeface="Arial" panose="020B0604020202020204" pitchFamily="34" charset="0"/>
              </a:rPr>
              <a:t>rd</a:t>
            </a:r>
            <a:r>
              <a:rPr lang="en-US" sz="2800" b="1" dirty="0">
                <a:solidFill>
                  <a:srgbClr val="008000"/>
                </a:solidFill>
                <a:latin typeface="Arial" panose="020B0604020202020204" pitchFamily="34" charset="0"/>
                <a:cs typeface="Arial" panose="020B0604020202020204" pitchFamily="34" charset="0"/>
              </a:rPr>
              <a:t> ISM</a:t>
            </a:r>
            <a:br>
              <a:rPr lang="en-US" sz="2800" dirty="0">
                <a:solidFill>
                  <a:srgbClr val="008000"/>
                </a:solidFill>
                <a:latin typeface="Arial" panose="020B0604020202020204" pitchFamily="34" charset="0"/>
                <a:cs typeface="Arial" panose="020B0604020202020204" pitchFamily="34" charset="0"/>
              </a:rPr>
            </a:br>
            <a:endParaRPr lang="en-US" sz="2800" dirty="0">
              <a:solidFill>
                <a:srgbClr val="008000"/>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619195872"/>
              </p:ext>
            </p:extLst>
          </p:nvPr>
        </p:nvGraphicFramePr>
        <p:xfrm>
          <a:off x="203199" y="1036318"/>
          <a:ext cx="11633200" cy="5537202"/>
        </p:xfrm>
        <a:graphic>
          <a:graphicData uri="http://schemas.openxmlformats.org/drawingml/2006/table">
            <a:tbl>
              <a:tblPr firstRow="1" firstCol="1" bandRow="1">
                <a:tableStyleId>{E8B1032C-EA38-4F05-BA0D-38AFFFC7BED3}</a:tableStyleId>
              </a:tblPr>
              <a:tblGrid>
                <a:gridCol w="1412154">
                  <a:extLst>
                    <a:ext uri="{9D8B030D-6E8A-4147-A177-3AD203B41FA5}">
                      <a16:colId xmlns:a16="http://schemas.microsoft.com/office/drawing/2014/main" val="20517830"/>
                    </a:ext>
                  </a:extLst>
                </a:gridCol>
                <a:gridCol w="3486037">
                  <a:extLst>
                    <a:ext uri="{9D8B030D-6E8A-4147-A177-3AD203B41FA5}">
                      <a16:colId xmlns:a16="http://schemas.microsoft.com/office/drawing/2014/main" val="1482424626"/>
                    </a:ext>
                  </a:extLst>
                </a:gridCol>
                <a:gridCol w="1413766">
                  <a:extLst>
                    <a:ext uri="{9D8B030D-6E8A-4147-A177-3AD203B41FA5}">
                      <a16:colId xmlns:a16="http://schemas.microsoft.com/office/drawing/2014/main" val="845517036"/>
                    </a:ext>
                  </a:extLst>
                </a:gridCol>
                <a:gridCol w="1552594">
                  <a:extLst>
                    <a:ext uri="{9D8B030D-6E8A-4147-A177-3AD203B41FA5}">
                      <a16:colId xmlns:a16="http://schemas.microsoft.com/office/drawing/2014/main" val="1585294704"/>
                    </a:ext>
                  </a:extLst>
                </a:gridCol>
                <a:gridCol w="3768649">
                  <a:extLst>
                    <a:ext uri="{9D8B030D-6E8A-4147-A177-3AD203B41FA5}">
                      <a16:colId xmlns:a16="http://schemas.microsoft.com/office/drawing/2014/main" val="2209234172"/>
                    </a:ext>
                  </a:extLst>
                </a:gridCol>
              </a:tblGrid>
              <a:tr h="1513066">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Areas</a:t>
                      </a:r>
                    </a:p>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 </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Agreed actions to be undertaken to resolve critical issues</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Responsible party</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Timeline</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Status</a:t>
                      </a:r>
                    </a:p>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Done/In process with new expected completion date/Pending</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extLst>
                  <a:ext uri="{0D108BD9-81ED-4DB2-BD59-A6C34878D82A}">
                    <a16:rowId xmlns:a16="http://schemas.microsoft.com/office/drawing/2014/main" val="4208807269"/>
                  </a:ext>
                </a:extLst>
              </a:tr>
              <a:tr h="3026134">
                <a:tc rowSpan="2">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Procurement</a:t>
                      </a:r>
                    </a:p>
                  </a:txBody>
                  <a:tcPr marL="2094" marR="2094" marT="0" marB="0" anchor="ctr"/>
                </a:tc>
                <a:tc>
                  <a:txBody>
                    <a:bodyPr/>
                    <a:lstStyle/>
                    <a:p>
                      <a:pPr marL="342900" marR="0" lvl="0" indent="-342900">
                        <a:lnSpc>
                          <a:spcPct val="107000"/>
                        </a:lnSpc>
                        <a:spcBef>
                          <a:spcPts val="0"/>
                        </a:spcBef>
                        <a:spcAft>
                          <a:spcPts val="0"/>
                        </a:spcAft>
                        <a:buFont typeface="+mj-lt"/>
                        <a:buAutoNum type="arabicPeriod" startAt="10"/>
                        <a:tabLst>
                          <a:tab pos="457200" algn="l"/>
                        </a:tabLst>
                      </a:pPr>
                      <a:r>
                        <a:rPr lang="en-US" sz="1800" dirty="0">
                          <a:effectLst/>
                          <a:latin typeface="Arial" panose="020B0604020202020204" pitchFamily="34" charset="0"/>
                          <a:cs typeface="Arial" panose="020B0604020202020204" pitchFamily="34" charset="0"/>
                        </a:rPr>
                        <a:t>Update STEP with signed contracts and documents related to the contract's implementation</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Procurement Specialist</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February 28, 2026</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 STEP is updated except procurement of the vehicle has been postponed based on IGAD’s management advised to be procured during Q3 2026</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extLst>
                  <a:ext uri="{0D108BD9-81ED-4DB2-BD59-A6C34878D82A}">
                    <a16:rowId xmlns:a16="http://schemas.microsoft.com/office/drawing/2014/main" val="1354419020"/>
                  </a:ext>
                </a:extLst>
              </a:tr>
              <a:tr h="998002">
                <a:tc vMerge="1">
                  <a:txBody>
                    <a:bodyPr/>
                    <a:lstStyle/>
                    <a:p>
                      <a:endParaRPr lang="en-US"/>
                    </a:p>
                  </a:txBody>
                  <a:tcPr/>
                </a:tc>
                <a:tc>
                  <a:txBody>
                    <a:bodyPr/>
                    <a:lstStyle/>
                    <a:p>
                      <a:pPr marL="342900" marR="0" lvl="0" indent="-342900">
                        <a:lnSpc>
                          <a:spcPct val="107000"/>
                        </a:lnSpc>
                        <a:spcBef>
                          <a:spcPts val="0"/>
                        </a:spcBef>
                        <a:spcAft>
                          <a:spcPts val="0"/>
                        </a:spcAft>
                        <a:buFont typeface="+mj-lt"/>
                        <a:buAutoNum type="arabicPeriod" startAt="11"/>
                        <a:tabLst>
                          <a:tab pos="457200" algn="l"/>
                        </a:tabLst>
                      </a:pPr>
                      <a:r>
                        <a:rPr lang="en-US" sz="1800" dirty="0">
                          <a:effectLst/>
                          <a:latin typeface="Arial" panose="020B0604020202020204" pitchFamily="34" charset="0"/>
                          <a:cs typeface="Arial" panose="020B0604020202020204" pitchFamily="34" charset="0"/>
                        </a:rPr>
                        <a:t>Add in STEP all procurement activities approved in AWP</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Procurement Specialist</a:t>
                      </a:r>
                    </a:p>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 </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When AWP is approved</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nchor="ctr"/>
                </a:tc>
                <a:tc>
                  <a:txBody>
                    <a:bodyPr/>
                    <a:lstStyle/>
                    <a:p>
                      <a:pPr marL="0" marR="0">
                        <a:lnSpc>
                          <a:spcPct val="107000"/>
                        </a:lnSpc>
                        <a:spcBef>
                          <a:spcPts val="0"/>
                        </a:spcBef>
                        <a:spcAft>
                          <a:spcPts val="0"/>
                        </a:spcAft>
                      </a:pPr>
                      <a:r>
                        <a:rPr lang="en-US" sz="1800" dirty="0">
                          <a:effectLst/>
                          <a:latin typeface="Arial" panose="020B0604020202020204" pitchFamily="34" charset="0"/>
                          <a:cs typeface="Arial" panose="020B0604020202020204" pitchFamily="34" charset="0"/>
                        </a:rPr>
                        <a:t> All activities for 2026 are uploaded</a:t>
                      </a:r>
                      <a:endParaRPr lang="en-US" sz="1800" dirty="0">
                        <a:effectLst/>
                        <a:latin typeface="Arial" panose="020B0604020202020204" pitchFamily="34" charset="0"/>
                        <a:ea typeface="Calibri" panose="020F0502020204030204" pitchFamily="34" charset="0"/>
                        <a:cs typeface="Arial" panose="020B0604020202020204" pitchFamily="34" charset="0"/>
                      </a:endParaRPr>
                    </a:p>
                  </a:txBody>
                  <a:tcPr marL="2094" marR="2094" marT="0" marB="0"/>
                </a:tc>
                <a:extLst>
                  <a:ext uri="{0D108BD9-81ED-4DB2-BD59-A6C34878D82A}">
                    <a16:rowId xmlns:a16="http://schemas.microsoft.com/office/drawing/2014/main" val="3643892817"/>
                  </a:ext>
                </a:extLst>
              </a:tr>
            </a:tbl>
          </a:graphicData>
        </a:graphic>
      </p:graphicFrame>
    </p:spTree>
    <p:custDataLst>
      <p:tags r:id="rId1"/>
    </p:custDataLst>
    <p:extLst>
      <p:ext uri="{BB962C8B-B14F-4D97-AF65-F5344CB8AC3E}">
        <p14:creationId xmlns:p14="http://schemas.microsoft.com/office/powerpoint/2010/main" val="1921056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35" name="Freeform: Shape 34">
            <a:extLst>
              <a:ext uri="{FF2B5EF4-FFF2-40B4-BE49-F238E27FC236}">
                <a16:creationId xmlns:a16="http://schemas.microsoft.com/office/drawing/2014/main" id="{B9A1D9BC-1455-4308-9ABD-A3F8EDB67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6068" y="320442"/>
            <a:ext cx="6572492" cy="6212748"/>
          </a:xfrm>
          <a:custGeom>
            <a:avLst/>
            <a:gdLst>
              <a:gd name="connsiteX0" fmla="*/ 0 w 6572492"/>
              <a:gd name="connsiteY0" fmla="*/ 0 h 6212748"/>
              <a:gd name="connsiteX1" fmla="*/ 2248593 w 6572492"/>
              <a:gd name="connsiteY1" fmla="*/ 0 h 6212748"/>
              <a:gd name="connsiteX2" fmla="*/ 2694770 w 6572492"/>
              <a:gd name="connsiteY2" fmla="*/ 0 h 6212748"/>
              <a:gd name="connsiteX3" fmla="*/ 2991094 w 6572492"/>
              <a:gd name="connsiteY3" fmla="*/ 0 h 6212748"/>
              <a:gd name="connsiteX4" fmla="*/ 6572492 w 6572492"/>
              <a:gd name="connsiteY4" fmla="*/ 0 h 6212748"/>
              <a:gd name="connsiteX5" fmla="*/ 6572492 w 6572492"/>
              <a:gd name="connsiteY5" fmla="*/ 2864954 h 6212748"/>
              <a:gd name="connsiteX6" fmla="*/ 3129047 w 6572492"/>
              <a:gd name="connsiteY6" fmla="*/ 6212748 h 6212748"/>
              <a:gd name="connsiteX7" fmla="*/ 2694770 w 6572492"/>
              <a:gd name="connsiteY7" fmla="*/ 6212748 h 6212748"/>
              <a:gd name="connsiteX8" fmla="*/ 2248593 w 6572492"/>
              <a:gd name="connsiteY8" fmla="*/ 6212748 h 6212748"/>
              <a:gd name="connsiteX9" fmla="*/ 0 w 6572492"/>
              <a:gd name="connsiteY9" fmla="*/ 6212748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92" h="6212748">
                <a:moveTo>
                  <a:pt x="0" y="0"/>
                </a:moveTo>
                <a:lnTo>
                  <a:pt x="2248593" y="0"/>
                </a:lnTo>
                <a:lnTo>
                  <a:pt x="2694770" y="0"/>
                </a:lnTo>
                <a:lnTo>
                  <a:pt x="2991094" y="0"/>
                </a:lnTo>
                <a:lnTo>
                  <a:pt x="6572492" y="0"/>
                </a:lnTo>
                <a:lnTo>
                  <a:pt x="6572492" y="2864954"/>
                </a:lnTo>
                <a:lnTo>
                  <a:pt x="3129047" y="6212748"/>
                </a:lnTo>
                <a:lnTo>
                  <a:pt x="2694770" y="6212748"/>
                </a:lnTo>
                <a:lnTo>
                  <a:pt x="2248593"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Arial" panose="020B0604020202020204" pitchFamily="34" charset="0"/>
            </a:endParaRPr>
          </a:p>
        </p:txBody>
      </p:sp>
      <p:sp>
        <p:nvSpPr>
          <p:cNvPr id="37" name="Right Triangle 36">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39" name="Rectangle 38">
            <a:extLst>
              <a:ext uri="{FF2B5EF4-FFF2-40B4-BE49-F238E27FC236}">
                <a16:creationId xmlns:a16="http://schemas.microsoft.com/office/drawing/2014/main" id="{4A62647B-1222-407C-8740-5A497612B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 name="Title 1">
            <a:extLst>
              <a:ext uri="{FF2B5EF4-FFF2-40B4-BE49-F238E27FC236}">
                <a16:creationId xmlns:a16="http://schemas.microsoft.com/office/drawing/2014/main" id="{4A1DE27D-1E3A-A732-95C4-72235A0C3980}"/>
              </a:ext>
            </a:extLst>
          </p:cNvPr>
          <p:cNvSpPr>
            <a:spLocks noGrp="1"/>
          </p:cNvSpPr>
          <p:nvPr>
            <p:ph type="ctrTitle"/>
          </p:nvPr>
        </p:nvSpPr>
        <p:spPr>
          <a:xfrm>
            <a:off x="5884320" y="1598382"/>
            <a:ext cx="5384800" cy="4097911"/>
          </a:xfrm>
          <a:solidFill>
            <a:srgbClr val="D9F1F3"/>
          </a:solidFill>
        </p:spPr>
        <p:txBody>
          <a:bodyPr anchor="b">
            <a:normAutofit fontScale="90000"/>
          </a:bodyPr>
          <a:lstStyle/>
          <a:p>
            <a:br>
              <a:rPr lang="en-US" sz="7200" b="1" i="1" dirty="0"/>
            </a:br>
            <a:br>
              <a:rPr lang="en-US" sz="7200" b="1" i="1" dirty="0"/>
            </a:br>
            <a:br>
              <a:rPr lang="en-US" sz="7200" b="1" i="1" dirty="0"/>
            </a:br>
            <a:br>
              <a:rPr lang="en-US" sz="7200" b="1" i="1" dirty="0"/>
            </a:br>
            <a:br>
              <a:rPr lang="en-US" sz="7200" b="1" i="1" dirty="0"/>
            </a:br>
            <a:br>
              <a:rPr lang="en-US" sz="7200" b="1" i="1" dirty="0"/>
            </a:br>
            <a:br>
              <a:rPr lang="en-US" sz="7200" b="1" i="1" dirty="0"/>
            </a:br>
            <a:r>
              <a:rPr lang="en-US" sz="4400" b="1" dirty="0">
                <a:solidFill>
                  <a:schemeClr val="accent1"/>
                </a:solidFill>
              </a:rPr>
              <a:t>THANK YOU!</a:t>
            </a:r>
            <a:br>
              <a:rPr lang="en-US" sz="4400" b="1" i="1" dirty="0">
                <a:solidFill>
                  <a:schemeClr val="accent1"/>
                </a:solidFill>
              </a:rPr>
            </a:br>
            <a:br>
              <a:rPr lang="en-US" sz="7200" b="1" i="1" dirty="0">
                <a:solidFill>
                  <a:schemeClr val="accent1"/>
                </a:solidFill>
              </a:rPr>
            </a:br>
            <a:endParaRPr lang="en-US" sz="7200" b="1" i="1" dirty="0">
              <a:solidFill>
                <a:schemeClr val="accent1"/>
              </a:solidFill>
            </a:endParaRPr>
          </a:p>
        </p:txBody>
      </p:sp>
      <p:pic>
        <p:nvPicPr>
          <p:cNvPr id="9" name="Picture 14" descr="C:\Users\Ketema\Documents\IGAD-Dec 2019\IGAD-New-LOGO\Logo w_ island_P.jpg">
            <a:extLst>
              <a:ext uri="{FF2B5EF4-FFF2-40B4-BE49-F238E27FC236}">
                <a16:creationId xmlns:a16="http://schemas.microsoft.com/office/drawing/2014/main" id="{2261BF9B-D073-81C6-9550-5F807FAA48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20885"/>
          <a:stretch>
            <a:fillRect/>
          </a:stretch>
        </p:blipFill>
        <p:spPr bwMode="auto">
          <a:xfrm>
            <a:off x="8395018" y="620198"/>
            <a:ext cx="3151809" cy="2025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143660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4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28824</TotalTime>
  <Words>4851</Words>
  <Application>Microsoft Office PowerPoint</Application>
  <PresentationFormat>Widescreen</PresentationFormat>
  <Paragraphs>520</Paragraphs>
  <Slides>51</Slides>
  <Notes>17</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51</vt:i4>
      </vt:variant>
    </vt:vector>
  </HeadingPairs>
  <TitlesOfParts>
    <vt:vector size="61" baseType="lpstr">
      <vt:lpstr>AR PL UKai CN</vt:lpstr>
      <vt:lpstr>Arial</vt:lpstr>
      <vt:lpstr>Calibri</vt:lpstr>
      <vt:lpstr>Calibri Light</vt:lpstr>
      <vt:lpstr>Courier New</vt:lpstr>
      <vt:lpstr>Wingdings</vt:lpstr>
      <vt:lpstr>Office Theme</vt:lpstr>
      <vt:lpstr>2_Office Theme</vt:lpstr>
      <vt:lpstr>1_Office Theme</vt:lpstr>
      <vt:lpstr>3_Office Theme</vt:lpstr>
      <vt:lpstr>                                                              Health Emergency Preparedness Response and Resilience  MPA Program </vt:lpstr>
      <vt:lpstr>Intergovernmental Authority on Development (IGAD)</vt:lpstr>
      <vt:lpstr>Governance Structure of (IGAD)</vt:lpstr>
      <vt:lpstr>Program Development Objective</vt:lpstr>
      <vt:lpstr>Project Data</vt:lpstr>
      <vt:lpstr>Strategic Focus of The IGAD Regional Component</vt:lpstr>
      <vt:lpstr> Delineation of Interventions </vt:lpstr>
      <vt:lpstr>IGAD HEPRR MPA 2026 Annual Work Plan: Implementation Progress (January–June 2026)</vt:lpstr>
      <vt:lpstr>PowerPoint Presentation</vt:lpstr>
      <vt:lpstr> Component 1.1: Strengthening multisectoral collaboration and partnerships  </vt:lpstr>
      <vt:lpstr>IGAD Emergency Ministerial Meeting on Ebola Virus Disease Outbreak Response </vt:lpstr>
      <vt:lpstr> Component 1.1: Strengthening multisectoral collaboration and partnerships  </vt:lpstr>
      <vt:lpstr> Component 1.1: Strengthening multisectoral collaboration and partnerships  </vt:lpstr>
      <vt:lpstr>Sub-component 1.2: Strengthening Health Workforce Development</vt:lpstr>
      <vt:lpstr>  Sub-component 1.2: Strengthening Health Workforce Development   </vt:lpstr>
      <vt:lpstr>Sub-component 1.2: Strengthening Health Workforce Development</vt:lpstr>
      <vt:lpstr>Integration of NCD into the Frontline FETP Program Training:  - IGAD supported workshop aimed at customization of the Frontline FETP training curriculum to strengthen NCD surveillance </vt:lpstr>
      <vt:lpstr>                                                          Achievements  Component 1:3  </vt:lpstr>
      <vt:lpstr>  Local Vaccine and Pharmaceutical Manufacturing   </vt:lpstr>
      <vt:lpstr>  Local Vaccine and Pharmaceutical Manufacturing   </vt:lpstr>
      <vt:lpstr>   Sub-component 1.4: Cross-Border Health collaboration and continuity of essential health services    </vt:lpstr>
      <vt:lpstr>                                                              Achievements  Component 2  </vt:lpstr>
      <vt:lpstr>Sub-component 2.1: Strengthening collaborative regional and national Multisectoral disease surveillance and laboratory systems capacity </vt:lpstr>
      <vt:lpstr> Sub-component 2.2: Supporting Emergency Management and Coordination   </vt:lpstr>
      <vt:lpstr>                                               Sub-Component 2.3  </vt:lpstr>
      <vt:lpstr>     Sub-component 2.3: Supporting integration of NCDs and Mental Health      </vt:lpstr>
      <vt:lpstr>     Sub-component 2.3: Supporting integration of NCDs and Mental Health      </vt:lpstr>
      <vt:lpstr>                                                       Component 3: Project Management   </vt:lpstr>
      <vt:lpstr>   Subcomponent 3.1 M &amp; E   </vt:lpstr>
      <vt:lpstr>3.1.2 Enhance stakeholder engagement, strategic communications and information disclosure</vt:lpstr>
      <vt:lpstr>Virtual Meetings Supported </vt:lpstr>
      <vt:lpstr>Knowledge Management, Learning &amp; Stakeholder Engagement</vt:lpstr>
      <vt:lpstr> Communications and Learning  </vt:lpstr>
      <vt:lpstr>   Subcomponent 3.2 learning Agenda   </vt:lpstr>
      <vt:lpstr>   Subcomponent 3.2 Gender and Equity driven HEPRR   </vt:lpstr>
      <vt:lpstr>   Subcomponent 3.2 Gender and Equity driven HEPRR   </vt:lpstr>
      <vt:lpstr>   Subcomponent 3.2 GENPAR Ethiopia Country TOT   </vt:lpstr>
      <vt:lpstr>Subcomponent 3.3 Environmental &amp; Social (E&amp;S) </vt:lpstr>
      <vt:lpstr>Subcomponent 3.3 Project Management </vt:lpstr>
      <vt:lpstr>Sub-Component 3.3 Procurement </vt:lpstr>
      <vt:lpstr>Subcomponent 3.3 Financial Management </vt:lpstr>
      <vt:lpstr> Lessons Learned/Best Practices </vt:lpstr>
      <vt:lpstr> Challenges </vt:lpstr>
      <vt:lpstr> Possible Solutions </vt:lpstr>
      <vt:lpstr>PowerPoint Presentation</vt:lpstr>
      <vt:lpstr>PowerPoint Presentation</vt:lpstr>
      <vt:lpstr> Updates of Results Indicators </vt:lpstr>
      <vt:lpstr> Status of Actions from 3rd ISM </vt:lpstr>
      <vt:lpstr> Status of Actions from 3rd ISM </vt:lpstr>
      <vt:lpstr> Status of Actions from 3rd ISM </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 BORDER CHOLERA OUTBREAK RESPONSE</dc:title>
  <dc:creator>Waqo Boru</dc:creator>
  <cp:lastModifiedBy>Bob Ambrose Nuwagira</cp:lastModifiedBy>
  <cp:revision>544</cp:revision>
  <dcterms:created xsi:type="dcterms:W3CDTF">2023-07-04T03:41:14Z</dcterms:created>
  <dcterms:modified xsi:type="dcterms:W3CDTF">2026-07-16T11:23:23Z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3E34DAE0-9B4C-4D08-9BDD-4A62F2CA284D</vt:lpwstr>
  </property>
  <property fmtid="{D5CDD505-2E9C-101B-9397-08002B2CF9AE}" pid="3" name="ArticulatePath">
    <vt:lpwstr>Dr Waqo_IGAD HEPRR Overview - PHEM TOT Training Slides</vt:lpwstr>
  </property>
</Properties>
</file>